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960120"/>
            <a:ext cx="4206240" cy="4206240"/>
          </a:xfrm>
          <a:prstGeom prst="ellipse">
            <a:avLst/>
          </a:prstGeom>
          <a:noFill/>
          <a:ln w="13970">
            <a:solidFill>
              <a:srgbClr val="A9B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1463040"/>
            <a:ext cx="3200400" cy="3200400"/>
          </a:xfrm>
          <a:prstGeom prst="ellipse">
            <a:avLst/>
          </a:prstGeom>
          <a:noFill/>
          <a:ln w="1397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1965960"/>
            <a:ext cx="2194560" cy="2194560"/>
          </a:xfrm>
          <a:prstGeom prst="ellipse">
            <a:avLst/>
          </a:prstGeom>
          <a:noFill/>
          <a:ln w="20320">
            <a:solidFill>
              <a:srgbClr val="A9B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25128" y="2441448"/>
            <a:ext cx="1243584" cy="1243584"/>
          </a:xfrm>
          <a:prstGeom prst="ellipse">
            <a:avLst/>
          </a:prstGeom>
          <a:noFill/>
          <a:ln w="2032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788920"/>
            <a:ext cx="548640" cy="5486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9646920" y="2011680"/>
            <a:ext cx="1828800" cy="1051560"/>
          </a:xfrm>
          <a:prstGeom prst="line">
            <a:avLst/>
          </a:prstGeom>
          <a:ln w="20320">
            <a:solidFill>
              <a:srgbClr val="0E7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457200"/>
            <a:ext cx="102412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12064"/>
            <a:ext cx="914400" cy="457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737360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512064"/>
            <a:ext cx="457200" cy="457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450591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512064"/>
            <a:ext cx="457200" cy="457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163824" y="457200"/>
            <a:ext cx="303580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512064"/>
            <a:ext cx="30480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1417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 spc="80">
                <a:solidFill>
                  <a:srgbClr val="0E7490"/>
                </a:solidFill>
                <a:latin typeface="Consolas"/>
              </a:rPr>
              <a:t>RBI · iDEA 2.0 · PROBLEM STATEMENT — INTERNAL &amp; PRIVILEGED-USER FRAUD EARLY-WARNING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74519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200" b="1" lang="en-US" spc="100">
                <a:solidFill>
                  <a:srgbClr val="0F1A2D"/>
                </a:solidFill>
                <a:latin typeface="Segoe UI Black"/>
              </a:rPr>
              <a:t>HAWK</a:t>
            </a:r>
            <a:r>
              <a:rPr sz="6200" b="1" lang="en-US" spc="100">
                <a:solidFill>
                  <a:srgbClr val="0E7490"/>
                </a:solidFill>
                <a:latin typeface="Segoe UI Black"/>
              </a:rPr>
              <a:t>-EYE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3580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lang="en-US">
                <a:solidFill>
                  <a:srgbClr val="0F1A2D"/>
                </a:solidFill>
                <a:latin typeface="Segoe UI Semibold"/>
              </a:rPr>
              <a:t>AI-driven Early-Warning System for Internal &amp; Privileged-User Fraud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8444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lang="en-US">
                <a:solidFill>
                  <a:srgbClr val="3A4862"/>
                </a:solidFill>
                <a:latin typeface="Segoe UI"/>
              </a:rPr>
              <a:t>Every privileged action — watched, scored, explained.  A human always decides.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2048255" cy="329184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105656"/>
            <a:ext cx="20482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80">
                <a:solidFill>
                  <a:srgbClr val="0E7490"/>
                </a:solidFill>
                <a:latin typeface="Consolas"/>
              </a:rPr>
              <a:t>7-LAYER L0–L7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41148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4105656"/>
            <a:ext cx="2395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80">
                <a:solidFill>
                  <a:srgbClr val="047857"/>
                </a:solidFill>
                <a:latin typeface="Consolas"/>
              </a:rPr>
              <a:t>ALERT-ONLY · CONTESTABLE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114800"/>
            <a:ext cx="2569464" cy="329184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4105656"/>
            <a:ext cx="2569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80">
                <a:solidFill>
                  <a:srgbClr val="B45309"/>
                </a:solidFill>
                <a:latin typeface="Consolas"/>
              </a:rPr>
              <a:t>ENTERPRISE-GRADE · ON-PREM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00600"/>
            <a:ext cx="77724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56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 spc="50">
                <a:solidFill>
                  <a:srgbClr val="0F1A2D"/>
                </a:solidFill>
                <a:latin typeface="Segoe UI Semibold"/>
              </a:rPr>
              <a:t>TEAM NINEAGENTS</a:t>
            </a:r>
            <a:r>
              <a:rPr sz="1100" b="0" lang="en-US">
                <a:solidFill>
                  <a:srgbClr val="3A4862"/>
                </a:solidFill>
                <a:latin typeface="Segoe UI"/>
              </a:rPr>
              <a:t>   ·   SVKM's NMIMS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85232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>
                <a:solidFill>
                  <a:srgbClr val="0E7490"/>
                </a:solidFill>
                <a:latin typeface="Segoe UI"/>
              </a:rPr>
              <a:t>Dhruv Agrawal</a:t>
            </a:r>
            <a:r>
              <a:rPr sz="950" b="0" lang="en-US">
                <a:solidFill>
                  <a:srgbClr val="3A4862"/>
                </a:solidFill>
                <a:latin typeface="Segoe UI"/>
              </a:rPr>
              <a:t>  ML / Backend Lead        </a:t>
            </a:r>
            <a:r>
              <a:rPr sz="1100" b="1" lang="en-US">
                <a:solidFill>
                  <a:srgbClr val="0E7490"/>
                </a:solidFill>
                <a:latin typeface="Segoe UI"/>
              </a:rPr>
              <a:t>Tanishq Vyas</a:t>
            </a:r>
            <a:r>
              <a:rPr sz="950" b="0" lang="en-US">
                <a:solidFill>
                  <a:srgbClr val="3A4862"/>
                </a:solidFill>
                <a:latin typeface="Segoe UI"/>
              </a:rPr>
              <a:t>  Frontend / UX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 lang="en-US">
                <a:solidFill>
                  <a:srgbClr val="0E7490"/>
                </a:solidFill>
                <a:latin typeface="Segoe UI"/>
              </a:rPr>
              <a:t>Hanzala Saify</a:t>
            </a:r>
            <a:r>
              <a:rPr sz="950" b="0" lang="en-US">
                <a:solidFill>
                  <a:srgbClr val="3A4862"/>
                </a:solidFill>
                <a:latin typeface="Segoe UI"/>
              </a:rPr>
              <a:t>  Infra / DevOps        </a:t>
            </a:r>
            <a:r>
              <a:rPr sz="1100" b="1" lang="en-US">
                <a:solidFill>
                  <a:srgbClr val="0E7490"/>
                </a:solidFill>
                <a:latin typeface="Segoe UI"/>
              </a:rPr>
              <a:t>Aditya Dubey</a:t>
            </a:r>
            <a:r>
              <a:rPr sz="950" b="0" lang="en-US">
                <a:solidFill>
                  <a:srgbClr val="3A4862"/>
                </a:solidFill>
                <a:latin typeface="Segoe UI"/>
              </a:rPr>
              <a:t>  Domain Research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00" b="1" lang="en-US" spc="30">
                <a:solidFill>
                  <a:srgbClr val="047857"/>
                </a:solidFill>
                <a:latin typeface="Consolas"/>
              </a:rPr>
              <a:t>github.com/dhruvagrawal27/hawk-eye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E7490"/>
                </a:solidFill>
                <a:latin typeface="Consolas"/>
              </a:rPr>
              <a:t>01 / 10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DC2626"/>
                </a:solidFill>
                <a:latin typeface="Consolas"/>
              </a:rPr>
              <a:t>PROBLEM &amp; BUSINESS RELEVANCE (20%) · PROBLEM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The bank's biggest fraud blind spot is its own privileged staff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DC2626"/>
                </a:solidFill>
                <a:latin typeface="Consolas"/>
              </a:rP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29584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82296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9344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lang="en-US">
                <a:solidFill>
                  <a:srgbClr val="DC2626"/>
                </a:solidFill>
                <a:latin typeface="Segoe UI Black"/>
              </a:rPr>
              <a:t>₹36,014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12848"/>
            <a:ext cx="31638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lang="en-US">
                <a:solidFill>
                  <a:srgbClr val="3A4862"/>
                </a:solidFill>
                <a:latin typeface="Segoe UI"/>
              </a:rPr>
              <a:t>bank fraud reported FY25 — up 194% YoY (2.9×)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481328"/>
            <a:ext cx="3529584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481328"/>
            <a:ext cx="82296" cy="1143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09344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lang="en-US">
                <a:solidFill>
                  <a:srgbClr val="B45309"/>
                </a:solidFill>
                <a:latin typeface="Segoe UI Black"/>
              </a:rPr>
              <a:t>₹25,667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12848"/>
            <a:ext cx="31638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lang="en-US">
                <a:solidFill>
                  <a:srgbClr val="3A4862"/>
                </a:solidFill>
                <a:latin typeface="Segoe UI"/>
              </a:rPr>
              <a:t>borne by public-sector banks (~71% of total)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481328"/>
            <a:ext cx="3529584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1481328"/>
            <a:ext cx="82296" cy="1143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609344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lang="en-US">
                <a:solidFill>
                  <a:srgbClr val="0E7490"/>
                </a:solidFill>
                <a:latin typeface="Segoe UI Black"/>
              </a:rPr>
              <a:t>~12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212848"/>
            <a:ext cx="31638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lang="en-US">
                <a:solidFill>
                  <a:srgbClr val="3A4862"/>
                </a:solidFill>
                <a:latin typeface="Segoe UI"/>
              </a:rPr>
              <a:t>median time insider fraud runs before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743200"/>
            <a:ext cx="11055096" cy="384048"/>
          </a:xfrm>
          <a:prstGeom prst="roundRect">
            <a:avLst>
              <a:gd name="adj" fmla="val 30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743200"/>
            <a:ext cx="110550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"/>
              </a:rPr>
              <a:t>FEWER BUT FAR LARGER  —  fraud CASES fell ~34% (36,060 → 23,953) while VALUE nearly tripled;  advances / loan fraud = ₹33,148 cr (&gt;92% of value).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10128"/>
            <a:ext cx="5486400" cy="2907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564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60">
                <a:solidFill>
                  <a:srgbClr val="0E7490"/>
                </a:solidFill>
                <a:latin typeface="Segoe UI Semibold"/>
              </a:rPr>
              <a:t>WHY INSIDERS ARE THE BLIND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6732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Privileged users — DBAs, sysadmins, SWIFT/treasury operators, makers &amp; checkers, loan officers, IAM/PAM admins — hold god-mode access to core banking, treasury, loan origination &amp; customer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Insider fraud runs ~12 months and is caught 43% by tips — not systems; banking is the most-studied sector (ACFE 2024).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36592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Advances-related fraud = ₹33,148 cr of FY25 — instruments only privileged staff originate or modify.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4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Proactive data-monitoring is one of only FOUR controls tied to a ≥50% cut in BOTH loss and duration — our core thesis.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05856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Union Bank of India: merged-Finacle CBS (ex-Union / Andhra / Corporation), ~8,000+ branches, thousands of privileged users.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10128"/>
            <a:ext cx="5449824" cy="2907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310128"/>
            <a:ext cx="82296" cy="29077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4564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50">
                <a:solidFill>
                  <a:srgbClr val="B45309"/>
                </a:solidFill>
                <a:latin typeface="Segoe UI Semibold"/>
              </a:rPr>
              <a:t>THE REGULATORY MANDATE  ·  RBI 2024–2026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767328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RBI Master Directions on Fraud Risk Management (15 Jul 2024) — Red-Flagged-Account lifecycle, staff-accountability on a 6-month clock, natural justice (SBI v. Rajesh Agarwal, 2023).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370832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FMR + Central Fraud Registry (CFR) reporting of staff-fraud incidents; CRILC ₹3 cr / 7-day / 180-day windows.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974336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RBI FREE-AI (13 Aug 2025) + draft Model Risk Management (24 Jun 2026) — ML models are a regulated, inspectable asset class.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577840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RBI Cyber Security Framework + IS Audit — insider-threat controls (privileged access, SoD, log integrity) are inspected.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62727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047857"/>
                </a:solidFill>
                <a:latin typeface="Segoe UI"/>
              </a:rPr>
              <a:t>Hawk-Eye is built to sit INSIDE this machinery — not bolted on after.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3" grpId="0" build="whole"/>
      <p:bldP spid="17" grpId="0" build="whole"/>
      <p:bldP spid="21" grpId="0" build="whole"/>
      <p:bldP spid="23" grpId="0" build="whole"/>
      <p:bldP spid="30" grpId="0" build="whol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0E7490"/>
                </a:solidFill>
                <a:latin typeface="Consolas"/>
              </a:rPr>
              <a:t>PROBLEM &amp; BUSINESS RELEVANCE (20%) · SOLUTION, DIFFERENTIATION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A 7-layer, alert-only insider-fraud Early-Warning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lang="en-US">
                <a:solidFill>
                  <a:srgbClr val="3A4862"/>
                </a:solidFill>
                <a:latin typeface="Segoe UI"/>
              </a:rPr>
              <a:t>One-to-one coverage of every clause of the problem statement — mapped to a detection layer.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0E7490"/>
                </a:solidFill>
                <a:latin typeface="Consolas"/>
              </a:rPr>
              <a:t>03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507492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836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0E7490"/>
                </a:solidFill>
                <a:latin typeface="Segoe UI Semibold"/>
              </a:rPr>
              <a:t>WHAT IT DOES  (exactly what the PS asks)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3A4862"/>
                </a:solidFill>
                <a:latin typeface="Segoe UI"/>
              </a:rPr>
              <a:t>Continuously monitors internal &amp; privileged users across core banking, treasury, loan origination &amp; customer databases.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3A4862"/>
                </a:solidFill>
                <a:latin typeface="Segoe UI"/>
              </a:rPr>
              <a:t>Learns an ML behavioural baseline per user (peer-relative) and flags deviations in real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3A4862"/>
                </a:solidFill>
                <a:latin typeface="Segoe UI"/>
              </a:rPr>
              <a:t>Detects unusual transactions, off-hours access, bulk downloads, unauthorized modifications, privilege-escalation.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0E7490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3A4862"/>
                </a:solidFill>
                <a:latin typeface="Segoe UI"/>
              </a:rPr>
              <a:t>Calibrated risk score → alerts with contextual explanations → investigator dashboard to triage &amp; act.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224528"/>
            <a:ext cx="4709160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3159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50">
                <a:solidFill>
                  <a:srgbClr val="6D28D9"/>
                </a:solidFill>
                <a:latin typeface="Segoe UI Semibold"/>
              </a:rPr>
              <a:t>DIFFERENTIATION &amp;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6D28D9"/>
                </a:solidFill>
                <a:latin typeface="Consolas"/>
              </a:rPr>
              <a:t>1  </a:t>
            </a:r>
            <a:r>
              <a:rPr sz="930" b="1" lang="en-US">
                <a:solidFill>
                  <a:srgbClr val="0F1A2D"/>
                </a:solidFill>
                <a:latin typeface="Segoe UI"/>
              </a:rPr>
              <a:t>Layered fusion 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rules + UEBA + GBDT + sequence + graph → ONE calibrated 0–100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6062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6D28D9"/>
                </a:solidFill>
                <a:latin typeface="Consolas"/>
              </a:rPr>
              <a:t>2  </a:t>
            </a:r>
            <a:r>
              <a:rPr sz="930" b="1" lang="en-US">
                <a:solidFill>
                  <a:srgbClr val="0F1A2D"/>
                </a:solidFill>
                <a:latin typeface="Segoe UI"/>
              </a:rPr>
              <a:t>Explainable by construction 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SHAP + reason codes + AI narrative; a reason-less alert is rejected.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76088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6D28D9"/>
                </a:solidFill>
                <a:latin typeface="Consolas"/>
              </a:rPr>
              <a:t>3  </a:t>
            </a:r>
            <a:r>
              <a:rPr sz="930" b="1" lang="en-US">
                <a:solidFill>
                  <a:srgbClr val="0F1A2D"/>
                </a:solidFill>
                <a:latin typeface="Segoe UI"/>
              </a:rPr>
              <a:t>Alert-only &amp; contestable 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scores &amp; explains; a human decides. Never auto-blocks money.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91556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6D28D9"/>
                </a:solidFill>
                <a:latin typeface="Consolas"/>
              </a:rPr>
              <a:t>4  </a:t>
            </a:r>
            <a:r>
              <a:rPr sz="930" b="1" lang="en-US">
                <a:solidFill>
                  <a:srgbClr val="0F1A2D"/>
                </a:solidFill>
                <a:latin typeface="Segoe UI"/>
              </a:rPr>
              <a:t>Peer-relative + one-alert-per-entity 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harder to game; fights alert fatigue.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07024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6D28D9"/>
                </a:solidFill>
                <a:latin typeface="Consolas"/>
              </a:rPr>
              <a:t>5  </a:t>
            </a:r>
            <a:r>
              <a:rPr sz="930" b="1" lang="en-US">
                <a:solidFill>
                  <a:srgbClr val="0F1A2D"/>
                </a:solidFill>
                <a:latin typeface="Segoe UI"/>
              </a:rPr>
              <a:t>RBI + FREE-AI governance 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on-prem, India-residency, fair, WORM-audited.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755648"/>
            <a:ext cx="5815584" cy="4480560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50">
                <a:solidFill>
                  <a:srgbClr val="047857"/>
                </a:solidFill>
                <a:latin typeface="Segoe UI Semibold"/>
              </a:rPr>
              <a:t>EVERY PS SIGNAL → 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194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lang="en-US" spc="60">
                <a:solidFill>
                  <a:srgbClr val="64728C"/>
                </a:solidFill>
                <a:latin typeface="Consolas"/>
              </a:rPr>
              <a:t>PS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1945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lang="en-US" spc="60">
                <a:solidFill>
                  <a:srgbClr val="64728C"/>
                </a:solidFill>
                <a:latin typeface="Consolas"/>
              </a:rPr>
              <a:t>HOW HAWK-EYE CATCHES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21945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lang="en-US" spc="60">
                <a:solidFill>
                  <a:srgbClr val="64728C"/>
                </a:solidFill>
                <a:latin typeface="Consolas"/>
              </a:rPr>
              <a:t>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2450591"/>
            <a:ext cx="5687568" cy="363931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2468879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ML behavioural baseline /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468879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peer-relative UEBA (no labels)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2468879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832811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Unusual transaction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832811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hard rules + supervised GBDT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2832811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L1·L3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3178454"/>
            <a:ext cx="5687568" cy="363931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196742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Off-hours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196742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time-of-day vs baseline + 7×24 heatmap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3196742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L1·L2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560673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Bulk data downloads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560673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volume vs baseline + leaver-window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3560673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L1·L2·L4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3906316"/>
            <a:ext cx="5687568" cy="363931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3924604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Unauthorized account mods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924604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DB write with no app-txn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3924604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L1·L2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4288536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Privilege-escalation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288536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entitlement self-grant / temp-admin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4288536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70448" y="4634179"/>
            <a:ext cx="5687568" cy="363931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4652467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Real-time flagging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652467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event → feature → score → alert (secs)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4652467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L0–L6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016398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Risk scores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016398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one calibrated 0–100 (severity×conf.)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5016398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70448" y="5362041"/>
            <a:ext cx="5687568" cy="363931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89320" y="5380329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Contextual explanations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5380329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SHAP + reason codes + AI narrative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5380329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L3·L6·LLM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5744260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0F1A2D"/>
                </a:solidFill>
                <a:latin typeface="Segoe UI"/>
              </a:rPr>
              <a:t>Triage &amp; act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744260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3A4862"/>
                </a:solidFill>
                <a:latin typeface="Segoe UI"/>
              </a:rPr>
              <a:t>console: queue · entity-360 · EDD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5744260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0E7490"/>
                </a:solidFill>
                <a:latin typeface="Consolas"/>
              </a:rPr>
              <a:t>L7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9320" y="6172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0" lang="en-US">
                <a:solidFill>
                  <a:srgbClr val="64728C"/>
                </a:solidFill>
                <a:latin typeface="Segoe UI"/>
              </a:rPr>
              <a:t>Source: docs/detection-coverage-map.md — 16 insider fraud vectors covered end-to-end.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23" grpId="0" build="whol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0E7490"/>
                </a:solidFill>
                <a:latin typeface="Consolas"/>
              </a:rPr>
              <a:t>TECHNOLOGY &amp; ENGINEERING (40%) ·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The L0→L7 conveyor: event → rules → UEBA → GBDT → sequence → graph → fusion → 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0E7490"/>
                </a:solidFill>
                <a:latin typeface="Consolas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Canonical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one JSON event
from any source</a:t>
            </a:r>
          </a:p>
        </p:txBody>
      </p:sp>
      <p:sp>
        <p:nvSpPr>
          <p:cNvPr id="14" name="Chevron 13"/>
          <p:cNvSpPr/>
          <p:nvPr/>
        </p:nvSpPr>
        <p:spPr>
          <a:xfrm>
            <a:off x="1813941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9389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69389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9389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109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Rules + SoD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09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hard red-flags,
maker-checker</a:t>
            </a:r>
          </a:p>
        </p:txBody>
      </p:sp>
      <p:sp>
        <p:nvSpPr>
          <p:cNvPr id="20" name="Chevron 19"/>
          <p:cNvSpPr/>
          <p:nvPr/>
        </p:nvSpPr>
        <p:spPr>
          <a:xfrm>
            <a:off x="3216402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71850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71850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1850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7570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UEBA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7570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peer-relative
baseline, no labels</a:t>
            </a:r>
          </a:p>
        </p:txBody>
      </p:sp>
      <p:sp>
        <p:nvSpPr>
          <p:cNvPr id="26" name="Chevron 25"/>
          <p:cNvSpPr/>
          <p:nvPr/>
        </p:nvSpPr>
        <p:spPr>
          <a:xfrm>
            <a:off x="4618863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4311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74311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4311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0031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Supervised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0031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LightGBM
+ SHAP</a:t>
            </a:r>
          </a:p>
        </p:txBody>
      </p:sp>
      <p:sp>
        <p:nvSpPr>
          <p:cNvPr id="32" name="Chevron 31"/>
          <p:cNvSpPr/>
          <p:nvPr/>
        </p:nvSpPr>
        <p:spPr>
          <a:xfrm>
            <a:off x="6021324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6772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76772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6772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2492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Sequence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2492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order &amp; timing
of actions</a:t>
            </a:r>
          </a:p>
        </p:txBody>
      </p:sp>
      <p:sp>
        <p:nvSpPr>
          <p:cNvPr id="38" name="Chevron 37"/>
          <p:cNvSpPr/>
          <p:nvPr/>
        </p:nvSpPr>
        <p:spPr>
          <a:xfrm>
            <a:off x="7423785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79232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9232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9232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4952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4952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collusion rings,
shell vendors</a:t>
            </a:r>
          </a:p>
        </p:txBody>
      </p:sp>
      <p:sp>
        <p:nvSpPr>
          <p:cNvPr id="44" name="Chevron 43"/>
          <p:cNvSpPr/>
          <p:nvPr/>
        </p:nvSpPr>
        <p:spPr>
          <a:xfrm>
            <a:off x="8826245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81694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81694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1694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27414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27414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one 0–100 score
+ reason codes</a:t>
            </a:r>
          </a:p>
        </p:txBody>
      </p:sp>
      <p:sp>
        <p:nvSpPr>
          <p:cNvPr id="50" name="Chevron 49"/>
          <p:cNvSpPr/>
          <p:nvPr/>
        </p:nvSpPr>
        <p:spPr>
          <a:xfrm>
            <a:off x="10228707" y="2756916"/>
            <a:ext cx="146304" cy="201168"/>
          </a:xfrm>
          <a:prstGeom prst="chevron">
            <a:avLst/>
          </a:prstGeom>
          <a:solidFill>
            <a:srgbClr val="A9B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384155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384155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84155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FFFFFF"/>
                </a:solidFill>
                <a:latin typeface="Segoe UI Black"/>
              </a:rPr>
              <a:t>L7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9875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F1A2D"/>
                </a:solidFill>
                <a:latin typeface="Segoe UI Semibold"/>
              </a:rPr>
              <a:t>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9875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3A4862"/>
                </a:solidFill>
                <a:latin typeface="Segoe UI"/>
              </a:rPr>
              <a:t>investigator
triage + EDD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3767328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6F5E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3767328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47857"/>
                </a:solidFill>
                <a:latin typeface="Segoe UI"/>
              </a:rPr>
              <a:t>FAST LANE — real-time: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event → feature → score → alert in SECONDS  (the primary online build).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4297680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FCF2E2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29768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B45309"/>
                </a:solidFill>
                <a:latin typeface="Segoe UI"/>
              </a:rPr>
              <a:t>SLOW LANE — batch EWS:  </a:t>
            </a:r>
            <a:r>
              <a:rPr sz="960" b="0" lang="en-US">
                <a:solidFill>
                  <a:srgbClr val="3A4862"/>
                </a:solidFill>
                <a:latin typeface="Segoe UI"/>
              </a:rPr>
              <a:t>credit / ghost-vendor / ghost-payroll / alert-suppression over days–weeks → feeds RBI EWS · RFA · CRILC · FMR.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4892040"/>
            <a:ext cx="11055096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5047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E7490"/>
                </a:solidFill>
                <a:latin typeface="Segoe UI Semibold"/>
              </a:rPr>
              <a:t>ALERT-ONLY  </a:t>
            </a:r>
            <a:r>
              <a:rPr sz="1100" b="0" lang="en-US">
                <a:solidFill>
                  <a:srgbClr val="0F1A2D"/>
                </a:solidFill>
                <a:latin typeface="Segoe UI"/>
              </a:rPr>
              <a:t>— scores &amp; explains; a human decides, never auto-blocks money.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413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lang="en-US">
                <a:solidFill>
                  <a:srgbClr val="3A4862"/>
                </a:solidFill>
                <a:latin typeface="Segoe UI"/>
              </a:rPr>
              <a:t>Every alert is  </a:t>
            </a:r>
            <a:r>
              <a:rPr sz="1000" b="1" lang="en-US">
                <a:solidFill>
                  <a:srgbClr val="047857"/>
                </a:solidFill>
                <a:latin typeface="Segoe UI"/>
              </a:rPr>
              <a:t>CONTESTABLE</a:t>
            </a:r>
            <a:r>
              <a:rPr sz="1000" b="0" lang="en-US">
                <a:solidFill>
                  <a:srgbClr val="3A4862"/>
                </a:solidFill>
                <a:latin typeface="Segoe UI"/>
              </a:rPr>
              <a:t> (reason codes)  ·  </a:t>
            </a:r>
            <a:r>
              <a:rPr sz="1000" b="1" lang="en-US">
                <a:solidFill>
                  <a:srgbClr val="047857"/>
                </a:solidFill>
                <a:latin typeface="Segoe UI"/>
              </a:rPr>
              <a:t>REPRODUCIBLE</a:t>
            </a:r>
            <a:r>
              <a:rPr sz="1000" b="0" lang="en-US">
                <a:solidFill>
                  <a:srgbClr val="3A4862"/>
                </a:solidFill>
                <a:latin typeface="Segoe UI"/>
              </a:rPr>
              <a:t>  ·  </a:t>
            </a:r>
            <a:r>
              <a:rPr sz="1000" b="1" lang="en-US">
                <a:solidFill>
                  <a:srgbClr val="047857"/>
                </a:solidFill>
                <a:latin typeface="Segoe UI"/>
              </a:rPr>
              <a:t>AUDITED</a:t>
            </a:r>
            <a:r>
              <a:rPr sz="1000" b="0" lang="en-US">
                <a:solidFill>
                  <a:srgbClr val="3A4862"/>
                </a:solidFill>
                <a:latin typeface="Segoe UI"/>
              </a:rPr>
              <a:t> (hash-chained WORM).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>
                <a:solidFill>
                  <a:srgbClr val="6D28D9"/>
                </a:solidFill>
                <a:latin typeface="Segoe UI Semibold"/>
              </a:rPr>
              <a:t>↺  FEEDBACK LOOP  </a:t>
            </a:r>
            <a:r>
              <a:rPr sz="1050" b="0" lang="en-US">
                <a:solidFill>
                  <a:srgbClr val="0F1A2D"/>
                </a:solidFill>
                <a:latin typeface="Segoe UI"/>
              </a:rPr>
              <a:t>— investigator EDD verdict → new label → models retrain and improve the longer it runs.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5" grpId="0" build="whole"/>
      <p:bldP spid="21" grpId="0" build="whole"/>
      <p:bldP spid="27" grpId="0" build="whole"/>
      <p:bldP spid="33" grpId="0" build="whole"/>
      <p:bldP spid="39" grpId="0" build="whole"/>
      <p:bldP spid="45" grpId="0" build="whole"/>
      <p:bldP spid="51" grpId="0" build="whole"/>
      <p:bldP spid="56" grpId="0" build="whole"/>
      <p:bldP spid="58" grpId="0" build="whole"/>
      <p:bldP spid="60" grpId="0" build="whol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6D28D9"/>
                </a:solidFill>
                <a:latin typeface="Consolas"/>
              </a:rPr>
              <a:t>TECHNOLOGY &amp; ENGINEERING (40%) · AI/ML USAGE &amp; MODEL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Layered ML — each layer covers what the others cannot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6D28D9"/>
                </a:solidFill>
                <a:latin typeface="Consolas"/>
              </a:rP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761488" cy="640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E7490"/>
                </a:solidFill>
                <a:latin typeface="Segoe UI Semibold"/>
              </a:rPr>
              <a:t>L2 · UEBA (unsupervised)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E7490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Learns each user's normal vs their PEERS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E7490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No labels → solves cold-start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E7490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Peer-relative = fairer + harder to game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737360"/>
            <a:ext cx="2761488" cy="6400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L3 · Supervised GBDT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LightGBM on confirmed-fraud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SHAP shows which features drove the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The explainable supervised workhorse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737360"/>
            <a:ext cx="2761488" cy="640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6D28D9"/>
                </a:solidFill>
                <a:latin typeface="Segoe UI Semibold"/>
              </a:rPr>
              <a:t>L4 · Sequence / time-series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6D28D9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Order &amp; timing of actions (slow-burn)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6D28D9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Simple methods first…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6D28D9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…deep only if it beats the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3144" y="1737360"/>
            <a:ext cx="2761488" cy="64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DC2626"/>
                </a:solidFill>
                <a:latin typeface="Segoe UI Semibold"/>
              </a:rPr>
              <a:t>L5 · Graph / relational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DC2626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GNN / GraphSAGE over the actor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DC2626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Collusion rings, shell vendors, maker-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DC2626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3A4862"/>
                </a:solidFill>
                <a:latin typeface="Segoe UI"/>
              </a:rPr>
              <a:t>checker subgraphs invisible to tabular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840480"/>
            <a:ext cx="11055096" cy="868680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 w="1524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5020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 spc="40">
                <a:solidFill>
                  <a:srgbClr val="0E7490"/>
                </a:solidFill>
                <a:latin typeface="Segoe UI Semibold"/>
              </a:rPr>
              <a:t>L6 · CALIBRATED RISK 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279392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lang="en-US">
                <a:solidFill>
                  <a:srgbClr val="0F1A2D"/>
                </a:solidFill>
                <a:latin typeface="Segoe UI"/>
              </a:rPr>
              <a:t>All layers + rules fuse into ONE calibrated 0–100 score (severity × confidence) with a single set of reason codes — investigators get one alert per entity, not ten. A “70/100” really means ~70% likely (calibration).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64608"/>
            <a:ext cx="54864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83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40">
                <a:solidFill>
                  <a:srgbClr val="B45309"/>
                </a:solidFill>
                <a:latin typeface="Segoe UI Semibold"/>
              </a:rPr>
              <a:t>MODEL JUSTIFICATION &amp; HONEST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28523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Metrics that don't lie on imbalance: PR-AUC, precision@k, alert-to-fraud ratio — not ROC-AUC alone.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5778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Strict temporal split (past→future) — no data / temporal leakage.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8704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90" b="0" lang="en-US">
                <a:solidFill>
                  <a:srgbClr val="3A4862"/>
                </a:solidFill>
                <a:latin typeface="Segoe UI"/>
              </a:rPr>
              <a:t>Synthetic is for training; detection quality validated on real labelled outcomes + the feedback loop.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864608"/>
            <a:ext cx="5449824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4983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0E7490"/>
                </a:solidFill>
                <a:latin typeface="Segoe UI Semibold"/>
              </a:rPr>
              <a:t>PRODUCTION STACK  ·  ~26 services, on-prem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266944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047857"/>
                </a:solidFill>
                <a:latin typeface="Consolas"/>
              </a:rPr>
              <a:t>ML/MLOps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5266944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LightGBM·XGBoost·CatBoost·PyOD·PyTorch-Geometric·SHAP·MLflow·ONNX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415991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047857"/>
                </a:solidFill>
                <a:latin typeface="Consolas"/>
              </a:rPr>
              <a:t>DATA/STREAM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415991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Kafka L0 bus · feature store · lineage · MDM · synthetic sim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565038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047857"/>
                </a:solidFill>
                <a:latin typeface="Consolas"/>
              </a:rPr>
              <a:t>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5565038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Python 3.13 · FastAPI · Rust hot-paths · RBAC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714085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047857"/>
                </a:solidFill>
                <a:latin typeface="Consolas"/>
              </a:rPr>
              <a:t>DATA STORES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5714085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ClickHouse · Postgres · Redis · MinIO · WORM audit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5863132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047857"/>
                </a:solidFill>
                <a:latin typeface="Consolas"/>
              </a:rPr>
              <a:t>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5863132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React 19 · TS · Radix+CVA · Recharts · Cytoscape · 82 comps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6012180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047857"/>
                </a:solidFill>
                <a:latin typeface="Consolas"/>
              </a:rPr>
              <a:t>INFRA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6012180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Docker · K8s · ArgoCD · Terraform · HSM/Vault · mTLS · OPA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5" grpId="0" build="whole"/>
      <p:bldP spid="21" grpId="0" build="whole"/>
      <p:bldP spid="27" grpId="0" build="whole"/>
      <p:bldP spid="33" grpId="0" build="whole"/>
      <p:bldP spid="36" grpId="0" build="whole"/>
      <p:bldP spid="41" grpId="0" build="whol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047857"/>
                </a:solidFill>
                <a:latin typeface="Consolas"/>
              </a:rPr>
              <a:t>TECHNOLOGY &amp; ENGINEERING (40%) · WORKING PRODUCT · COMPLETENESS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A working system, proven end-to-end — not slideware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047857"/>
                </a:solidFill>
                <a:latin typeface="Consolas"/>
              </a:rP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794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6537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047857"/>
                </a:solidFill>
                <a:latin typeface="Segoe UI Semibold"/>
              </a:rPr>
              <a:t>END-TO-END IN ONE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8541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lang="en-US" spc="0">
                <a:solidFill>
                  <a:srgbClr val="047857"/>
                </a:solidFill>
                <a:latin typeface="Consolas"/>
              </a:rPr>
              <a:t>python -m ml.demo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2862072"/>
            <a:ext cx="1133856" cy="1133856"/>
          </a:xfrm>
          <a:prstGeom prst="ellipse">
            <a:avLst/>
          </a:prstGeom>
          <a:noFill/>
          <a:ln w="635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7864" y="3026664"/>
            <a:ext cx="804672" cy="804672"/>
          </a:xfrm>
          <a:prstGeom prst="ellipse">
            <a:avLst/>
          </a:prstGeom>
          <a:noFill/>
          <a:ln w="12700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118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lang="en-US">
                <a:solidFill>
                  <a:srgbClr val="DC2626"/>
                </a:solidFill>
                <a:latin typeface="Segoe UI Black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538728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 spc="40">
                <a:solidFill>
                  <a:srgbClr val="3A4862"/>
                </a:solidFill>
                <a:latin typeface="Consolas"/>
              </a:rPr>
              <a:t>RISK ·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78892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lang="en-US">
                <a:solidFill>
                  <a:srgbClr val="3A4862"/>
                </a:solidFill>
                <a:latin typeface="Segoe UI"/>
              </a:rPr>
              <a:t>A synthetic fraud burst flows </a:t>
            </a:r>
            <a:r>
              <a:rPr sz="880" b="1" lang="en-US">
                <a:solidFill>
                  <a:srgbClr val="0E7490"/>
                </a:solidFill>
                <a:latin typeface="Consolas"/>
              </a:rPr>
              <a:t>L0→L2→L3→L5→L6</a:t>
            </a:r>
            <a:r>
              <a:rPr sz="880" b="0" lang="en-US">
                <a:solidFill>
                  <a:srgbClr val="3A4862"/>
                </a:solidFill>
                <a:latin typeface="Segoe UI"/>
              </a:rPr>
              <a:t> and ends in a RISK 100/100 critical alert on a genuinely fraudulent employee — prints reason codes + a plain-English narrative, and confirms the alert is CONTESTABLE &amp; REPRODUCIBLE.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73736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86537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0E7490"/>
                </a:solidFill>
                <a:latin typeface="Segoe UI Semibold"/>
              </a:rPr>
              <a:t>TEST SUITES — ALL GREEN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0872" y="223113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224942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3A4862"/>
                </a:solidFill>
                <a:latin typeface="Consolas"/>
              </a:rPr>
              <a:t>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41401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✓ 250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223113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24942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3A4862"/>
                </a:solidFill>
                <a:latin typeface="Consola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41401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✓ 109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90872" y="277977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279806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3A4862"/>
                </a:solidFill>
                <a:latin typeface="Consola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29626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✓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277977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79806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3A4862"/>
                </a:solidFill>
                <a:latin typeface="Consolas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9626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✓ 112 +3e2e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3328415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3346703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3A4862"/>
                </a:solidFill>
                <a:latin typeface="Consolas"/>
              </a:rPr>
              <a:t>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351129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✓ 73 +4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328415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346703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3A4862"/>
                </a:solidFill>
                <a:latin typeface="Consolas"/>
              </a:rPr>
              <a:t>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351129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047857"/>
                </a:solidFill>
                <a:latin typeface="Segoe UI Semibold"/>
              </a:rPr>
              <a:t>✓ 60 +10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3A4862"/>
                </a:solidFill>
                <a:latin typeface="Segoe UI"/>
              </a:rPr>
              <a:t>Adversarial RED-TEAM suite found + fixed </a:t>
            </a:r>
            <a:r>
              <a:rPr sz="860" b="1" lang="en-US">
                <a:solidFill>
                  <a:srgbClr val="DC2626"/>
                </a:solidFill>
                <a:latin typeface="Segoe UI"/>
              </a:rPr>
              <a:t>3 real safety bugs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737360"/>
            <a:ext cx="348386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18653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20">
                <a:solidFill>
                  <a:srgbClr val="B45309"/>
                </a:solidFill>
                <a:latin typeface="Segoe UI Semibold"/>
              </a:rPr>
              <a:t>THE FULL PLATFORM  ( make up 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21945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0F1A2D"/>
                </a:solidFill>
                <a:latin typeface="Segoe UI"/>
              </a:rPr>
              <a:t>~26 connected services</a:t>
            </a:r>
            <a:r>
              <a:rPr sz="880" b="0" lang="en-US">
                <a:solidFill>
                  <a:srgbClr val="3A4862"/>
                </a:solidFill>
                <a:latin typeface="Segoe UI"/>
              </a:rPr>
              <a:t> — Kafka · ClickHouse · Redis · Postgres · MinIO · FastAPI control room · model serving · React console · Prometheus/Grafana — one command.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3154680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0" b="1" lang="en-US" spc="30">
                <a:solidFill>
                  <a:srgbClr val="64728C"/>
                </a:solidFill>
                <a:latin typeface="Consolas"/>
              </a:rPr>
              <a:t>HONEST LEDGER — 149 build tasks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48472" y="3401568"/>
            <a:ext cx="2336936" cy="23774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85408" y="3401568"/>
            <a:ext cx="417310" cy="2377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102718" y="3401568"/>
            <a:ext cx="354713" cy="23774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369417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47857"/>
                </a:solidFill>
                <a:latin typeface="Consolas"/>
              </a:rPr>
              <a:t>112 REAL</a:t>
            </a:r>
            <a:r>
              <a:rPr sz="800" b="0" lang="en-US">
                <a:solidFill>
                  <a:srgbClr val="3A4862"/>
                </a:solidFill>
                <a:latin typeface="Segoe UI"/>
              </a:rPr>
              <a:t> · </a:t>
            </a:r>
            <a:r>
              <a:rPr sz="840" b="1" lang="en-US">
                <a:solidFill>
                  <a:srgbClr val="B45309"/>
                </a:solidFill>
                <a:latin typeface="Consolas"/>
              </a:rPr>
              <a:t>20 SCAFFOLD</a:t>
            </a:r>
            <a:r>
              <a:rPr sz="800" b="0" lang="en-US">
                <a:solidFill>
                  <a:srgbClr val="3A4862"/>
                </a:solidFill>
                <a:latin typeface="Segoe UI"/>
              </a:rPr>
              <a:t> · </a:t>
            </a:r>
            <a:r>
              <a:rPr sz="840" b="1" lang="en-US">
                <a:solidFill>
                  <a:srgbClr val="6D28D9"/>
                </a:solidFill>
                <a:latin typeface="Consolas"/>
              </a:rPr>
              <a:t>17 MOCK</a:t>
            </a:r>
            <a:r>
              <a:rPr sz="840" b="0" lang="en-US">
                <a:solidFill>
                  <a:srgbClr val="3A4862"/>
                </a:solidFill>
                <a:latin typeface="Segoe UI"/>
              </a:rPr>
              <a:t>  — every capability labelled, nothing oversold. Deterministic dataset: 118,518 events · 12 typologies · 14 fraud actors (seed 1405).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617720"/>
            <a:ext cx="11055096" cy="1572768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73659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40">
                <a:solidFill>
                  <a:srgbClr val="0F1A2D"/>
                </a:solidFill>
                <a:latin typeface="Segoe UI Semibold"/>
              </a:rPr>
              <a:t>RIGOR BAKED IN — SAFETY &amp; DELIVERY DISCIPLINE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7240" y="5074920"/>
            <a:ext cx="0" cy="978408"/>
          </a:xfrm>
          <a:prstGeom prst="line">
            <a:avLst/>
          </a:prstGeom>
          <a:ln w="27940">
            <a:solidFill>
              <a:srgbClr val="0E7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86968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0E7490"/>
                </a:solidFill>
                <a:latin typeface="Segoe UI Semibold"/>
              </a:rPr>
              <a:t>Alert-only in 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3A4862"/>
                </a:solidFill>
                <a:latin typeface="Segoe UI"/>
              </a:rPr>
              <a:t>ml/design/alert_only_contract.py — API exposes only a human block-REQUEST; nothing auto-blocks or auto-classifies.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511296" y="5074920"/>
            <a:ext cx="0" cy="978408"/>
          </a:xfrm>
          <a:prstGeom prst="line">
            <a:avLst/>
          </a:prstGeom>
          <a:ln w="27940">
            <a:solidFill>
              <a:srgbClr val="0478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21024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047857"/>
                </a:solidFill>
                <a:latin typeface="Segoe UI Semibold"/>
              </a:rPr>
              <a:t>Contestable + WORM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21024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3A4862"/>
                </a:solidFill>
                <a:latin typeface="Segoe UI"/>
              </a:rPr>
              <a:t>reason-less alerts rejected (natural justice); every sensitive action &amp; unmask in a hash-chained WORM log — “watch the watchers.”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45352" y="5074920"/>
            <a:ext cx="0" cy="978408"/>
          </a:xfrm>
          <a:prstGeom prst="line">
            <a:avLst/>
          </a:prstGeom>
          <a:ln w="27940">
            <a:solidFill>
              <a:srgbClr val="6D28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55080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6D28D9"/>
                </a:solidFill>
                <a:latin typeface="Segoe UI Semibold"/>
              </a:rPr>
              <a:t>Fair by construction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3A4862"/>
                </a:solidFill>
                <a:latin typeface="Segoe UI"/>
              </a:rPr>
              <a:t>peer-relative scoring; protected attributes never used; the build FAILS if a fairness check trips.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979408" y="5074920"/>
            <a:ext cx="0" cy="978408"/>
          </a:xfrm>
          <a:prstGeom prst="line">
            <a:avLst/>
          </a:prstGeom>
          <a:ln w="2794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89136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DC2626"/>
                </a:solidFill>
                <a:latin typeface="Segoe UI Semibold"/>
              </a:rPr>
              <a:t>Red-team gates CI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89136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3A4862"/>
                </a:solidFill>
                <a:latin typeface="Segoe UI"/>
              </a:rPr>
              <a:t>suite actively tries to break alert-only, leak secrets, bypass RBAC/SoD — and gates the build.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8" grpId="0" build="whole"/>
      <p:bldP spid="39" grpId="0" build="whole"/>
      <p:bldP spid="47" grpId="0" build="whol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1D4ED8"/>
                </a:solidFill>
                <a:latin typeface="Consolas"/>
              </a:rPr>
              <a:t>SECURITY, SCALABILITY &amp; ENTERPRISE READINESS (20%) · DATA, PRIVACY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Secure and private by design — least-privilege everywhere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1D4ED8"/>
                </a:solidFill>
                <a:latin typeface="Consolas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3611880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FFFFFF"/>
                </a:solidFill>
                <a:latin typeface="Segoe UI Semibold"/>
              </a:rPr>
              <a:t>SECURITY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1D4ED8"/>
                </a:solidFill>
                <a:latin typeface="Segoe UI Semibold"/>
              </a:rPr>
              <a:t>RBAC + Separation of Duties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Role-gated (analyst/compliance/auditor/model-eng/admin). Whoever builds models can't label data or close their own alerts.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009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1D4ED8"/>
                </a:solidFill>
                <a:latin typeface="Segoe UI Semibold"/>
              </a:rPr>
              <a:t>Secrets: HSM / Vault + mTLS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Secrets in Vault/HSM, injected at runtime — never in code. mTLS between services; OPA/Conftest gates in CI.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1D4ED8"/>
                </a:solidFill>
                <a:latin typeface="Segoe UI Semibold"/>
              </a:rPr>
              <a:t>Tamper-evident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Hash-chained WORM of every sensitive action &amp; PII unmask — edits detectable. “Watch the watchers.”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1D4ED8"/>
                </a:solidFill>
                <a:latin typeface="Segoe UI Semibold"/>
              </a:rPr>
              <a:t>Threat model + red-team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766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Documented threat model, admin-access policy, framework mapping; adversarial red-team gates the build.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17830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057400"/>
            <a:ext cx="3611880" cy="20116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801368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FFFFFF"/>
                </a:solidFill>
                <a:latin typeface="Segoe UI Semibold"/>
              </a:rPr>
              <a:t>PRIVACY &amp; DATA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3865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047857"/>
                </a:solidFill>
                <a:latin typeface="Segoe UI Semibold"/>
              </a:rPr>
              <a:t>Canonical L0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26334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Every action from any source (CBS, SWIFT, PAM, IGA, HR) → ONE common JSON event. Connectors slot in behind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3009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047857"/>
                </a:solidFill>
                <a:latin typeface="Segoe UI Semibold"/>
              </a:rPr>
              <a:t>Synthetic-only, on-prem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5478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Runs locally on synthetic + public data — no real people/money/cloud secrets. Keys injected at runtime.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2153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047857"/>
                </a:solidFill>
                <a:latin typeface="Segoe UI Semibold"/>
              </a:rPr>
              <a:t>PII tokenization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4622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Identifiers → safe tokens (EMP-7f3a) before anything leaves the perimeter; unmask is RBAC-gated + audited.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51297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047857"/>
                </a:solidFill>
                <a:latin typeface="Segoe UI Semibold"/>
              </a:rPr>
              <a:t>DPDP + RBI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53766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Retention/archival tiering to DPDP + RBI windows; lineage + MDM staff entity-resolution across merged CBS/AD/HR/IAM.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28431" y="17830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1" y="2057400"/>
            <a:ext cx="3611880" cy="2011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1" y="1801368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FFFFFF"/>
                </a:solidFill>
                <a:latin typeface="Segoe UI Semibold"/>
              </a:rPr>
              <a:t>PROPORTIONALITY &amp; FAIRNESS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23865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6D28D9"/>
                </a:solidFill>
                <a:latin typeface="Segoe UI Semibold"/>
              </a:rPr>
              <a:t>It watches STAFF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3" y="26334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Treated as a legal/cultural matter — not just technical. Transparency with staff / works-council / HR / legal.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33009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6D28D9"/>
                </a:solidFill>
                <a:latin typeface="Segoe UI Semibold"/>
              </a:rPr>
              <a:t>Proportionality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35478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Only risk-relevant signals are used, not everything monitored.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42153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6D28D9"/>
                </a:solidFill>
                <a:latin typeface="Segoe UI Semibold"/>
              </a:rPr>
              <a:t>Fairness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4622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Protected attributes never used; peer-relative scoring; human-in-the-loop before any classification.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3" y="51297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6D28D9"/>
                </a:solidFill>
                <a:latin typeface="Segoe UI Semibold"/>
              </a:rPr>
              <a:t>TEE-attested AI narrative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3" y="53766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3A4862"/>
                </a:solidFill>
                <a:latin typeface="Segoe UI"/>
              </a:rPr>
              <a:t>Runs in a Trusted Execution Environment — names tokenized; the model provider cannot read the data.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21" grpId="0" build="whole"/>
      <p:bldP spid="33" grpId="0" build="whole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B45309"/>
                </a:solidFill>
                <a:latin typeface="Consolas"/>
              </a:rPr>
              <a:t>SECURITY, SCALABILITY &amp; ENTERPRISE READINESS (20%) · SCALE · DEPLOYMENT ·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Built for PSB scale — on-prem deployable, RBI-compliant, integration-ready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B45309"/>
                </a:solidFill>
                <a:latin typeface="Consolas"/>
              </a:rP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11055096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B45309"/>
                </a:solidFill>
                <a:latin typeface="Segoe UI Semibold"/>
              </a:rPr>
              <a:t>SCALES ON THE AXES THAT MATTER  —  8,000+ branches · thousands of privileged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Streaming ingest on Kafka — fast lane scores event→alert in seconds; horizontally-scalable consumers.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7627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ClickHouse columnar store for high-volume privileged-action events; Redis hot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~26 services · Kubernetes + ArgoCD + HA topology for horizontal scale &amp; rollout.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87168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Per-entity/peer baselines + alert budgeting + one-alert-per-entity — investigators never buried.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79776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lang="en-US">
                <a:solidFill>
                  <a:srgbClr val="0E7490"/>
                </a:solidFill>
                <a:latin typeface="Segoe UI"/>
              </a:rPr>
              <a:t>Sized for 360M events/day · 12,500 events/s peak → 3 Kafka brokers (RF3) · 1 Flink · 1 ClickHouse ×2.  ~$480/mo Lightsail pilot → ~$2,400/mo full AWS VPC.  ONNX serving.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00400"/>
            <a:ext cx="82296" cy="29992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32841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1D4ED8"/>
                </a:solidFill>
                <a:latin typeface="Segoe UI Semibold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657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Docker Compose → Kubernetes + ArgoCD + Terraform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023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Lightsail pilot recipe (DEPLOY_LIGHTSAIL.md)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OPA / Conftest policy gates in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754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On-prem, India data-residency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206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HA · HSM/Vault · mTLS · secrets at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486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1D4ED8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Versioned BOM (deploy/versions.bom.yaml)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200400"/>
            <a:ext cx="82296" cy="299923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32841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047857"/>
                </a:solidFill>
                <a:latin typeface="Segoe UI Semibold"/>
              </a:rPr>
              <a:t>BANKING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657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Canonical L0 event = ONE connector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023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Core banking (Finacle) · SWIFT / treasury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PAM (CyberArk / BeyondTrust) session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754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IGA / IAM entitlements · HR / JML 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51206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SWIFT ↔ CBS reconciliation (the PNB seam)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5486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047857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Connectors are SCAFFOLD until creds wired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F0F4FA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1" y="3200400"/>
            <a:ext cx="82296" cy="2999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32841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B45309"/>
                </a:solidFill>
                <a:latin typeface="Segoe UI Semibold"/>
              </a:rPr>
              <a:t>RBI COMPLIANCE WRAPPER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57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RFA lifecycle state machine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023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Staff-accountability (6-month clock)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FMR + Central Fraud Registry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754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FREE-AI model governance + kill-switch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1206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MRMF 7-dimension model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486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B4530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3A4862"/>
                </a:solidFill>
                <a:latin typeface="Segoe UI"/>
              </a:rPr>
              <a:t>MLflow registry · Ed25519 signing · model cards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272784"/>
            <a:ext cx="11055096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245352"/>
            <a:ext cx="11064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64728C"/>
                </a:solidFill>
                <a:latin typeface="Consolas"/>
              </a:rPr>
              <a:t>WINDOWS:  CRILC ₹3 Cr / 7-day / 180-day  ·  RBI TAT ≤30d  ·  CERT-In 6h  ·  DPDP ≤ ₹250 Cr  ·  go-live gate 17/17 GO  ·  IS-audit insider-control evidence pack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6" grpId="0" build="whole"/>
      <p:bldP spid="25" grpId="0" build="whole"/>
      <p:bldP spid="34" grpId="0" build="whol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047857"/>
                </a:solidFill>
                <a:latin typeface="Consolas"/>
              </a:rPr>
              <a:t>SOLUTION EXECUTION &amp; DEMO (15%) · END-TO-END DEMO &amp; INVESTIGATOR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See it work — from one command to the full console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047857"/>
                </a:solidFill>
                <a:latin typeface="Consolas"/>
              </a:rP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947672"/>
            <a:ext cx="347472" cy="347472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74519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047857"/>
                </a:solidFill>
                <a:latin typeface="Consolas"/>
              </a:rPr>
              <a:t>python -m ml.demo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30552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3A4862"/>
                </a:solidFill>
                <a:latin typeface="Segoe UI"/>
              </a:rPr>
              <a:t>Synthetic fraud burst → L0→L2→L3→L5→L6 → a RISK 100/100 critical alert with reason codes + narrative, contestable &amp; reproducible.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42032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706624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97479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3347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0E7490"/>
                </a:solidFill>
                <a:latin typeface="Consolas"/>
              </a:rPr>
              <a:t>npm run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89503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3A4862"/>
                </a:solidFill>
                <a:latin typeface="Segoe UI"/>
              </a:rPr>
              <a:t>The investigator console on built-in mock data: triage queue, entity-360, explanation panel (SHAP + narrative + graph), review 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00984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465576"/>
            <a:ext cx="347472" cy="34747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564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39242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1D4ED8"/>
                </a:solidFill>
                <a:latin typeface="Consolas"/>
              </a:rPr>
              <a:t>python backend/run_api.py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48456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3A4862"/>
                </a:solidFill>
                <a:latin typeface="Segoe UI"/>
              </a:rPr>
              <a:t>API + interactive docs at /api/v1/docs; log in as synthetic analyst / compliance / auditor; ranked queue, alert detail, EDD verdict,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59935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224527"/>
            <a:ext cx="347472" cy="3474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1538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151375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B45309"/>
                </a:solidFill>
                <a:latin typeface="Consolas"/>
              </a:rPr>
              <a:t>make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407407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3A4862"/>
                </a:solidFill>
                <a:latin typeface="Segoe UI"/>
              </a:rPr>
              <a:t>The whole ~26-service stack — Kafka, ClickHouse, Redis, Postgres, MinIO, serving, dashboards, monitoring — up together.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18888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983479"/>
            <a:ext cx="347472" cy="3474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743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FFFFFF"/>
                </a:solidFill>
                <a:latin typeface="Segoe UI Black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910327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6D28D9"/>
                </a:solidFill>
                <a:latin typeface="Consolas"/>
              </a:rPr>
              <a:t>Replay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166359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3A4862"/>
                </a:solidFill>
                <a:latin typeface="Segoe UI"/>
              </a:rPr>
              <a:t>Inject a scripted scenario — “after-hours bulk export by a treasury RM” — and watch it drive the live event tape and fire alerts.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783080"/>
            <a:ext cx="4123944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19019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40">
                <a:solidFill>
                  <a:srgbClr val="0E7490"/>
                </a:solidFill>
                <a:latin typeface="Segoe UI Semibold"/>
              </a:rPr>
              <a:t>INVESTIGATOR CONSOLE (L7)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2240280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F0F4FA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2240280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0F1A2D"/>
                </a:solidFill>
                <a:latin typeface="Segoe UI"/>
              </a:rPr>
              <a:t>1.  Alert fires (ranked)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2514600"/>
            <a:ext cx="3703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>
                <a:solidFill>
                  <a:srgbClr val="0E7490"/>
                </a:solidFill>
                <a:latin typeface="Segoe U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9248" y="2624328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2624328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0F1A2D"/>
                </a:solidFill>
                <a:latin typeface="Segoe UI"/>
              </a:rPr>
              <a:t>2.  Investigate (SHAP + graph)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2898648"/>
            <a:ext cx="3703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>
                <a:solidFill>
                  <a:srgbClr val="0E7490"/>
                </a:solidFill>
                <a:latin typeface="Segoe UI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3008376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9248" y="3008376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0F1A2D"/>
                </a:solidFill>
                <a:latin typeface="Segoe UI"/>
              </a:rPr>
              <a:t>3.  Decide (EDD verdict)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3282696"/>
            <a:ext cx="3703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>
                <a:solidFill>
                  <a:srgbClr val="0E7490"/>
                </a:solidFill>
                <a:latin typeface="Segoe U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9248" y="3392424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F0F4FA"/>
          </a:solidFill>
          <a:ln w="9525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3392424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0F1A2D"/>
                </a:solidFill>
                <a:latin typeface="Segoe UI"/>
              </a:rPr>
              <a:t>4.  Learn (verdict → label)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99248" y="3913632"/>
            <a:ext cx="3703320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99248" y="398678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 spc="40">
                <a:solidFill>
                  <a:srgbClr val="047857"/>
                </a:solidFill>
                <a:latin typeface="Segoe UI Semibold"/>
              </a:rPr>
              <a:t>WHAT THE INVESTIGATOR SEES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279392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47857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3A4862"/>
                </a:solidFill>
                <a:latin typeface="Segoe UI"/>
              </a:rPr>
              <a:t>Ranked triage queue — one alert/entity, severity-colored, sortable, bulk-select, RBAC-gated.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4663440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47857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3A4862"/>
                </a:solidFill>
                <a:latin typeface="Segoe UI"/>
              </a:rPr>
              <a:t>Entity-360 timeline — history, score-over-time, 7×24 off-hours heatmap.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5047488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47857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3A4862"/>
                </a:solidFill>
                <a:latin typeface="Segoe UI"/>
              </a:rPr>
              <a:t>Explanation — SHAP + rule provenance + AI narrative + Cytoscape graph (expand / find-path).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99248" y="5431536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47857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3A4862"/>
                </a:solidFill>
                <a:latin typeface="Segoe UI"/>
              </a:rPr>
              <a:t>EDD disposition (fraud/FP/inconclusive) that teaches the system; masked PII + audited unmask.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99248" y="5870448"/>
            <a:ext cx="3703320" cy="292608"/>
          </a:xfrm>
          <a:prstGeom prst="roundRect">
            <a:avLst>
              <a:gd name="adj" fmla="val 20000"/>
            </a:avLst>
          </a:prstGeom>
          <a:solidFill>
            <a:srgbClr val="E9EFF7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99248" y="5870448"/>
            <a:ext cx="3703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60">
                <a:solidFill>
                  <a:srgbClr val="0E7490"/>
                </a:solidFill>
                <a:latin typeface="Consolas"/>
              </a:rPr>
              <a:t>A TERMINAL, NOT A DASHBOARD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4" grpId="0" build="whole"/>
      <p:bldP spid="19" grpId="0" build="whole"/>
      <p:bldP spid="24" grpId="0" build="whole"/>
      <p:bldP spid="29" grpId="0" build="whole"/>
      <p:bldP spid="34" grpId="0" build="whole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0E7490"/>
                </a:solidFill>
                <a:latin typeface="Consolas"/>
              </a:rPr>
              <a:t>COMMERCIALIZATION &amp; STARTUP POTENTIAL (10%) · MARKET · DEFENSIBILITY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0F1A2D"/>
                </a:solidFill>
                <a:latin typeface="Segoe UI Semibold"/>
              </a:rPr>
              <a:t>Viable, defensible, and pulled by regulation — and fundable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DB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4728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0E7490"/>
                </a:solidFill>
                <a:latin typeface="Consolas"/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749039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0E7490"/>
                </a:solidFill>
                <a:latin typeface="Segoe UI Semibold"/>
              </a:rPr>
              <a:t>MARKET  ·  TAM / SAM / SOM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2212848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212848"/>
            <a:ext cx="3246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1D4ED8"/>
                </a:solidFill>
                <a:latin typeface="Segoe UI Black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Global fraud detection $32.0B (2025) → $65.68B (2030) · insider-threat $0.42B→$1.81B @ 27.9%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19" y="2980944"/>
            <a:ext cx="2468880" cy="384048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95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298094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 Black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83279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India fraud detection $1.28B → $3.89B @ 20.9%; BFSI-insider ~$0.35–0.55B → $1.0–1.3B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749039"/>
            <a:ext cx="1737360" cy="384048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749039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47857"/>
                </a:solidFill>
                <a:latin typeface="Segoe UI Black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51376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3A4862"/>
                </a:solidFill>
                <a:latin typeface="Segoe UI"/>
              </a:rPr>
              <a:t>₹1.2 Cr ARR (Yr 1) → ₹50 Cr (~$6M) / 50 customers by Yr 5 — &lt;3% of the ~150–200 large-bank segment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737360"/>
            <a:ext cx="356616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DC2626"/>
                </a:solidFill>
                <a:latin typeface="Segoe UI Semibold"/>
              </a:rPr>
              <a:t>COMPETITION &amp; DEFENSIBILITY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15798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64728C"/>
                </a:solidFill>
                <a:latin typeface="Consolas"/>
              </a:rPr>
              <a:t>INCUMBENTS (transaction-fraud / AML)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395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1" lang="en-US">
                <a:solidFill>
                  <a:srgbClr val="DC2626"/>
                </a:solidFill>
                <a:latin typeface="Segoe UI"/>
              </a:rPr>
              <a:t>•  </a:t>
            </a:r>
            <a:r>
              <a:rPr sz="830" b="0" lang="en-US">
                <a:solidFill>
                  <a:srgbClr val="3A4862"/>
                </a:solidFill>
                <a:latin typeface="Segoe UI"/>
              </a:rPr>
              <a:t>Feedzai — reached $2B valuation (2025, Series 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6700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1" lang="en-US">
                <a:solidFill>
                  <a:srgbClr val="DC2626"/>
                </a:solidFill>
                <a:latin typeface="Segoe UI"/>
              </a:rPr>
              <a:t>•  </a:t>
            </a:r>
            <a:r>
              <a:rPr sz="830" b="0" lang="en-US">
                <a:solidFill>
                  <a:srgbClr val="3A4862"/>
                </a:solidFill>
                <a:latin typeface="Segoe UI"/>
              </a:rPr>
              <a:t>Featurespace — acquired by Visa (~$925M, Dec 2024).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944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1" lang="en-US">
                <a:solidFill>
                  <a:srgbClr val="DC2626"/>
                </a:solidFill>
                <a:latin typeface="Segoe UI"/>
              </a:rPr>
              <a:t>•  </a:t>
            </a:r>
            <a:r>
              <a:rPr sz="830" b="0" lang="en-US">
                <a:solidFill>
                  <a:srgbClr val="3A4862"/>
                </a:solidFill>
                <a:latin typeface="Segoe UI"/>
              </a:rPr>
              <a:t>NICE Actimize — Forrester Leader, enterprise-fraud.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25526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F1A2D"/>
                </a:solidFill>
                <a:latin typeface="Segoe UI"/>
              </a:rPr>
              <a:t>None is built for on-prem, India-sovereign, insider-focused, alert-only, CRILC/FMR-native detection. </a:t>
            </a:r>
            <a:r>
              <a:rPr sz="840" b="1" lang="en-US">
                <a:solidFill>
                  <a:srgbClr val="047857"/>
                </a:solidFill>
                <a:latin typeface="Segoe UI"/>
              </a:rPr>
              <a:t>That seam is our defensibility.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91363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>
                <a:solidFill>
                  <a:srgbClr val="047857"/>
                </a:solidFill>
                <a:latin typeface="Segoe UI"/>
              </a:rPr>
              <a:t>✓ </a:t>
            </a:r>
            <a:r>
              <a:rPr sz="800" b="0" lang="en-US">
                <a:solidFill>
                  <a:srgbClr val="3A4862"/>
                </a:solidFill>
                <a:latin typeface="Segoe UI"/>
              </a:rPr>
              <a:t>~57% gross margin (→70–80% at scale)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114800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>
                <a:solidFill>
                  <a:srgbClr val="047857"/>
                </a:solidFill>
                <a:latin typeface="Segoe UI"/>
              </a:rPr>
              <a:t>✓ </a:t>
            </a:r>
            <a:r>
              <a:rPr sz="800" b="0" lang="en-US">
                <a:solidFill>
                  <a:srgbClr val="3A4862"/>
                </a:solidFill>
                <a:latin typeface="Segoe UI"/>
              </a:rPr>
              <a:t>~8× customer ROI (₹8 Cr value vs ~₹1 Cr cost)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31596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>
                <a:solidFill>
                  <a:srgbClr val="047857"/>
                </a:solidFill>
                <a:latin typeface="Segoe UI"/>
              </a:rPr>
              <a:t>✓ </a:t>
            </a:r>
            <a:r>
              <a:rPr sz="800" b="0" lang="en-US">
                <a:solidFill>
                  <a:srgbClr val="3A4862"/>
                </a:solidFill>
                <a:latin typeface="Segoe UI"/>
              </a:rPr>
              <a:t>Pricing ₹10 L – ₹3 Cr/yr — ~30–60% under incumbents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737360"/>
            <a:ext cx="3483864" cy="2788920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 w="1651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187451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60">
                <a:solidFill>
                  <a:srgbClr val="0E7490"/>
                </a:solidFill>
                <a:latin typeface="Segoe UI Semibold"/>
              </a:rPr>
              <a:t>THE 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21284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lang="en-US">
                <a:solidFill>
                  <a:srgbClr val="0F1A2D"/>
                </a:solidFill>
                <a:latin typeface="Segoe UI Black"/>
              </a:rPr>
              <a:t>₹10 Cr seed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7432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lang="en-US">
                <a:solidFill>
                  <a:srgbClr val="3A4862"/>
                </a:solidFill>
                <a:latin typeface="Segoe UI"/>
              </a:rPr>
              <a:t>for ~18% at ~₹55 Cr post-money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19" b="0" lang="en-US">
                <a:solidFill>
                  <a:srgbClr val="64728C"/>
                </a:solidFill>
                <a:latin typeface="Segoe UI"/>
              </a:rPr>
              <a:t>(benchmarked to Carta 2024 fintech medians)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2004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E7490"/>
                </a:solidFill>
                <a:latin typeface="Segoe UI"/>
              </a:rPr>
              <a:t>▸ </a:t>
            </a:r>
            <a:r>
              <a:rPr sz="810" b="0" lang="en-US">
                <a:solidFill>
                  <a:srgbClr val="3A4862"/>
                </a:solidFill>
                <a:latin typeface="Segoe UI"/>
              </a:rPr>
              <a:t>Use of funds → ₹5 Cr ARR / ~9 paying banks → Series 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363016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E7490"/>
                </a:solidFill>
                <a:latin typeface="Segoe UI"/>
              </a:rPr>
              <a:t>▸ </a:t>
            </a:r>
            <a:r>
              <a:rPr sz="810" b="0" lang="en-US">
                <a:solidFill>
                  <a:srgbClr val="3A4862"/>
                </a:solidFill>
                <a:latin typeface="Segoe UI"/>
              </a:rPr>
              <a:t>GTM: on-prem pilot on synthetic data (zero data-risk) → highest-risk privileged surface → entitlements, collusion, slow-lane EWS.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4059935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0E7490"/>
                </a:solidFill>
                <a:latin typeface="Segoe UI"/>
              </a:rPr>
              <a:t>▸ </a:t>
            </a:r>
            <a:r>
              <a:rPr sz="810" b="0" lang="en-US">
                <a:solidFill>
                  <a:srgbClr val="3A4862"/>
                </a:solidFill>
                <a:latin typeface="Segoe UI"/>
              </a:rPr>
              <a:t>Why now: RBI Fraud-Risk 2024 + FREE-AI + IS-Audit make insider controls mandatory — the on-prem / India-sovereign / insider seam is wide open.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63440"/>
            <a:ext cx="11055096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C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79145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 spc="30">
                <a:solidFill>
                  <a:srgbClr val="0F1A2D"/>
                </a:solidFill>
                <a:latin typeface="Segoe UI Semibold"/>
              </a:rPr>
              <a:t>TEAM NINEAGENTS — 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Dhruv Agrawal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047857"/>
                </a:solidFill>
                <a:latin typeface="Consolas"/>
              </a:rPr>
              <a:t>ML / Backend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3A4862"/>
                </a:solidFill>
                <a:latin typeface="Segoe UI"/>
              </a:rPr>
              <a:t>Detection layers, fusion, MLOps, backend &amp;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Tanishq Vyas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047857"/>
                </a:solidFill>
                <a:latin typeface="Consolas"/>
              </a:rPr>
              <a:t>Frontend /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3A4862"/>
                </a:solidFill>
                <a:latin typeface="Segoe UI"/>
              </a:rPr>
              <a:t>Investigator console — triage, entity-360, explanation &amp; graph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Hanzala Saify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047857"/>
                </a:solidFill>
                <a:latin typeface="Consolas"/>
              </a:rPr>
              <a:t>Infra / DevOps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3A4862"/>
                </a:solidFill>
                <a:latin typeface="Segoe UI"/>
              </a:rPr>
              <a:t>~26-service stack, k8s/ArgoCD/Terraform, security, observability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0E7490"/>
                </a:solidFill>
                <a:latin typeface="Segoe UI"/>
              </a:rPr>
              <a:t>Aditya Dubey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047857"/>
                </a:solidFill>
                <a:latin typeface="Consolas"/>
              </a:rPr>
              <a:t>Domain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3A4862"/>
                </a:solidFill>
                <a:latin typeface="Segoe UI"/>
              </a:rPr>
              <a:t>RBI Fraud-Risk / FREE-AI mapping, coverage, honest limits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89320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047857"/>
                </a:solidFill>
                <a:latin typeface="Consolas"/>
              </a:rPr>
              <a:t>github.com/dhruvagrawal27/hawk-eye   ·   read GETTING_STARTED.md · docs/detection-coverage-map.md · docs/honest-limits.md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20" grpId="0" build="whole"/>
      <p:bldP spid="30" grpId="0" build="whole"/>
      <p:bldP spid="37" grpId="0" build="whol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