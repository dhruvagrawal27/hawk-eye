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543800" y="960120"/>
            <a:ext cx="4206240" cy="4206240"/>
          </a:xfrm>
          <a:prstGeom prst="ellipse">
            <a:avLst/>
          </a:prstGeom>
          <a:noFill/>
          <a:ln w="13970">
            <a:solidFill>
              <a:srgbClr val="2C3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046720" y="1463040"/>
            <a:ext cx="3200400" cy="3200400"/>
          </a:xfrm>
          <a:prstGeom prst="ellipse">
            <a:avLst/>
          </a:prstGeom>
          <a:noFill/>
          <a:ln w="13970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549640" y="1965960"/>
            <a:ext cx="2194560" cy="2194560"/>
          </a:xfrm>
          <a:prstGeom prst="ellipse">
            <a:avLst/>
          </a:prstGeom>
          <a:noFill/>
          <a:ln w="20320">
            <a:solidFill>
              <a:srgbClr val="2C3E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25128" y="2441448"/>
            <a:ext cx="1243584" cy="1243584"/>
          </a:xfrm>
          <a:prstGeom prst="ellipse">
            <a:avLst/>
          </a:prstGeom>
          <a:noFill/>
          <a:ln w="20320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372600" y="2788920"/>
            <a:ext cx="548640" cy="548640"/>
          </a:xfrm>
          <a:prstGeom prst="ellipse">
            <a:avLst/>
          </a:prstGeom>
          <a:solidFill>
            <a:srgbClr val="3D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 flipV="1">
            <a:off x="9646920" y="2011680"/>
            <a:ext cx="1828800" cy="1051560"/>
          </a:xfrm>
          <a:prstGeom prst="line">
            <a:avLst/>
          </a:prstGeom>
          <a:ln w="20320">
            <a:solidFill>
              <a:srgbClr val="3DD6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66928" y="457200"/>
            <a:ext cx="1024128" cy="566928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512064"/>
            <a:ext cx="914400" cy="457200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1737360" y="4572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2224" y="512064"/>
            <a:ext cx="457200" cy="4572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2450591" y="457200"/>
            <a:ext cx="566928" cy="566928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5456" y="512064"/>
            <a:ext cx="457200" cy="4572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163824" y="457200"/>
            <a:ext cx="3035808" cy="566928"/>
          </a:xfrm>
          <a:prstGeom prst="roundRect">
            <a:avLst>
              <a:gd name="adj" fmla="val 2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8688" y="512064"/>
            <a:ext cx="3048000" cy="4572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566928" y="1417320"/>
            <a:ext cx="84124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lang="en-US" spc="80">
                <a:solidFill>
                  <a:srgbClr val="3DD6E8"/>
                </a:solidFill>
                <a:latin typeface="Consolas"/>
              </a:rPr>
              <a:t>RBI · iDEA 2.0 · PROBLEM STATEMENT — INTERNAL &amp; PRIVILEGED-USER FRAUD EARLY-WARNING SYSTEM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1874519"/>
            <a:ext cx="8595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6200" b="1" lang="en-US" spc="100">
                <a:solidFill>
                  <a:srgbClr val="EAF0FF"/>
                </a:solidFill>
                <a:latin typeface="Segoe UI Black"/>
              </a:rPr>
              <a:t>HAWK</a:t>
            </a:r>
            <a:r>
              <a:rPr sz="6200" b="1" lang="en-US" spc="100">
                <a:solidFill>
                  <a:srgbClr val="3DD6E8"/>
                </a:solidFill>
                <a:latin typeface="Segoe UI Black"/>
              </a:rPr>
              <a:t>-EYE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035808"/>
            <a:ext cx="8046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700" b="0" lang="en-US">
                <a:solidFill>
                  <a:srgbClr val="EAF0FF"/>
                </a:solidFill>
                <a:latin typeface="Segoe UI Semibold"/>
              </a:rPr>
              <a:t>AI-driven Early-Warning System for Internal &amp; Privileged-User Fraud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3584448"/>
            <a:ext cx="7863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lang="en-US">
                <a:solidFill>
                  <a:srgbClr val="9AA8C8"/>
                </a:solidFill>
                <a:latin typeface="Segoe UI"/>
              </a:rPr>
              <a:t>Every privileged action — watched, scored, explained.  A human always decides.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114800"/>
            <a:ext cx="2048255" cy="329184"/>
          </a:xfrm>
          <a:prstGeom prst="roundRect">
            <a:avLst>
              <a:gd name="adj" fmla="val 50000"/>
            </a:avLst>
          </a:prstGeom>
          <a:solidFill>
            <a:srgbClr val="0F182B"/>
          </a:solidFill>
          <a:ln w="12700">
            <a:solidFill>
              <a:srgbClr val="3D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4105656"/>
            <a:ext cx="2048255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lang="en-US" spc="80">
                <a:solidFill>
                  <a:srgbClr val="3DD6E8"/>
                </a:solidFill>
                <a:latin typeface="Consolas"/>
              </a:rPr>
              <a:t>7-LAYER L0–L7 ENGINE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61488" y="4114800"/>
            <a:ext cx="2395728" cy="329184"/>
          </a:xfrm>
          <a:prstGeom prst="roundRect">
            <a:avLst>
              <a:gd name="adj" fmla="val 50000"/>
            </a:avLst>
          </a:prstGeom>
          <a:solidFill>
            <a:srgbClr val="0F182B"/>
          </a:solidFill>
          <a:ln w="12700">
            <a:solidFill>
              <a:srgbClr val="35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61488" y="4105656"/>
            <a:ext cx="2395728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lang="en-US" spc="80">
                <a:solidFill>
                  <a:srgbClr val="35D399"/>
                </a:solidFill>
                <a:latin typeface="Consolas"/>
              </a:rPr>
              <a:t>ALERT-ONLY · CONTESTABLE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303520" y="4114800"/>
            <a:ext cx="2569464" cy="329184"/>
          </a:xfrm>
          <a:prstGeom prst="roundRect">
            <a:avLst>
              <a:gd name="adj" fmla="val 50000"/>
            </a:avLst>
          </a:prstGeom>
          <a:solidFill>
            <a:srgbClr val="0F182B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03520" y="4105656"/>
            <a:ext cx="2569464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lang="en-US" spc="80">
                <a:solidFill>
                  <a:srgbClr val="FFB020"/>
                </a:solidFill>
                <a:latin typeface="Consolas"/>
              </a:rPr>
              <a:t>ENTERPRISE-GRADE · ON-PREM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4800600"/>
            <a:ext cx="7772400" cy="1234440"/>
          </a:xfrm>
          <a:prstGeom prst="roundRect">
            <a:avLst>
              <a:gd name="adj" fmla="val 5000"/>
            </a:avLst>
          </a:prstGeom>
          <a:solidFill>
            <a:srgbClr val="121B30"/>
          </a:solidFill>
          <a:ln w="9525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95604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en-US" spc="50">
                <a:solidFill>
                  <a:srgbClr val="EAF0FF"/>
                </a:solidFill>
                <a:latin typeface="Segoe UI Semibold"/>
              </a:rPr>
              <a:t>TEAM NINEAGENTS</a:t>
            </a:r>
            <a:r>
              <a:rPr sz="1100" b="0" lang="en-US">
                <a:solidFill>
                  <a:srgbClr val="9AA8C8"/>
                </a:solidFill>
                <a:latin typeface="Segoe UI"/>
              </a:rPr>
              <a:t>   ·   SVKM's NMIMS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285232"/>
            <a:ext cx="7406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lang="en-US">
                <a:solidFill>
                  <a:srgbClr val="3DD6E8"/>
                </a:solidFill>
                <a:latin typeface="Segoe UI"/>
              </a:rPr>
              <a:t>Dhruv Agrawal</a:t>
            </a:r>
            <a:r>
              <a:rPr sz="950" b="0" lang="en-US">
                <a:solidFill>
                  <a:srgbClr val="9AA8C8"/>
                </a:solidFill>
                <a:latin typeface="Segoe UI"/>
              </a:rPr>
              <a:t>  ML / Backend Lead        </a:t>
            </a:r>
            <a:r>
              <a:rPr sz="1100" b="1" lang="en-US">
                <a:solidFill>
                  <a:srgbClr val="3DD6E8"/>
                </a:solidFill>
                <a:latin typeface="Segoe UI"/>
              </a:rPr>
              <a:t>Tanishq Vyas</a:t>
            </a:r>
            <a:r>
              <a:rPr sz="950" b="0" lang="en-US">
                <a:solidFill>
                  <a:srgbClr val="9AA8C8"/>
                </a:solidFill>
                <a:latin typeface="Segoe UI"/>
              </a:rPr>
              <a:t>  Frontend / UX</a:t>
            </a:r>
          </a:p>
          <a:p>
            <a:pPr algn="l">
              <a:spcBef>
                <a:spcPts val="400"/>
              </a:spcBef>
              <a:spcAft>
                <a:spcPts val="200"/>
              </a:spcAft>
            </a:pPr>
            <a:r>
              <a:rPr sz="1100" b="1" lang="en-US">
                <a:solidFill>
                  <a:srgbClr val="3DD6E8"/>
                </a:solidFill>
                <a:latin typeface="Segoe UI"/>
              </a:rPr>
              <a:t>Hanzala Saify</a:t>
            </a:r>
            <a:r>
              <a:rPr sz="950" b="0" lang="en-US">
                <a:solidFill>
                  <a:srgbClr val="9AA8C8"/>
                </a:solidFill>
                <a:latin typeface="Segoe UI"/>
              </a:rPr>
              <a:t>  Infra / DevOps        </a:t>
            </a:r>
            <a:r>
              <a:rPr sz="1100" b="1" lang="en-US">
                <a:solidFill>
                  <a:srgbClr val="3DD6E8"/>
                </a:solidFill>
                <a:latin typeface="Segoe UI"/>
              </a:rPr>
              <a:t>Aditya Dubey</a:t>
            </a:r>
            <a:r>
              <a:rPr sz="950" b="0" lang="en-US">
                <a:solidFill>
                  <a:srgbClr val="9AA8C8"/>
                </a:solidFill>
                <a:latin typeface="Segoe UI"/>
              </a:rPr>
              <a:t>  Domain Research</a:t>
            </a:r>
          </a:p>
          <a:p>
            <a:pPr algn="l">
              <a:spcBef>
                <a:spcPts val="600"/>
              </a:spcBef>
              <a:spcAft>
                <a:spcPts val="200"/>
              </a:spcAft>
            </a:pPr>
            <a:r>
              <a:rPr sz="1000" b="1" lang="en-US" spc="30">
                <a:solidFill>
                  <a:srgbClr val="35D399"/>
                </a:solidFill>
                <a:latin typeface="Consolas"/>
              </a:rPr>
              <a:t>github.com/dhruvagrawal27/hawk-eye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53796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lang="en-US" spc="30">
                <a:solidFill>
                  <a:srgbClr val="6C7A9C"/>
                </a:solidFill>
                <a:latin typeface="Segoe UI"/>
              </a:rPr>
              <a:t>HAWK-EYE  ·  Team NINEAGENTS  ·  iDEA 2.0 · PSBs Hackathon Series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62895" y="65379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 lang="en-US">
                <a:solidFill>
                  <a:srgbClr val="3DD6E8"/>
                </a:solidFill>
                <a:latin typeface="Consolas"/>
              </a:rPr>
              <a:t>01 / 10</a:t>
            </a:r>
          </a:p>
        </p:txBody>
      </p:sp>
    </p:spTree>
  </p:cSld>
  <p:transition spd="med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160">
                <a:solidFill>
                  <a:srgbClr val="FF4D5E"/>
                </a:solidFill>
                <a:latin typeface="Consolas"/>
              </a:rPr>
              <a:t>PROBLEM &amp; BUSINESS RELEVANCE (20%) · PROBLEM &amp;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lang="en-US">
                <a:solidFill>
                  <a:srgbClr val="EAF0FF"/>
                </a:solidFill>
                <a:latin typeface="Segoe UI Semibold"/>
              </a:rPr>
              <a:t>The bank's biggest fraud blind spot is its own privileged staff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28232"/>
            <a:ext cx="11094415" cy="0"/>
          </a:xfrm>
          <a:prstGeom prst="line">
            <a:avLst/>
          </a:prstGeom>
          <a:ln w="12700">
            <a:solidFill>
              <a:srgbClr val="1B27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lang="en-US" spc="30">
                <a:solidFill>
                  <a:srgbClr val="6C7A9C"/>
                </a:solidFill>
                <a:latin typeface="Segoe UI"/>
              </a:rPr>
              <a:t>HAWK-EYE  ·  Team NINEAGENTS  ·  iDEA 2.0 · PSBs Hackathon Series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 lang="en-US" spc="100">
                <a:solidFill>
                  <a:srgbClr val="FF4D5E"/>
                </a:solidFill>
                <a:latin typeface="Consolas"/>
              </a:rPr>
              <a:t>02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3529584" cy="1143000"/>
          </a:xfrm>
          <a:prstGeom prst="roundRect">
            <a:avLst>
              <a:gd name="adj" fmla="val 5000"/>
            </a:avLst>
          </a:prstGeom>
          <a:solidFill>
            <a:srgbClr val="121B30"/>
          </a:solidFill>
          <a:ln w="9525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481328"/>
            <a:ext cx="82296" cy="1143000"/>
          </a:xfrm>
          <a:prstGeom prst="rect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609344"/>
            <a:ext cx="3163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lang="en-US">
                <a:solidFill>
                  <a:srgbClr val="FF4D5E"/>
                </a:solidFill>
                <a:latin typeface="Segoe UI Black"/>
              </a:rPr>
              <a:t>₹36,014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212848"/>
            <a:ext cx="316382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lang="en-US">
                <a:solidFill>
                  <a:srgbClr val="9AA8C8"/>
                </a:solidFill>
                <a:latin typeface="Segoe UI"/>
              </a:rPr>
              <a:t>bank fraud reported FY25 — up 194% YoY (2.9×)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24528" y="1481328"/>
            <a:ext cx="3529584" cy="1143000"/>
          </a:xfrm>
          <a:prstGeom prst="roundRect">
            <a:avLst>
              <a:gd name="adj" fmla="val 5000"/>
            </a:avLst>
          </a:prstGeom>
          <a:solidFill>
            <a:srgbClr val="121B30"/>
          </a:solidFill>
          <a:ln w="9525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24528" y="1481328"/>
            <a:ext cx="82296" cy="114300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609344"/>
            <a:ext cx="3163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lang="en-US">
                <a:solidFill>
                  <a:srgbClr val="FFB020"/>
                </a:solidFill>
                <a:latin typeface="Segoe UI Black"/>
              </a:rPr>
              <a:t>₹25,667 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212848"/>
            <a:ext cx="316382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lang="en-US">
                <a:solidFill>
                  <a:srgbClr val="9AA8C8"/>
                </a:solidFill>
                <a:latin typeface="Segoe UI"/>
              </a:rPr>
              <a:t>borne by public-sector banks (~71% of total)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82127" y="1481328"/>
            <a:ext cx="3529584" cy="1143000"/>
          </a:xfrm>
          <a:prstGeom prst="roundRect">
            <a:avLst>
              <a:gd name="adj" fmla="val 5000"/>
            </a:avLst>
          </a:prstGeom>
          <a:solidFill>
            <a:srgbClr val="121B30"/>
          </a:solidFill>
          <a:ln w="9525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882127" y="1481328"/>
            <a:ext cx="82296" cy="1143000"/>
          </a:xfrm>
          <a:prstGeom prst="rect">
            <a:avLst/>
          </a:prstGeom>
          <a:solidFill>
            <a:srgbClr val="3D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59" y="1609344"/>
            <a:ext cx="31638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3000" b="1" lang="en-US">
                <a:solidFill>
                  <a:srgbClr val="3DD6E8"/>
                </a:solidFill>
                <a:latin typeface="Segoe UI Black"/>
              </a:rPr>
              <a:t>~12 months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2212848"/>
            <a:ext cx="316382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0" lang="en-US">
                <a:solidFill>
                  <a:srgbClr val="9AA8C8"/>
                </a:solidFill>
                <a:latin typeface="Segoe UI"/>
              </a:rPr>
              <a:t>median time insider fraud runs before detection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2743200"/>
            <a:ext cx="11055096" cy="384048"/>
          </a:xfrm>
          <a:prstGeom prst="roundRect">
            <a:avLst>
              <a:gd name="adj" fmla="val 30000"/>
            </a:avLst>
          </a:prstGeom>
          <a:solidFill>
            <a:srgbClr val="0F182B"/>
          </a:solidFill>
          <a:ln w="9525">
            <a:solidFill>
              <a:srgbClr val="1B27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2743200"/>
            <a:ext cx="11055096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EAF0FF"/>
                </a:solidFill>
                <a:latin typeface="Segoe UI"/>
              </a:rPr>
              <a:t>FEWER BUT FAR LARGER  —  fraud CASES fell ~34% (36,060 → 23,953) while VALUE nearly tripled;  advances / loan fraud = ₹33,148 cr (&gt;92% of value).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310128"/>
            <a:ext cx="5486400" cy="2907792"/>
          </a:xfrm>
          <a:prstGeom prst="roundRect">
            <a:avLst>
              <a:gd name="adj" fmla="val 4000"/>
            </a:avLst>
          </a:prstGeom>
          <a:solidFill>
            <a:srgbClr val="121B30"/>
          </a:solidFill>
          <a:ln w="9525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456432"/>
            <a:ext cx="5120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lang="en-US" spc="60">
                <a:solidFill>
                  <a:srgbClr val="3DD6E8"/>
                </a:solidFill>
                <a:latin typeface="Segoe UI Semibold"/>
              </a:rPr>
              <a:t>WHY INSIDERS ARE THE BLIND SPOT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767328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lang="en-US">
                <a:solidFill>
                  <a:srgbClr val="3DD6E8"/>
                </a:solidFill>
                <a:latin typeface="Segoe UI"/>
              </a:rPr>
              <a:t>▸  </a:t>
            </a:r>
            <a:r>
              <a:rPr sz="960" b="0" lang="en-US">
                <a:solidFill>
                  <a:srgbClr val="9AA8C8"/>
                </a:solidFill>
                <a:latin typeface="Segoe UI"/>
              </a:rPr>
              <a:t>Privileged users — DBAs, sysadmins, SWIFT/treasury operators, makers &amp; checkers, loan officers, IAM/PAM admins — hold god-mode access to core banking, treasury, loan origination &amp; customer data.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251960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lang="en-US">
                <a:solidFill>
                  <a:srgbClr val="3DD6E8"/>
                </a:solidFill>
                <a:latin typeface="Segoe UI"/>
              </a:rPr>
              <a:t>▸  </a:t>
            </a:r>
            <a:r>
              <a:rPr sz="960" b="0" lang="en-US">
                <a:solidFill>
                  <a:srgbClr val="9AA8C8"/>
                </a:solidFill>
                <a:latin typeface="Segoe UI"/>
              </a:rPr>
              <a:t>Insider fraud runs ~12 months and is caught 43% by tips — not systems; banking is the most-studied sector (ACFE 2024).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736592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lang="en-US">
                <a:solidFill>
                  <a:srgbClr val="3DD6E8"/>
                </a:solidFill>
                <a:latin typeface="Segoe UI"/>
              </a:rPr>
              <a:t>▸  </a:t>
            </a:r>
            <a:r>
              <a:rPr sz="960" b="0" lang="en-US">
                <a:solidFill>
                  <a:srgbClr val="9AA8C8"/>
                </a:solidFill>
                <a:latin typeface="Segoe UI"/>
              </a:rPr>
              <a:t>Advances-related fraud = ₹33,148 cr of FY25 — instruments only privileged staff originate or modify.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221224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lang="en-US">
                <a:solidFill>
                  <a:srgbClr val="3DD6E8"/>
                </a:solidFill>
                <a:latin typeface="Segoe UI"/>
              </a:rPr>
              <a:t>▸  </a:t>
            </a:r>
            <a:r>
              <a:rPr sz="960" b="0" lang="en-US">
                <a:solidFill>
                  <a:srgbClr val="9AA8C8"/>
                </a:solidFill>
                <a:latin typeface="Segoe UI"/>
              </a:rPr>
              <a:t>Proactive data-monitoring is one of only FOUR controls tied to a ≥50% cut in BOTH loss and duration — our core thesis.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5705856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lang="en-US">
                <a:solidFill>
                  <a:srgbClr val="3DD6E8"/>
                </a:solidFill>
                <a:latin typeface="Segoe UI"/>
              </a:rPr>
              <a:t>▸  </a:t>
            </a:r>
            <a:r>
              <a:rPr sz="960" b="0" lang="en-US">
                <a:solidFill>
                  <a:srgbClr val="9AA8C8"/>
                </a:solidFill>
                <a:latin typeface="Segoe UI"/>
              </a:rPr>
              <a:t>Union Bank of India: merged-Finacle CBS (ex-Union / Andhra / Corporation), ~8,000+ branches, thousands of privileged users.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310128"/>
            <a:ext cx="5449824" cy="2907792"/>
          </a:xfrm>
          <a:prstGeom prst="roundRect">
            <a:avLst>
              <a:gd name="adj" fmla="val 4000"/>
            </a:avLst>
          </a:prstGeom>
          <a:solidFill>
            <a:srgbClr val="121B30"/>
          </a:solidFill>
          <a:ln w="9525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3310128"/>
            <a:ext cx="82296" cy="2907792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82512" y="3456432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lang="en-US" spc="50">
                <a:solidFill>
                  <a:srgbClr val="FFB020"/>
                </a:solidFill>
                <a:latin typeface="Segoe UI Semibold"/>
              </a:rPr>
              <a:t>THE REGULATORY MANDATE  ·  RBI 2024–2026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82512" y="3767328"/>
            <a:ext cx="50292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lang="en-US">
                <a:solidFill>
                  <a:srgbClr val="FFB020"/>
                </a:solidFill>
                <a:latin typeface="Segoe UI"/>
              </a:rPr>
              <a:t>•  </a:t>
            </a:r>
            <a:r>
              <a:rPr sz="960" b="0" lang="en-US">
                <a:solidFill>
                  <a:srgbClr val="9AA8C8"/>
                </a:solidFill>
                <a:latin typeface="Segoe UI"/>
              </a:rPr>
              <a:t>RBI Master Directions on Fraud Risk Management (15 Jul 2024) — Red-Flagged-Account lifecycle, staff-accountability on a 6-month clock, natural justice (SBI v. Rajesh Agarwal, 2023).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82512" y="4370832"/>
            <a:ext cx="50292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lang="en-US">
                <a:solidFill>
                  <a:srgbClr val="FFB020"/>
                </a:solidFill>
                <a:latin typeface="Segoe UI"/>
              </a:rPr>
              <a:t>•  </a:t>
            </a:r>
            <a:r>
              <a:rPr sz="960" b="0" lang="en-US">
                <a:solidFill>
                  <a:srgbClr val="9AA8C8"/>
                </a:solidFill>
                <a:latin typeface="Segoe UI"/>
              </a:rPr>
              <a:t>FMR + Central Fraud Registry (CFR) reporting of staff-fraud incidents; CRILC ₹3 cr / 7-day / 180-day windows.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4974336"/>
            <a:ext cx="50292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lang="en-US">
                <a:solidFill>
                  <a:srgbClr val="FFB020"/>
                </a:solidFill>
                <a:latin typeface="Segoe UI"/>
              </a:rPr>
              <a:t>•  </a:t>
            </a:r>
            <a:r>
              <a:rPr sz="960" b="0" lang="en-US">
                <a:solidFill>
                  <a:srgbClr val="9AA8C8"/>
                </a:solidFill>
                <a:latin typeface="Segoe UI"/>
              </a:rPr>
              <a:t>RBI FREE-AI (13 Aug 2025) + draft Model Risk Management (24 Jun 2026) — ML models are a regulated, inspectable asset class.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82512" y="5577840"/>
            <a:ext cx="5029200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lang="en-US">
                <a:solidFill>
                  <a:srgbClr val="FFB020"/>
                </a:solidFill>
                <a:latin typeface="Segoe UI"/>
              </a:rPr>
              <a:t>•  </a:t>
            </a:r>
            <a:r>
              <a:rPr sz="960" b="0" lang="en-US">
                <a:solidFill>
                  <a:srgbClr val="9AA8C8"/>
                </a:solidFill>
                <a:latin typeface="Segoe UI"/>
              </a:rPr>
              <a:t>RBI Cyber Security Framework + IS Audit — insider-threat controls (privileged access, SoD, log integrity) are inspected.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82512" y="6272784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1" lang="en-US">
                <a:solidFill>
                  <a:srgbClr val="35D399"/>
                </a:solidFill>
                <a:latin typeface="Segoe UI"/>
              </a:rPr>
              <a:t>Hawk-Eye is built to sit INSIDE this machinery — not bolted on after.</a:t>
            </a:r>
          </a:p>
        </p:txBody>
      </p:sp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whole"/>
      <p:bldP spid="13" grpId="0" build="whole"/>
      <p:bldP spid="17" grpId="0" build="whole"/>
      <p:bldP spid="21" grpId="0" build="whole"/>
      <p:bldP spid="23" grpId="0" build="whole"/>
      <p:bldP spid="30" grpId="0" build="whole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D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160">
                <a:solidFill>
                  <a:srgbClr val="3DD6E8"/>
                </a:solidFill>
                <a:latin typeface="Consolas"/>
              </a:rPr>
              <a:t>PROBLEM &amp; BUSINESS RELEVANCE (20%) · SOLUTION, DIFFERENTIATION &amp;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lang="en-US">
                <a:solidFill>
                  <a:srgbClr val="EAF0FF"/>
                </a:solidFill>
                <a:latin typeface="Segoe UI Semibold"/>
              </a:rPr>
              <a:t>A 7-layer, alert-only insider-fraud Early-Warning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09728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50" b="0" lang="en-US">
                <a:solidFill>
                  <a:srgbClr val="9AA8C8"/>
                </a:solidFill>
                <a:latin typeface="Segoe UI"/>
              </a:rPr>
              <a:t>One-to-one coverage of every clause of the problem statement — mapped to a detection layer.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8640" y="6428232"/>
            <a:ext cx="11094415" cy="0"/>
          </a:xfrm>
          <a:prstGeom prst="line">
            <a:avLst/>
          </a:prstGeom>
          <a:ln w="12700">
            <a:solidFill>
              <a:srgbClr val="1B27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lang="en-US" spc="30">
                <a:solidFill>
                  <a:srgbClr val="6C7A9C"/>
                </a:solidFill>
                <a:latin typeface="Segoe UI"/>
              </a:rPr>
              <a:t>HAWK-EYE  ·  Team NINEAGENTS  ·  iDEA 2.0 · PSBs Hackathon Series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 lang="en-US" spc="100">
                <a:solidFill>
                  <a:srgbClr val="3DD6E8"/>
                </a:solidFill>
                <a:latin typeface="Consolas"/>
              </a:rPr>
              <a:t>03 / 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55648"/>
            <a:ext cx="5074920" cy="4480560"/>
          </a:xfrm>
          <a:prstGeom prst="roundRect">
            <a:avLst>
              <a:gd name="adj" fmla="val 4000"/>
            </a:avLst>
          </a:prstGeom>
          <a:solidFill>
            <a:srgbClr val="121B30"/>
          </a:solidFill>
          <a:ln w="9525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83664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lang="en-US" spc="40">
                <a:solidFill>
                  <a:srgbClr val="3DD6E8"/>
                </a:solidFill>
                <a:latin typeface="Segoe UI Semibold"/>
              </a:rPr>
              <a:t>WHAT IT DOES  (exactly what the PS asks)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12848"/>
            <a:ext cx="4663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lang="en-US">
                <a:solidFill>
                  <a:srgbClr val="3DD6E8"/>
                </a:solidFill>
                <a:latin typeface="Segoe UI"/>
              </a:rPr>
              <a:t>▸  </a:t>
            </a:r>
            <a:r>
              <a:rPr sz="940" b="0" lang="en-US">
                <a:solidFill>
                  <a:srgbClr val="9AA8C8"/>
                </a:solidFill>
                <a:latin typeface="Segoe UI"/>
              </a:rPr>
              <a:t>Continuously monitors internal &amp; privileged users across core banking, treasury, loan origination &amp; customer databases.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88336"/>
            <a:ext cx="4663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lang="en-US">
                <a:solidFill>
                  <a:srgbClr val="3DD6E8"/>
                </a:solidFill>
                <a:latin typeface="Segoe UI"/>
              </a:rPr>
              <a:t>▸  </a:t>
            </a:r>
            <a:r>
              <a:rPr sz="940" b="0" lang="en-US">
                <a:solidFill>
                  <a:srgbClr val="9AA8C8"/>
                </a:solidFill>
                <a:latin typeface="Segoe UI"/>
              </a:rPr>
              <a:t>Learns an ML behavioural baseline per user (peer-relative) and flags deviations in real time.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163824"/>
            <a:ext cx="4663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lang="en-US">
                <a:solidFill>
                  <a:srgbClr val="3DD6E8"/>
                </a:solidFill>
                <a:latin typeface="Segoe UI"/>
              </a:rPr>
              <a:t>▸  </a:t>
            </a:r>
            <a:r>
              <a:rPr sz="940" b="0" lang="en-US">
                <a:solidFill>
                  <a:srgbClr val="9AA8C8"/>
                </a:solidFill>
                <a:latin typeface="Segoe UI"/>
              </a:rPr>
              <a:t>Detects unusual transactions, off-hours access, bulk downloads, unauthorized modifications, privilege-escalation.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39312"/>
            <a:ext cx="4663440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lang="en-US">
                <a:solidFill>
                  <a:srgbClr val="3DD6E8"/>
                </a:solidFill>
                <a:latin typeface="Segoe UI"/>
              </a:rPr>
              <a:t>▸  </a:t>
            </a:r>
            <a:r>
              <a:rPr sz="940" b="0" lang="en-US">
                <a:solidFill>
                  <a:srgbClr val="9AA8C8"/>
                </a:solidFill>
                <a:latin typeface="Segoe UI"/>
              </a:rPr>
              <a:t>Calibrated risk score → alerts with contextual explanations → investigator dashboard to triage &amp; act.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4224528"/>
            <a:ext cx="4709160" cy="0"/>
          </a:xfrm>
          <a:prstGeom prst="line">
            <a:avLst/>
          </a:prstGeom>
          <a:ln w="12700">
            <a:solidFill>
              <a:srgbClr val="1B27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4315968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lang="en-US" spc="50">
                <a:solidFill>
                  <a:srgbClr val="9B8CFF"/>
                </a:solidFill>
                <a:latin typeface="Segoe UI Semibold"/>
              </a:rPr>
              <a:t>DIFFERENTIATION &amp; INNOVATION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645152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lang="en-US">
                <a:solidFill>
                  <a:srgbClr val="9B8CFF"/>
                </a:solidFill>
                <a:latin typeface="Consolas"/>
              </a:rPr>
              <a:t>1  </a:t>
            </a:r>
            <a:r>
              <a:rPr sz="930" b="1" lang="en-US">
                <a:solidFill>
                  <a:srgbClr val="EAF0FF"/>
                </a:solidFill>
                <a:latin typeface="Segoe UI"/>
              </a:rPr>
              <a:t>Layered fusion  </a:t>
            </a:r>
            <a:r>
              <a:rPr sz="890" b="0" lang="en-US">
                <a:solidFill>
                  <a:srgbClr val="9AA8C8"/>
                </a:solidFill>
                <a:latin typeface="Segoe UI"/>
              </a:rPr>
              <a:t>rules + UEBA + GBDT + sequence + graph → ONE calibrated 0–100 score.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960620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lang="en-US">
                <a:solidFill>
                  <a:srgbClr val="9B8CFF"/>
                </a:solidFill>
                <a:latin typeface="Consolas"/>
              </a:rPr>
              <a:t>2  </a:t>
            </a:r>
            <a:r>
              <a:rPr sz="930" b="1" lang="en-US">
                <a:solidFill>
                  <a:srgbClr val="EAF0FF"/>
                </a:solidFill>
                <a:latin typeface="Segoe UI"/>
              </a:rPr>
              <a:t>Explainable by construction  </a:t>
            </a:r>
            <a:r>
              <a:rPr sz="890" b="0" lang="en-US">
                <a:solidFill>
                  <a:srgbClr val="9AA8C8"/>
                </a:solidFill>
                <a:latin typeface="Segoe UI"/>
              </a:rPr>
              <a:t>SHAP + reason codes + AI narrative; a reason-less alert is rejected.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276088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lang="en-US">
                <a:solidFill>
                  <a:srgbClr val="9B8CFF"/>
                </a:solidFill>
                <a:latin typeface="Consolas"/>
              </a:rPr>
              <a:t>3  </a:t>
            </a:r>
            <a:r>
              <a:rPr sz="930" b="1" lang="en-US">
                <a:solidFill>
                  <a:srgbClr val="EAF0FF"/>
                </a:solidFill>
                <a:latin typeface="Segoe UI"/>
              </a:rPr>
              <a:t>Alert-only &amp; contestable  </a:t>
            </a:r>
            <a:r>
              <a:rPr sz="890" b="0" lang="en-US">
                <a:solidFill>
                  <a:srgbClr val="9AA8C8"/>
                </a:solidFill>
                <a:latin typeface="Segoe UI"/>
              </a:rPr>
              <a:t>scores &amp; explains; a human decides. Never auto-blocks money.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591556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lang="en-US">
                <a:solidFill>
                  <a:srgbClr val="9B8CFF"/>
                </a:solidFill>
                <a:latin typeface="Consolas"/>
              </a:rPr>
              <a:t>4  </a:t>
            </a:r>
            <a:r>
              <a:rPr sz="930" b="1" lang="en-US">
                <a:solidFill>
                  <a:srgbClr val="EAF0FF"/>
                </a:solidFill>
                <a:latin typeface="Segoe UI"/>
              </a:rPr>
              <a:t>Peer-relative + one-alert-per-entity  </a:t>
            </a:r>
            <a:r>
              <a:rPr sz="890" b="0" lang="en-US">
                <a:solidFill>
                  <a:srgbClr val="9AA8C8"/>
                </a:solidFill>
                <a:latin typeface="Segoe UI"/>
              </a:rPr>
              <a:t>harder to game; fights alert fatigue.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907024"/>
            <a:ext cx="4709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lang="en-US">
                <a:solidFill>
                  <a:srgbClr val="9B8CFF"/>
                </a:solidFill>
                <a:latin typeface="Consolas"/>
              </a:rPr>
              <a:t>5  </a:t>
            </a:r>
            <a:r>
              <a:rPr sz="930" b="1" lang="en-US">
                <a:solidFill>
                  <a:srgbClr val="EAF0FF"/>
                </a:solidFill>
                <a:latin typeface="Segoe UI"/>
              </a:rPr>
              <a:t>RBI + FREE-AI governance  </a:t>
            </a:r>
            <a:r>
              <a:rPr sz="890" b="0" lang="en-US">
                <a:solidFill>
                  <a:srgbClr val="9AA8C8"/>
                </a:solidFill>
                <a:latin typeface="Segoe UI"/>
              </a:rPr>
              <a:t>on-prem, India-residency, fair, WORM-audited.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06440" y="1755648"/>
            <a:ext cx="5815584" cy="4480560"/>
          </a:xfrm>
          <a:prstGeom prst="roundRect">
            <a:avLst>
              <a:gd name="adj" fmla="val 4000"/>
            </a:avLst>
          </a:prstGeom>
          <a:solidFill>
            <a:srgbClr val="0F182B"/>
          </a:solidFill>
          <a:ln w="9525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1874519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lang="en-US" spc="50">
                <a:solidFill>
                  <a:srgbClr val="35D399"/>
                </a:solidFill>
                <a:latin typeface="Segoe UI Semibold"/>
              </a:rPr>
              <a:t>EVERY PS SIGNAL → A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194560"/>
            <a:ext cx="2834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lang="en-US" spc="60">
                <a:solidFill>
                  <a:srgbClr val="6C7A9C"/>
                </a:solidFill>
                <a:latin typeface="Consolas"/>
              </a:rPr>
              <a:t>PS SIGNAL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32520" y="2194560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lang="en-US" spc="60">
                <a:solidFill>
                  <a:srgbClr val="6C7A9C"/>
                </a:solidFill>
                <a:latin typeface="Consolas"/>
              </a:rPr>
              <a:t>HOW HAWK-EYE CATCHES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27080" y="2194560"/>
            <a:ext cx="685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00" b="1" lang="en-US" spc="60">
                <a:solidFill>
                  <a:srgbClr val="6C7A9C"/>
                </a:solidFill>
                <a:latin typeface="Consolas"/>
              </a:rPr>
              <a:t>LAYER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70448" y="2450591"/>
            <a:ext cx="5687568" cy="363931"/>
          </a:xfrm>
          <a:prstGeom prst="rect">
            <a:avLst/>
          </a:prstGeom>
          <a:solidFill>
            <a:srgbClr val="0C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89320" y="2468879"/>
            <a:ext cx="274320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69" b="1" lang="en-US">
                <a:solidFill>
                  <a:srgbClr val="EAF0FF"/>
                </a:solidFill>
                <a:latin typeface="Segoe UI"/>
              </a:rPr>
              <a:t>ML behavioural baseline / user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732520" y="2468879"/>
            <a:ext cx="214884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 lang="en-US">
                <a:solidFill>
                  <a:srgbClr val="9AA8C8"/>
                </a:solidFill>
                <a:latin typeface="Segoe UI"/>
              </a:rPr>
              <a:t>peer-relative UEBA (no labels)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81360" y="2468879"/>
            <a:ext cx="73152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19" b="1" lang="en-US" spc="20">
                <a:solidFill>
                  <a:srgbClr val="3DD6E8"/>
                </a:solidFill>
                <a:latin typeface="Consolas"/>
              </a:rPr>
              <a:t>L2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2832811"/>
            <a:ext cx="274320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69" b="1" lang="en-US">
                <a:solidFill>
                  <a:srgbClr val="EAF0FF"/>
                </a:solidFill>
                <a:latin typeface="Segoe UI"/>
              </a:rPr>
              <a:t>Unusual transaction patterns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32520" y="2832811"/>
            <a:ext cx="214884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 lang="en-US">
                <a:solidFill>
                  <a:srgbClr val="9AA8C8"/>
                </a:solidFill>
                <a:latin typeface="Segoe UI"/>
              </a:rPr>
              <a:t>hard rules + supervised GBDT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81360" y="2832811"/>
            <a:ext cx="73152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19" b="1" lang="en-US" spc="20">
                <a:solidFill>
                  <a:srgbClr val="3DD6E8"/>
                </a:solidFill>
                <a:latin typeface="Consolas"/>
              </a:rPr>
              <a:t>L1·L3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70448" y="3178454"/>
            <a:ext cx="5687568" cy="363931"/>
          </a:xfrm>
          <a:prstGeom prst="rect">
            <a:avLst/>
          </a:prstGeom>
          <a:solidFill>
            <a:srgbClr val="0C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89320" y="3196742"/>
            <a:ext cx="274320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69" b="1" lang="en-US">
                <a:solidFill>
                  <a:srgbClr val="EAF0FF"/>
                </a:solidFill>
                <a:latin typeface="Segoe UI"/>
              </a:rPr>
              <a:t>Off-hours access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732520" y="3196742"/>
            <a:ext cx="214884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 lang="en-US">
                <a:solidFill>
                  <a:srgbClr val="9AA8C8"/>
                </a:solidFill>
                <a:latin typeface="Segoe UI"/>
              </a:rPr>
              <a:t>time-of-day vs baseline + 7×24 heatmap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81360" y="3196742"/>
            <a:ext cx="73152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19" b="1" lang="en-US" spc="20">
                <a:solidFill>
                  <a:srgbClr val="3DD6E8"/>
                </a:solidFill>
                <a:latin typeface="Consolas"/>
              </a:rPr>
              <a:t>L1·L2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89320" y="3560673"/>
            <a:ext cx="274320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69" b="1" lang="en-US">
                <a:solidFill>
                  <a:srgbClr val="EAF0FF"/>
                </a:solidFill>
                <a:latin typeface="Segoe UI"/>
              </a:rPr>
              <a:t>Bulk data downloads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32520" y="3560673"/>
            <a:ext cx="214884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 lang="en-US">
                <a:solidFill>
                  <a:srgbClr val="9AA8C8"/>
                </a:solidFill>
                <a:latin typeface="Segoe UI"/>
              </a:rPr>
              <a:t>volume vs baseline + leaver-window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881360" y="3560673"/>
            <a:ext cx="73152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19" b="1" lang="en-US" spc="20">
                <a:solidFill>
                  <a:srgbClr val="3DD6E8"/>
                </a:solidFill>
                <a:latin typeface="Consolas"/>
              </a:rPr>
              <a:t>L1·L2·L4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870448" y="3906316"/>
            <a:ext cx="5687568" cy="363931"/>
          </a:xfrm>
          <a:prstGeom prst="rect">
            <a:avLst/>
          </a:prstGeom>
          <a:solidFill>
            <a:srgbClr val="0C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989320" y="3924604"/>
            <a:ext cx="274320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69" b="1" lang="en-US">
                <a:solidFill>
                  <a:srgbClr val="EAF0FF"/>
                </a:solidFill>
                <a:latin typeface="Segoe UI"/>
              </a:rPr>
              <a:t>Unauthorized account mods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32520" y="3924604"/>
            <a:ext cx="214884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 lang="en-US">
                <a:solidFill>
                  <a:srgbClr val="9AA8C8"/>
                </a:solidFill>
                <a:latin typeface="Segoe UI"/>
              </a:rPr>
              <a:t>DB write with no app-txn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60" y="3924604"/>
            <a:ext cx="73152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19" b="1" lang="en-US" spc="20">
                <a:solidFill>
                  <a:srgbClr val="3DD6E8"/>
                </a:solidFill>
                <a:latin typeface="Consolas"/>
              </a:rPr>
              <a:t>L1·L2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89320" y="4288536"/>
            <a:ext cx="274320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69" b="1" lang="en-US">
                <a:solidFill>
                  <a:srgbClr val="EAF0FF"/>
                </a:solidFill>
                <a:latin typeface="Segoe UI"/>
              </a:rPr>
              <a:t>Privilege-escalation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732520" y="4288536"/>
            <a:ext cx="214884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 lang="en-US">
                <a:solidFill>
                  <a:srgbClr val="9AA8C8"/>
                </a:solidFill>
                <a:latin typeface="Segoe UI"/>
              </a:rPr>
              <a:t>entitlement self-grant / temp-admin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881360" y="4288536"/>
            <a:ext cx="73152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19" b="1" lang="en-US" spc="20">
                <a:solidFill>
                  <a:srgbClr val="3DD6E8"/>
                </a:solidFill>
                <a:latin typeface="Consolas"/>
              </a:rPr>
              <a:t>L1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870448" y="4634179"/>
            <a:ext cx="5687568" cy="363931"/>
          </a:xfrm>
          <a:prstGeom prst="rect">
            <a:avLst/>
          </a:prstGeom>
          <a:solidFill>
            <a:srgbClr val="0C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989320" y="4652467"/>
            <a:ext cx="274320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69" b="1" lang="en-US">
                <a:solidFill>
                  <a:srgbClr val="EAF0FF"/>
                </a:solidFill>
                <a:latin typeface="Segoe UI"/>
              </a:rPr>
              <a:t>Real-time flagging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520" y="4652467"/>
            <a:ext cx="214884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 lang="en-US">
                <a:solidFill>
                  <a:srgbClr val="9AA8C8"/>
                </a:solidFill>
                <a:latin typeface="Segoe UI"/>
              </a:rPr>
              <a:t>event → feature → score → alert (secs)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881360" y="4652467"/>
            <a:ext cx="73152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19" b="1" lang="en-US" spc="20">
                <a:solidFill>
                  <a:srgbClr val="3DD6E8"/>
                </a:solidFill>
                <a:latin typeface="Consolas"/>
              </a:rPr>
              <a:t>L0–L6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989320" y="5016398"/>
            <a:ext cx="274320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69" b="1" lang="en-US">
                <a:solidFill>
                  <a:srgbClr val="EAF0FF"/>
                </a:solidFill>
                <a:latin typeface="Segoe UI"/>
              </a:rPr>
              <a:t>Risk scores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732520" y="5016398"/>
            <a:ext cx="214884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 lang="en-US">
                <a:solidFill>
                  <a:srgbClr val="9AA8C8"/>
                </a:solidFill>
                <a:latin typeface="Segoe UI"/>
              </a:rPr>
              <a:t>one calibrated 0–100 (severity×conf.)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81360" y="5016398"/>
            <a:ext cx="73152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19" b="1" lang="en-US" spc="20">
                <a:solidFill>
                  <a:srgbClr val="3DD6E8"/>
                </a:solidFill>
                <a:latin typeface="Consolas"/>
              </a:rPr>
              <a:t>L6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870448" y="5362041"/>
            <a:ext cx="5687568" cy="363931"/>
          </a:xfrm>
          <a:prstGeom prst="rect">
            <a:avLst/>
          </a:prstGeom>
          <a:solidFill>
            <a:srgbClr val="0C14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989320" y="5380329"/>
            <a:ext cx="274320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69" b="1" lang="en-US">
                <a:solidFill>
                  <a:srgbClr val="EAF0FF"/>
                </a:solidFill>
                <a:latin typeface="Segoe UI"/>
              </a:rPr>
              <a:t>Contextual explanations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732520" y="5380329"/>
            <a:ext cx="214884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 lang="en-US">
                <a:solidFill>
                  <a:srgbClr val="9AA8C8"/>
                </a:solidFill>
                <a:latin typeface="Segoe UI"/>
              </a:rPr>
              <a:t>SHAP + reason codes + AI narrative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881360" y="5380329"/>
            <a:ext cx="73152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19" b="1" lang="en-US" spc="20">
                <a:solidFill>
                  <a:srgbClr val="3DD6E8"/>
                </a:solidFill>
                <a:latin typeface="Consolas"/>
              </a:rPr>
              <a:t>L3·L6·LLM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89320" y="5744260"/>
            <a:ext cx="274320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69" b="1" lang="en-US">
                <a:solidFill>
                  <a:srgbClr val="EAF0FF"/>
                </a:solidFill>
                <a:latin typeface="Segoe UI"/>
              </a:rPr>
              <a:t>Triage &amp; act dashboard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732520" y="5744260"/>
            <a:ext cx="214884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0" lang="en-US">
                <a:solidFill>
                  <a:srgbClr val="9AA8C8"/>
                </a:solidFill>
                <a:latin typeface="Segoe UI"/>
              </a:rPr>
              <a:t>console: queue · entity-360 · EDD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81360" y="5744260"/>
            <a:ext cx="731520" cy="36393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19" b="1" lang="en-US" spc="20">
                <a:solidFill>
                  <a:srgbClr val="3DD6E8"/>
                </a:solidFill>
                <a:latin typeface="Consolas"/>
              </a:rPr>
              <a:t>L7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89320" y="6172200"/>
            <a:ext cx="5486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60" b="0" lang="en-US">
                <a:solidFill>
                  <a:srgbClr val="6C7A9C"/>
                </a:solidFill>
                <a:latin typeface="Segoe UI"/>
              </a:rPr>
              <a:t>Source: docs/detection-coverage-map.md — 16 insider fraud vectors covered end-to-end.</a:t>
            </a:r>
          </a:p>
        </p:txBody>
      </p:sp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whole"/>
      <p:bldP spid="23" grpId="0" build="whole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D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160">
                <a:solidFill>
                  <a:srgbClr val="3DD6E8"/>
                </a:solidFill>
                <a:latin typeface="Consolas"/>
              </a:rPr>
              <a:t>TECHNOLOGY &amp; ENGINEERING (40%) · ARCHITECTURE &amp; DATA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lang="en-US">
                <a:solidFill>
                  <a:srgbClr val="EAF0FF"/>
                </a:solidFill>
                <a:latin typeface="Segoe UI Semibold"/>
              </a:rPr>
              <a:t>The L0→L7 conveyor: event → rules → UEBA → GBDT → sequence → graph → fusion → dashboard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28232"/>
            <a:ext cx="11094415" cy="0"/>
          </a:xfrm>
          <a:prstGeom prst="line">
            <a:avLst/>
          </a:prstGeom>
          <a:ln w="12700">
            <a:solidFill>
              <a:srgbClr val="1B27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lang="en-US" spc="30">
                <a:solidFill>
                  <a:srgbClr val="6C7A9C"/>
                </a:solidFill>
                <a:latin typeface="Segoe UI"/>
              </a:rPr>
              <a:t>HAWK-EYE  ·  Team NINEAGENTS  ·  iDEA 2.0 · PSBs Hackathon Series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 lang="en-US" spc="100">
                <a:solidFill>
                  <a:srgbClr val="3DD6E8"/>
                </a:solidFill>
                <a:latin typeface="Consolas"/>
              </a:rPr>
              <a:t>04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48840"/>
            <a:ext cx="1237869" cy="1417320"/>
          </a:xfrm>
          <a:prstGeom prst="roundRect">
            <a:avLst>
              <a:gd name="adj" fmla="val 9000"/>
            </a:avLst>
          </a:prstGeom>
          <a:solidFill>
            <a:srgbClr val="121B30"/>
          </a:solidFill>
          <a:ln w="1651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148840"/>
            <a:ext cx="1237869" cy="310896"/>
          </a:xfrm>
          <a:prstGeom prst="roundRect">
            <a:avLst>
              <a:gd name="adj" fmla="val 9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144268"/>
            <a:ext cx="123786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lang="en-US">
                <a:solidFill>
                  <a:srgbClr val="0A0E1A"/>
                </a:solidFill>
                <a:latin typeface="Segoe UI Black"/>
              </a:rPr>
              <a:t>L0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2514600"/>
            <a:ext cx="114642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EAF0FF"/>
                </a:solidFill>
                <a:latin typeface="Segoe UI Semibold"/>
              </a:rPr>
              <a:t>Canonical event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" y="2825496"/>
            <a:ext cx="114642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 lang="en-US">
                <a:solidFill>
                  <a:srgbClr val="9AA8C8"/>
                </a:solidFill>
                <a:latin typeface="Segoe UI"/>
              </a:rPr>
              <a:t>one JSON event
from any source</a:t>
            </a:r>
          </a:p>
        </p:txBody>
      </p:sp>
      <p:sp>
        <p:nvSpPr>
          <p:cNvPr id="14" name="Chevron 13"/>
          <p:cNvSpPr/>
          <p:nvPr/>
        </p:nvSpPr>
        <p:spPr>
          <a:xfrm>
            <a:off x="1813941" y="2756916"/>
            <a:ext cx="146304" cy="201168"/>
          </a:xfrm>
          <a:prstGeom prst="chevron">
            <a:avLst/>
          </a:prstGeom>
          <a:solidFill>
            <a:srgbClr val="25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969389" y="2148840"/>
            <a:ext cx="1237869" cy="1417320"/>
          </a:xfrm>
          <a:prstGeom prst="roundRect">
            <a:avLst>
              <a:gd name="adj" fmla="val 9000"/>
            </a:avLst>
          </a:prstGeom>
          <a:solidFill>
            <a:srgbClr val="121B30"/>
          </a:solidFill>
          <a:ln w="1651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969389" y="2148840"/>
            <a:ext cx="1237869" cy="310896"/>
          </a:xfrm>
          <a:prstGeom prst="roundRect">
            <a:avLst>
              <a:gd name="adj" fmla="val 9000"/>
            </a:avLst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69389" y="2144268"/>
            <a:ext cx="123786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lang="en-US">
                <a:solidFill>
                  <a:srgbClr val="0A0E1A"/>
                </a:solidFill>
                <a:latin typeface="Segoe UI Black"/>
              </a:rPr>
              <a:t>L1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5109" y="2514600"/>
            <a:ext cx="114642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EAF0FF"/>
                </a:solidFill>
                <a:latin typeface="Segoe UI Semibold"/>
              </a:rPr>
              <a:t>Rules + SoD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5109" y="2825496"/>
            <a:ext cx="114642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 lang="en-US">
                <a:solidFill>
                  <a:srgbClr val="9AA8C8"/>
                </a:solidFill>
                <a:latin typeface="Segoe UI"/>
              </a:rPr>
              <a:t>hard red-flags,
maker-checker</a:t>
            </a:r>
          </a:p>
        </p:txBody>
      </p:sp>
      <p:sp>
        <p:nvSpPr>
          <p:cNvPr id="20" name="Chevron 19"/>
          <p:cNvSpPr/>
          <p:nvPr/>
        </p:nvSpPr>
        <p:spPr>
          <a:xfrm>
            <a:off x="3216402" y="2756916"/>
            <a:ext cx="146304" cy="201168"/>
          </a:xfrm>
          <a:prstGeom prst="chevron">
            <a:avLst/>
          </a:prstGeom>
          <a:solidFill>
            <a:srgbClr val="25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371850" y="2148840"/>
            <a:ext cx="1237869" cy="1417320"/>
          </a:xfrm>
          <a:prstGeom prst="roundRect">
            <a:avLst>
              <a:gd name="adj" fmla="val 9000"/>
            </a:avLst>
          </a:prstGeom>
          <a:solidFill>
            <a:srgbClr val="121B30"/>
          </a:solidFill>
          <a:ln w="16510">
            <a:solidFill>
              <a:srgbClr val="3D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371850" y="2148840"/>
            <a:ext cx="1237869" cy="310896"/>
          </a:xfrm>
          <a:prstGeom prst="roundRect">
            <a:avLst>
              <a:gd name="adj" fmla="val 9000"/>
            </a:avLst>
          </a:prstGeom>
          <a:solidFill>
            <a:srgbClr val="3D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71850" y="2144268"/>
            <a:ext cx="123786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lang="en-US">
                <a:solidFill>
                  <a:srgbClr val="0A0E1A"/>
                </a:solidFill>
                <a:latin typeface="Segoe UI Black"/>
              </a:rPr>
              <a:t>L2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7570" y="2514600"/>
            <a:ext cx="114642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EAF0FF"/>
                </a:solidFill>
                <a:latin typeface="Segoe UI Semibold"/>
              </a:rPr>
              <a:t>UEBA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17570" y="2825496"/>
            <a:ext cx="114642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 lang="en-US">
                <a:solidFill>
                  <a:srgbClr val="9AA8C8"/>
                </a:solidFill>
                <a:latin typeface="Segoe UI"/>
              </a:rPr>
              <a:t>peer-relative
baseline, no labels</a:t>
            </a:r>
          </a:p>
        </p:txBody>
      </p:sp>
      <p:sp>
        <p:nvSpPr>
          <p:cNvPr id="26" name="Chevron 25"/>
          <p:cNvSpPr/>
          <p:nvPr/>
        </p:nvSpPr>
        <p:spPr>
          <a:xfrm>
            <a:off x="4618863" y="2756916"/>
            <a:ext cx="146304" cy="201168"/>
          </a:xfrm>
          <a:prstGeom prst="chevron">
            <a:avLst/>
          </a:prstGeom>
          <a:solidFill>
            <a:srgbClr val="25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774311" y="2148840"/>
            <a:ext cx="1237869" cy="1417320"/>
          </a:xfrm>
          <a:prstGeom prst="roundRect">
            <a:avLst>
              <a:gd name="adj" fmla="val 9000"/>
            </a:avLst>
          </a:prstGeom>
          <a:solidFill>
            <a:srgbClr val="121B30"/>
          </a:solidFill>
          <a:ln w="16510">
            <a:solidFill>
              <a:srgbClr val="35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774311" y="2148840"/>
            <a:ext cx="1237869" cy="310896"/>
          </a:xfrm>
          <a:prstGeom prst="roundRect">
            <a:avLst>
              <a:gd name="adj" fmla="val 9000"/>
            </a:avLst>
          </a:prstGeom>
          <a:solidFill>
            <a:srgbClr val="35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74311" y="2144268"/>
            <a:ext cx="123786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lang="en-US">
                <a:solidFill>
                  <a:srgbClr val="0A0E1A"/>
                </a:solidFill>
                <a:latin typeface="Segoe UI Black"/>
              </a:rPr>
              <a:t>L3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0031" y="2514600"/>
            <a:ext cx="114642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EAF0FF"/>
                </a:solidFill>
                <a:latin typeface="Segoe UI Semibold"/>
              </a:rPr>
              <a:t>Supervised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20031" y="2825496"/>
            <a:ext cx="114642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 lang="en-US">
                <a:solidFill>
                  <a:srgbClr val="9AA8C8"/>
                </a:solidFill>
                <a:latin typeface="Segoe UI"/>
              </a:rPr>
              <a:t>LightGBM
+ SHAP</a:t>
            </a:r>
          </a:p>
        </p:txBody>
      </p:sp>
      <p:sp>
        <p:nvSpPr>
          <p:cNvPr id="32" name="Chevron 31"/>
          <p:cNvSpPr/>
          <p:nvPr/>
        </p:nvSpPr>
        <p:spPr>
          <a:xfrm>
            <a:off x="6021324" y="2756916"/>
            <a:ext cx="146304" cy="201168"/>
          </a:xfrm>
          <a:prstGeom prst="chevron">
            <a:avLst/>
          </a:prstGeom>
          <a:solidFill>
            <a:srgbClr val="25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76772" y="2148840"/>
            <a:ext cx="1237869" cy="1417320"/>
          </a:xfrm>
          <a:prstGeom prst="roundRect">
            <a:avLst>
              <a:gd name="adj" fmla="val 9000"/>
            </a:avLst>
          </a:prstGeom>
          <a:solidFill>
            <a:srgbClr val="121B30"/>
          </a:solidFill>
          <a:ln w="16510">
            <a:solidFill>
              <a:srgbClr val="9B8C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176772" y="2148840"/>
            <a:ext cx="1237869" cy="310896"/>
          </a:xfrm>
          <a:prstGeom prst="roundRect">
            <a:avLst>
              <a:gd name="adj" fmla="val 900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6772" y="2144268"/>
            <a:ext cx="123786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lang="en-US">
                <a:solidFill>
                  <a:srgbClr val="0A0E1A"/>
                </a:solidFill>
                <a:latin typeface="Segoe UI Black"/>
              </a:rPr>
              <a:t>L4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22492" y="2514600"/>
            <a:ext cx="114642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EAF0FF"/>
                </a:solidFill>
                <a:latin typeface="Segoe UI Semibold"/>
              </a:rPr>
              <a:t>Sequence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22492" y="2825496"/>
            <a:ext cx="114642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 lang="en-US">
                <a:solidFill>
                  <a:srgbClr val="9AA8C8"/>
                </a:solidFill>
                <a:latin typeface="Segoe UI"/>
              </a:rPr>
              <a:t>order &amp; timing
of actions</a:t>
            </a:r>
          </a:p>
        </p:txBody>
      </p:sp>
      <p:sp>
        <p:nvSpPr>
          <p:cNvPr id="38" name="Chevron 37"/>
          <p:cNvSpPr/>
          <p:nvPr/>
        </p:nvSpPr>
        <p:spPr>
          <a:xfrm>
            <a:off x="7423785" y="2756916"/>
            <a:ext cx="146304" cy="201168"/>
          </a:xfrm>
          <a:prstGeom prst="chevron">
            <a:avLst/>
          </a:prstGeom>
          <a:solidFill>
            <a:srgbClr val="25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579232" y="2148840"/>
            <a:ext cx="1237869" cy="1417320"/>
          </a:xfrm>
          <a:prstGeom prst="roundRect">
            <a:avLst>
              <a:gd name="adj" fmla="val 9000"/>
            </a:avLst>
          </a:prstGeom>
          <a:solidFill>
            <a:srgbClr val="121B30"/>
          </a:solidFill>
          <a:ln w="16510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579232" y="2148840"/>
            <a:ext cx="1237869" cy="310896"/>
          </a:xfrm>
          <a:prstGeom prst="roundRect">
            <a:avLst>
              <a:gd name="adj" fmla="val 9000"/>
            </a:avLst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79232" y="2144268"/>
            <a:ext cx="123786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lang="en-US">
                <a:solidFill>
                  <a:srgbClr val="0A0E1A"/>
                </a:solidFill>
                <a:latin typeface="Segoe UI Black"/>
              </a:rPr>
              <a:t>L5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24952" y="2514600"/>
            <a:ext cx="114642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EAF0FF"/>
                </a:solidFill>
                <a:latin typeface="Segoe UI Semibold"/>
              </a:rPr>
              <a:t>Graph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24952" y="2825496"/>
            <a:ext cx="114642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 lang="en-US">
                <a:solidFill>
                  <a:srgbClr val="9AA8C8"/>
                </a:solidFill>
                <a:latin typeface="Segoe UI"/>
              </a:rPr>
              <a:t>collusion rings,
shell vendors</a:t>
            </a:r>
          </a:p>
        </p:txBody>
      </p:sp>
      <p:sp>
        <p:nvSpPr>
          <p:cNvPr id="44" name="Chevron 43"/>
          <p:cNvSpPr/>
          <p:nvPr/>
        </p:nvSpPr>
        <p:spPr>
          <a:xfrm>
            <a:off x="8826245" y="2756916"/>
            <a:ext cx="146304" cy="201168"/>
          </a:xfrm>
          <a:prstGeom prst="chevron">
            <a:avLst/>
          </a:prstGeom>
          <a:solidFill>
            <a:srgbClr val="25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981694" y="2148840"/>
            <a:ext cx="1237869" cy="1417320"/>
          </a:xfrm>
          <a:prstGeom prst="roundRect">
            <a:avLst>
              <a:gd name="adj" fmla="val 9000"/>
            </a:avLst>
          </a:prstGeom>
          <a:solidFill>
            <a:srgbClr val="121B30"/>
          </a:solidFill>
          <a:ln w="16510">
            <a:solidFill>
              <a:srgbClr val="3D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981694" y="2148840"/>
            <a:ext cx="1237869" cy="310896"/>
          </a:xfrm>
          <a:prstGeom prst="roundRect">
            <a:avLst>
              <a:gd name="adj" fmla="val 9000"/>
            </a:avLst>
          </a:prstGeom>
          <a:solidFill>
            <a:srgbClr val="3D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981694" y="2144268"/>
            <a:ext cx="123786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lang="en-US">
                <a:solidFill>
                  <a:srgbClr val="0A0E1A"/>
                </a:solidFill>
                <a:latin typeface="Segoe UI Black"/>
              </a:rPr>
              <a:t>L6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27414" y="2514600"/>
            <a:ext cx="114642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EAF0FF"/>
                </a:solidFill>
                <a:latin typeface="Segoe UI Semibold"/>
              </a:rPr>
              <a:t>Fusion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27414" y="2825496"/>
            <a:ext cx="114642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 lang="en-US">
                <a:solidFill>
                  <a:srgbClr val="9AA8C8"/>
                </a:solidFill>
                <a:latin typeface="Segoe UI"/>
              </a:rPr>
              <a:t>one 0–100 score
+ reason codes</a:t>
            </a:r>
          </a:p>
        </p:txBody>
      </p:sp>
      <p:sp>
        <p:nvSpPr>
          <p:cNvPr id="50" name="Chevron 49"/>
          <p:cNvSpPr/>
          <p:nvPr/>
        </p:nvSpPr>
        <p:spPr>
          <a:xfrm>
            <a:off x="10228707" y="2756916"/>
            <a:ext cx="146304" cy="201168"/>
          </a:xfrm>
          <a:prstGeom prst="chevron">
            <a:avLst/>
          </a:prstGeom>
          <a:solidFill>
            <a:srgbClr val="2533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0384155" y="2148840"/>
            <a:ext cx="1237869" cy="1417320"/>
          </a:xfrm>
          <a:prstGeom prst="roundRect">
            <a:avLst>
              <a:gd name="adj" fmla="val 9000"/>
            </a:avLst>
          </a:prstGeom>
          <a:solidFill>
            <a:srgbClr val="121B30"/>
          </a:solidFill>
          <a:ln w="16510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10384155" y="2148840"/>
            <a:ext cx="1237869" cy="310896"/>
          </a:xfrm>
          <a:prstGeom prst="roundRect">
            <a:avLst>
              <a:gd name="adj" fmla="val 9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84155" y="2144268"/>
            <a:ext cx="1237869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200" b="1" lang="en-US">
                <a:solidFill>
                  <a:srgbClr val="0A0E1A"/>
                </a:solidFill>
                <a:latin typeface="Segoe UI Black"/>
              </a:rPr>
              <a:t>L7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9875" y="2514600"/>
            <a:ext cx="114642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EAF0FF"/>
                </a:solidFill>
                <a:latin typeface="Segoe UI Semibold"/>
              </a:rPr>
              <a:t>Dashboard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9875" y="2825496"/>
            <a:ext cx="114642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9" b="0" lang="en-US">
                <a:solidFill>
                  <a:srgbClr val="9AA8C8"/>
                </a:solidFill>
                <a:latin typeface="Segoe UI"/>
              </a:rPr>
              <a:t>investigator
triage + EDD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66928" y="3767328"/>
            <a:ext cx="11055096" cy="457200"/>
          </a:xfrm>
          <a:prstGeom prst="roundRect">
            <a:avLst>
              <a:gd name="adj" fmla="val 10000"/>
            </a:avLst>
          </a:prstGeom>
          <a:solidFill>
            <a:srgbClr val="0C1A18"/>
          </a:solidFill>
          <a:ln w="12700">
            <a:solidFill>
              <a:srgbClr val="35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77240" y="3767328"/>
            <a:ext cx="10972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lang="en-US">
                <a:solidFill>
                  <a:srgbClr val="35D399"/>
                </a:solidFill>
                <a:latin typeface="Segoe UI"/>
              </a:rPr>
              <a:t>FAST LANE — real-time:  </a:t>
            </a:r>
            <a:r>
              <a:rPr sz="960" b="0" lang="en-US">
                <a:solidFill>
                  <a:srgbClr val="9AA8C8"/>
                </a:solidFill>
                <a:latin typeface="Segoe UI"/>
              </a:rPr>
              <a:t>event → feature → score → alert in SECONDS  (the primary online build).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66928" y="4297680"/>
            <a:ext cx="11055096" cy="457200"/>
          </a:xfrm>
          <a:prstGeom prst="roundRect">
            <a:avLst>
              <a:gd name="adj" fmla="val 10000"/>
            </a:avLst>
          </a:prstGeom>
          <a:solidFill>
            <a:srgbClr val="1A140A"/>
          </a:solidFill>
          <a:ln w="12700">
            <a:solidFill>
              <a:srgbClr val="FFB0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7240" y="4297680"/>
            <a:ext cx="10972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lang="en-US">
                <a:solidFill>
                  <a:srgbClr val="FFB020"/>
                </a:solidFill>
                <a:latin typeface="Segoe UI"/>
              </a:rPr>
              <a:t>SLOW LANE — batch EWS:  </a:t>
            </a:r>
            <a:r>
              <a:rPr sz="960" b="0" lang="en-US">
                <a:solidFill>
                  <a:srgbClr val="9AA8C8"/>
                </a:solidFill>
                <a:latin typeface="Segoe UI"/>
              </a:rPr>
              <a:t>credit / ghost-vendor / ghost-payroll / alert-suppression over days–weeks → feeds RBI EWS · RFA · CRILC · FMR.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566928" y="4892040"/>
            <a:ext cx="11055096" cy="1234440"/>
          </a:xfrm>
          <a:prstGeom prst="roundRect">
            <a:avLst>
              <a:gd name="adj" fmla="val 4000"/>
            </a:avLst>
          </a:prstGeom>
          <a:solidFill>
            <a:srgbClr val="121B30"/>
          </a:solidFill>
          <a:ln w="9525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2960" y="504748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en-US">
                <a:solidFill>
                  <a:srgbClr val="3DD6E8"/>
                </a:solidFill>
                <a:latin typeface="Segoe UI Semibold"/>
              </a:rPr>
              <a:t>ALERT-ONLY  </a:t>
            </a:r>
            <a:r>
              <a:rPr sz="1100" b="0" lang="en-US">
                <a:solidFill>
                  <a:srgbClr val="EAF0FF"/>
                </a:solidFill>
                <a:latin typeface="Segoe UI"/>
              </a:rPr>
              <a:t>— scores &amp; explains; a human decides, never auto-blocks money.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2960" y="541324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lang="en-US">
                <a:solidFill>
                  <a:srgbClr val="9AA8C8"/>
                </a:solidFill>
                <a:latin typeface="Segoe UI"/>
              </a:rPr>
              <a:t>Every alert is  </a:t>
            </a:r>
            <a:r>
              <a:rPr sz="1000" b="1" lang="en-US">
                <a:solidFill>
                  <a:srgbClr val="35D399"/>
                </a:solidFill>
                <a:latin typeface="Segoe UI"/>
              </a:rPr>
              <a:t>CONTESTABLE</a:t>
            </a:r>
            <a:r>
              <a:rPr sz="1000" b="0" lang="en-US">
                <a:solidFill>
                  <a:srgbClr val="9AA8C8"/>
                </a:solidFill>
                <a:latin typeface="Segoe UI"/>
              </a:rPr>
              <a:t> (reason codes)  ·  </a:t>
            </a:r>
            <a:r>
              <a:rPr sz="1000" b="1" lang="en-US">
                <a:solidFill>
                  <a:srgbClr val="35D399"/>
                </a:solidFill>
                <a:latin typeface="Segoe UI"/>
              </a:rPr>
              <a:t>REPRODUCIBLE</a:t>
            </a:r>
            <a:r>
              <a:rPr sz="1000" b="0" lang="en-US">
                <a:solidFill>
                  <a:srgbClr val="9AA8C8"/>
                </a:solidFill>
                <a:latin typeface="Segoe UI"/>
              </a:rPr>
              <a:t>  ·  </a:t>
            </a:r>
            <a:r>
              <a:rPr sz="1000" b="1" lang="en-US">
                <a:solidFill>
                  <a:srgbClr val="35D399"/>
                </a:solidFill>
                <a:latin typeface="Segoe UI"/>
              </a:rPr>
              <a:t>AUDITED</a:t>
            </a:r>
            <a:r>
              <a:rPr sz="1000" b="0" lang="en-US">
                <a:solidFill>
                  <a:srgbClr val="9AA8C8"/>
                </a:solidFill>
                <a:latin typeface="Segoe UI"/>
              </a:rPr>
              <a:t> (hash-chained WORM).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" y="5760720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lang="en-US">
                <a:solidFill>
                  <a:srgbClr val="9B8CFF"/>
                </a:solidFill>
                <a:latin typeface="Segoe UI Semibold"/>
              </a:rPr>
              <a:t>↺  FEEDBACK LOOP  </a:t>
            </a:r>
            <a:r>
              <a:rPr sz="1050" b="0" lang="en-US">
                <a:solidFill>
                  <a:srgbClr val="EAF0FF"/>
                </a:solidFill>
                <a:latin typeface="Segoe UI"/>
              </a:rPr>
              <a:t>— investigator EDD verdict → new label → models retrain and improve the longer it runs.</a:t>
            </a:r>
          </a:p>
        </p:txBody>
      </p:sp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4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45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4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whole"/>
      <p:bldP spid="15" grpId="0" build="whole"/>
      <p:bldP spid="21" grpId="0" build="whole"/>
      <p:bldP spid="27" grpId="0" build="whole"/>
      <p:bldP spid="33" grpId="0" build="whole"/>
      <p:bldP spid="39" grpId="0" build="whole"/>
      <p:bldP spid="45" grpId="0" build="whole"/>
      <p:bldP spid="51" grpId="0" build="whole"/>
      <p:bldP spid="56" grpId="0" build="whole"/>
      <p:bldP spid="58" grpId="0" build="whole"/>
      <p:bldP spid="60" grpId="0" build="whole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160">
                <a:solidFill>
                  <a:srgbClr val="9B8CFF"/>
                </a:solidFill>
                <a:latin typeface="Consolas"/>
              </a:rPr>
              <a:t>TECHNOLOGY &amp; ENGINEERING (40%) · AI/ML USAGE &amp; MODEL JUSTIFICATION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lang="en-US">
                <a:solidFill>
                  <a:srgbClr val="EAF0FF"/>
                </a:solidFill>
                <a:latin typeface="Segoe UI Semibold"/>
              </a:rPr>
              <a:t>Layered ML — each layer covers what the others cannot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28232"/>
            <a:ext cx="11094415" cy="0"/>
          </a:xfrm>
          <a:prstGeom prst="line">
            <a:avLst/>
          </a:prstGeom>
          <a:ln w="12700">
            <a:solidFill>
              <a:srgbClr val="1B27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lang="en-US" spc="30">
                <a:solidFill>
                  <a:srgbClr val="6C7A9C"/>
                </a:solidFill>
                <a:latin typeface="Segoe UI"/>
              </a:rPr>
              <a:t>HAWK-EYE  ·  Team NINEAGENTS  ·  iDEA 2.0 · PSBs Hackathon Series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 lang="en-US" spc="100">
                <a:solidFill>
                  <a:srgbClr val="9B8CFF"/>
                </a:solidFill>
                <a:latin typeface="Consolas"/>
              </a:rPr>
              <a:t>05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37360"/>
            <a:ext cx="2761488" cy="1965960"/>
          </a:xfrm>
          <a:prstGeom prst="roundRect">
            <a:avLst>
              <a:gd name="adj" fmla="val 5000"/>
            </a:avLst>
          </a:prstGeom>
          <a:solidFill>
            <a:srgbClr val="121B30"/>
          </a:solidFill>
          <a:ln w="9525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737360"/>
            <a:ext cx="2761488" cy="64008"/>
          </a:xfrm>
          <a:prstGeom prst="rect">
            <a:avLst/>
          </a:prstGeom>
          <a:solidFill>
            <a:srgbClr val="3D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2487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3DD6E8"/>
                </a:solidFill>
                <a:latin typeface="Segoe UI Semibold"/>
              </a:rPr>
              <a:t>L2 · UEBA (unsupervised)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395728"/>
            <a:ext cx="2468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lang="en-US">
                <a:solidFill>
                  <a:srgbClr val="3DD6E8"/>
                </a:solidFill>
                <a:latin typeface="Segoe UI"/>
              </a:rPr>
              <a:t>•  </a:t>
            </a:r>
            <a:r>
              <a:rPr sz="900" b="0" lang="en-US">
                <a:solidFill>
                  <a:srgbClr val="9AA8C8"/>
                </a:solidFill>
                <a:latin typeface="Segoe UI"/>
              </a:rPr>
              <a:t>Learns each user's normal vs their PEERS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98064"/>
            <a:ext cx="2468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lang="en-US">
                <a:solidFill>
                  <a:srgbClr val="3DD6E8"/>
                </a:solidFill>
                <a:latin typeface="Segoe UI"/>
              </a:rPr>
              <a:t>•  </a:t>
            </a:r>
            <a:r>
              <a:rPr sz="900" b="0" lang="en-US">
                <a:solidFill>
                  <a:srgbClr val="9AA8C8"/>
                </a:solidFill>
                <a:latin typeface="Segoe UI"/>
              </a:rPr>
              <a:t>No labels → solves cold-start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200400"/>
            <a:ext cx="2468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lang="en-US">
                <a:solidFill>
                  <a:srgbClr val="3DD6E8"/>
                </a:solidFill>
                <a:latin typeface="Segoe UI"/>
              </a:rPr>
              <a:t>•  </a:t>
            </a:r>
            <a:r>
              <a:rPr sz="900" b="0" lang="en-US">
                <a:solidFill>
                  <a:srgbClr val="9AA8C8"/>
                </a:solidFill>
                <a:latin typeface="Segoe UI"/>
              </a:rPr>
              <a:t>Peer-relative = fairer + harder to game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1737360"/>
            <a:ext cx="2761488" cy="1965960"/>
          </a:xfrm>
          <a:prstGeom prst="roundRect">
            <a:avLst>
              <a:gd name="adj" fmla="val 5000"/>
            </a:avLst>
          </a:prstGeom>
          <a:solidFill>
            <a:srgbClr val="121B30"/>
          </a:solidFill>
          <a:ln w="9525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429000" y="1737360"/>
            <a:ext cx="2761488" cy="64008"/>
          </a:xfrm>
          <a:prstGeom prst="rect">
            <a:avLst/>
          </a:prstGeom>
          <a:solidFill>
            <a:srgbClr val="35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93592" y="1920240"/>
            <a:ext cx="2487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35D399"/>
                </a:solidFill>
                <a:latin typeface="Segoe UI Semibold"/>
              </a:rPr>
              <a:t>L3 · Supervised GBDT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3592" y="2395728"/>
            <a:ext cx="2468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lang="en-US">
                <a:solidFill>
                  <a:srgbClr val="35D399"/>
                </a:solidFill>
                <a:latin typeface="Segoe UI"/>
              </a:rPr>
              <a:t>•  </a:t>
            </a:r>
            <a:r>
              <a:rPr sz="900" b="0" lang="en-US">
                <a:solidFill>
                  <a:srgbClr val="9AA8C8"/>
                </a:solidFill>
                <a:latin typeface="Segoe UI"/>
              </a:rPr>
              <a:t>LightGBM on confirmed-fraud labels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93592" y="2798064"/>
            <a:ext cx="2468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lang="en-US">
                <a:solidFill>
                  <a:srgbClr val="35D399"/>
                </a:solidFill>
                <a:latin typeface="Segoe UI"/>
              </a:rPr>
              <a:t>•  </a:t>
            </a:r>
            <a:r>
              <a:rPr sz="900" b="0" lang="en-US">
                <a:solidFill>
                  <a:srgbClr val="9AA8C8"/>
                </a:solidFill>
                <a:latin typeface="Segoe UI"/>
              </a:rPr>
              <a:t>SHAP shows which features drove the score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93592" y="3200400"/>
            <a:ext cx="2468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lang="en-US">
                <a:solidFill>
                  <a:srgbClr val="35D399"/>
                </a:solidFill>
                <a:latin typeface="Segoe UI"/>
              </a:rPr>
              <a:t>•  </a:t>
            </a:r>
            <a:r>
              <a:rPr sz="900" b="0" lang="en-US">
                <a:solidFill>
                  <a:srgbClr val="9AA8C8"/>
                </a:solidFill>
                <a:latin typeface="Segoe UI"/>
              </a:rPr>
              <a:t>The explainable supervised workhorse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91072" y="1737360"/>
            <a:ext cx="2761488" cy="1965960"/>
          </a:xfrm>
          <a:prstGeom prst="roundRect">
            <a:avLst>
              <a:gd name="adj" fmla="val 5000"/>
            </a:avLst>
          </a:prstGeom>
          <a:solidFill>
            <a:srgbClr val="121B30"/>
          </a:solidFill>
          <a:ln w="9525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91072" y="1737360"/>
            <a:ext cx="2761488" cy="64008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55664" y="1920240"/>
            <a:ext cx="2487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9B8CFF"/>
                </a:solidFill>
                <a:latin typeface="Segoe UI Semibold"/>
              </a:rPr>
              <a:t>L4 · Sequence / time-series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55664" y="2395728"/>
            <a:ext cx="2468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lang="en-US">
                <a:solidFill>
                  <a:srgbClr val="9B8CFF"/>
                </a:solidFill>
                <a:latin typeface="Segoe UI"/>
              </a:rPr>
              <a:t>•  </a:t>
            </a:r>
            <a:r>
              <a:rPr sz="900" b="0" lang="en-US">
                <a:solidFill>
                  <a:srgbClr val="9AA8C8"/>
                </a:solidFill>
                <a:latin typeface="Segoe UI"/>
              </a:rPr>
              <a:t>Order &amp; timing of actions (slow-burn)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55664" y="2798064"/>
            <a:ext cx="2468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lang="en-US">
                <a:solidFill>
                  <a:srgbClr val="9B8CFF"/>
                </a:solidFill>
                <a:latin typeface="Segoe UI"/>
              </a:rPr>
              <a:t>•  </a:t>
            </a:r>
            <a:r>
              <a:rPr sz="900" b="0" lang="en-US">
                <a:solidFill>
                  <a:srgbClr val="9AA8C8"/>
                </a:solidFill>
                <a:latin typeface="Segoe UI"/>
              </a:rPr>
              <a:t>Simple methods first…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55664" y="3200400"/>
            <a:ext cx="2468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lang="en-US">
                <a:solidFill>
                  <a:srgbClr val="9B8CFF"/>
                </a:solidFill>
                <a:latin typeface="Segoe UI"/>
              </a:rPr>
              <a:t>•  </a:t>
            </a:r>
            <a:r>
              <a:rPr sz="900" b="0" lang="en-US">
                <a:solidFill>
                  <a:srgbClr val="9AA8C8"/>
                </a:solidFill>
                <a:latin typeface="Segoe UI"/>
              </a:rPr>
              <a:t>…deep only if it beats the baseline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53144" y="1737360"/>
            <a:ext cx="2761488" cy="1965960"/>
          </a:xfrm>
          <a:prstGeom prst="roundRect">
            <a:avLst>
              <a:gd name="adj" fmla="val 5000"/>
            </a:avLst>
          </a:prstGeom>
          <a:solidFill>
            <a:srgbClr val="121B30"/>
          </a:solidFill>
          <a:ln w="9525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153144" y="1737360"/>
            <a:ext cx="2761488" cy="64008"/>
          </a:xfrm>
          <a:prstGeom prst="rect">
            <a:avLst/>
          </a:prstGeom>
          <a:solidFill>
            <a:srgbClr val="FF4D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17736" y="1920240"/>
            <a:ext cx="248716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FF4D5E"/>
                </a:solidFill>
                <a:latin typeface="Segoe UI Semibold"/>
              </a:rPr>
              <a:t>L5 · Graph / relational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17736" y="2395728"/>
            <a:ext cx="2468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lang="en-US">
                <a:solidFill>
                  <a:srgbClr val="FF4D5E"/>
                </a:solidFill>
                <a:latin typeface="Segoe UI"/>
              </a:rPr>
              <a:t>•  </a:t>
            </a:r>
            <a:r>
              <a:rPr sz="900" b="0" lang="en-US">
                <a:solidFill>
                  <a:srgbClr val="9AA8C8"/>
                </a:solidFill>
                <a:latin typeface="Segoe UI"/>
              </a:rPr>
              <a:t>GNN / GraphSAGE over the actor network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17736" y="2798064"/>
            <a:ext cx="2468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lang="en-US">
                <a:solidFill>
                  <a:srgbClr val="FF4D5E"/>
                </a:solidFill>
                <a:latin typeface="Segoe UI"/>
              </a:rPr>
              <a:t>•  </a:t>
            </a:r>
            <a:r>
              <a:rPr sz="900" b="0" lang="en-US">
                <a:solidFill>
                  <a:srgbClr val="9AA8C8"/>
                </a:solidFill>
                <a:latin typeface="Segoe UI"/>
              </a:rPr>
              <a:t>Collusion rings, shell vendors, maker-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17736" y="3200400"/>
            <a:ext cx="2468880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lang="en-US">
                <a:solidFill>
                  <a:srgbClr val="FF4D5E"/>
                </a:solidFill>
                <a:latin typeface="Segoe UI"/>
              </a:rPr>
              <a:t>•  </a:t>
            </a:r>
            <a:r>
              <a:rPr sz="900" b="0" lang="en-US">
                <a:solidFill>
                  <a:srgbClr val="9AA8C8"/>
                </a:solidFill>
                <a:latin typeface="Segoe UI"/>
              </a:rPr>
              <a:t>checker subgraphs invisible to tabular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3840480"/>
            <a:ext cx="11055096" cy="868680"/>
          </a:xfrm>
          <a:prstGeom prst="roundRect">
            <a:avLst>
              <a:gd name="adj" fmla="val 4000"/>
            </a:avLst>
          </a:prstGeom>
          <a:solidFill>
            <a:srgbClr val="0E1A2E"/>
          </a:solidFill>
          <a:ln w="15240">
            <a:solidFill>
              <a:srgbClr val="3D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3950208"/>
            <a:ext cx="106070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en-US" spc="40">
                <a:solidFill>
                  <a:srgbClr val="3DD6E8"/>
                </a:solidFill>
                <a:latin typeface="Segoe UI Semibold"/>
              </a:rPr>
              <a:t>L6 · CALIBRATED RISK FUSION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4279392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80" b="0" lang="en-US">
                <a:solidFill>
                  <a:srgbClr val="EAF0FF"/>
                </a:solidFill>
                <a:latin typeface="Segoe UI"/>
              </a:rPr>
              <a:t>All layers + rules fuse into ONE calibrated 0–100 score (severity × confidence) with a single set of reason codes — investigators get one alert per entity, not ten. A “70/100” really means ~70% likely (calibration).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4864608"/>
            <a:ext cx="5486400" cy="1325880"/>
          </a:xfrm>
          <a:prstGeom prst="roundRect">
            <a:avLst>
              <a:gd name="adj" fmla="val 4000"/>
            </a:avLst>
          </a:prstGeom>
          <a:solidFill>
            <a:srgbClr val="121B30"/>
          </a:solidFill>
          <a:ln w="9525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49834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40">
                <a:solidFill>
                  <a:srgbClr val="FFB020"/>
                </a:solidFill>
                <a:latin typeface="Segoe UI Semibold"/>
              </a:rPr>
              <a:t>MODEL JUSTIFICATION &amp; HONEST EVALUATION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5285232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lang="en-US">
                <a:solidFill>
                  <a:srgbClr val="FFB020"/>
                </a:solidFill>
                <a:latin typeface="Segoe UI"/>
              </a:rPr>
              <a:t>▸ </a:t>
            </a:r>
            <a:r>
              <a:rPr sz="890" b="0" lang="en-US">
                <a:solidFill>
                  <a:srgbClr val="9AA8C8"/>
                </a:solidFill>
                <a:latin typeface="Segoe UI"/>
              </a:rPr>
              <a:t>Metrics that don't lie on imbalance: PR-AUC, precision@k, alert-to-fraud ratio — not ROC-AUC alone.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577840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lang="en-US">
                <a:solidFill>
                  <a:srgbClr val="FFB020"/>
                </a:solidFill>
                <a:latin typeface="Segoe UI"/>
              </a:rPr>
              <a:t>▸ </a:t>
            </a:r>
            <a:r>
              <a:rPr sz="890" b="0" lang="en-US">
                <a:solidFill>
                  <a:srgbClr val="9AA8C8"/>
                </a:solidFill>
                <a:latin typeface="Segoe UI"/>
              </a:rPr>
              <a:t>Strict temporal split (past→future) — no data / temporal leakage.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870448"/>
            <a:ext cx="50292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lang="en-US">
                <a:solidFill>
                  <a:srgbClr val="FFB020"/>
                </a:solidFill>
                <a:latin typeface="Segoe UI"/>
              </a:rPr>
              <a:t>▸ </a:t>
            </a:r>
            <a:r>
              <a:rPr sz="890" b="0" lang="en-US">
                <a:solidFill>
                  <a:srgbClr val="9AA8C8"/>
                </a:solidFill>
                <a:latin typeface="Segoe UI"/>
              </a:rPr>
              <a:t>Synthetic is for training; detection quality validated on real labelled outcomes + the feedback loop.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172200" y="4864608"/>
            <a:ext cx="5449824" cy="1325880"/>
          </a:xfrm>
          <a:prstGeom prst="roundRect">
            <a:avLst>
              <a:gd name="adj" fmla="val 4000"/>
            </a:avLst>
          </a:prstGeom>
          <a:solidFill>
            <a:srgbClr val="121B30"/>
          </a:solidFill>
          <a:ln w="9525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82512" y="498348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30">
                <a:solidFill>
                  <a:srgbClr val="3DD6E8"/>
                </a:solidFill>
                <a:latin typeface="Segoe UI Semibold"/>
              </a:rPr>
              <a:t>PRODUCTION STACK  ·  ~26 services, on-prem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82512" y="5266944"/>
            <a:ext cx="12344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60" b="1" lang="en-US" spc="20">
                <a:solidFill>
                  <a:srgbClr val="35D399"/>
                </a:solidFill>
                <a:latin typeface="Consolas"/>
              </a:rPr>
              <a:t>ML/MLOps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5266944"/>
            <a:ext cx="39776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70" b="0" lang="en-US">
                <a:solidFill>
                  <a:srgbClr val="9AA8C8"/>
                </a:solidFill>
                <a:latin typeface="Segoe UI"/>
              </a:rPr>
              <a:t>LightGBM·XGBoost·CatBoost·PyOD·PyTorch-Geometric·SHAP·MLflow·ONNX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2512" y="5415991"/>
            <a:ext cx="12344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60" b="1" lang="en-US" spc="20">
                <a:solidFill>
                  <a:srgbClr val="35D399"/>
                </a:solidFill>
                <a:latin typeface="Consolas"/>
              </a:rPr>
              <a:t>DATA/STREAM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5415991"/>
            <a:ext cx="39776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70" b="0" lang="en-US">
                <a:solidFill>
                  <a:srgbClr val="9AA8C8"/>
                </a:solidFill>
                <a:latin typeface="Segoe UI"/>
              </a:rPr>
              <a:t>Kafka L0 bus · feature store · lineage · MDM · synthetic sim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82512" y="5565038"/>
            <a:ext cx="12344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60" b="1" lang="en-US" spc="20">
                <a:solidFill>
                  <a:srgbClr val="35D399"/>
                </a:solidFill>
                <a:latin typeface="Consolas"/>
              </a:rPr>
              <a:t>BACKEND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635240" y="5565038"/>
            <a:ext cx="39776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70" b="0" lang="en-US">
                <a:solidFill>
                  <a:srgbClr val="9AA8C8"/>
                </a:solidFill>
                <a:latin typeface="Segoe UI"/>
              </a:rPr>
              <a:t>Python 3.13 · FastAPI · Rust hot-paths · RBAC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82512" y="5714085"/>
            <a:ext cx="12344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60" b="1" lang="en-US" spc="20">
                <a:solidFill>
                  <a:srgbClr val="35D399"/>
                </a:solidFill>
                <a:latin typeface="Consolas"/>
              </a:rPr>
              <a:t>DATA STORES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35240" y="5714085"/>
            <a:ext cx="39776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70" b="0" lang="en-US">
                <a:solidFill>
                  <a:srgbClr val="9AA8C8"/>
                </a:solidFill>
                <a:latin typeface="Segoe UI"/>
              </a:rPr>
              <a:t>ClickHouse · Postgres · Redis · MinIO · WORM audit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82512" y="5863132"/>
            <a:ext cx="12344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60" b="1" lang="en-US" spc="20">
                <a:solidFill>
                  <a:srgbClr val="35D399"/>
                </a:solidFill>
                <a:latin typeface="Consolas"/>
              </a:rPr>
              <a:t>FRONTEND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35240" y="5863132"/>
            <a:ext cx="39776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70" b="0" lang="en-US">
                <a:solidFill>
                  <a:srgbClr val="9AA8C8"/>
                </a:solidFill>
                <a:latin typeface="Segoe UI"/>
              </a:rPr>
              <a:t>React 19 · TS · Radix+CVA · Recharts · Cytoscape · 82 comps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82512" y="6012180"/>
            <a:ext cx="123444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60" b="1" lang="en-US" spc="20">
                <a:solidFill>
                  <a:srgbClr val="35D399"/>
                </a:solidFill>
                <a:latin typeface="Consolas"/>
              </a:rPr>
              <a:t>INFRA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635240" y="6012180"/>
            <a:ext cx="3977639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70" b="0" lang="en-US">
                <a:solidFill>
                  <a:srgbClr val="9AA8C8"/>
                </a:solidFill>
                <a:latin typeface="Segoe UI"/>
              </a:rPr>
              <a:t>Docker · K8s · ArgoCD · Terraform · HSM/Vault · mTLS · OPA</a:t>
            </a:r>
          </a:p>
        </p:txBody>
      </p:sp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4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whole"/>
      <p:bldP spid="15" grpId="0" build="whole"/>
      <p:bldP spid="21" grpId="0" build="whole"/>
      <p:bldP spid="27" grpId="0" build="whole"/>
      <p:bldP spid="33" grpId="0" build="whole"/>
      <p:bldP spid="36" grpId="0" build="whole"/>
      <p:bldP spid="41" grpId="0" build="whole"/>
    </p:bld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5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160">
                <a:solidFill>
                  <a:srgbClr val="35D399"/>
                </a:solidFill>
                <a:latin typeface="Consolas"/>
              </a:rPr>
              <a:t>TECHNOLOGY &amp; ENGINEERING (40%) · WORKING PRODUCT · COMPLETENESS · DEPTH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lang="en-US">
                <a:solidFill>
                  <a:srgbClr val="EAF0FF"/>
                </a:solidFill>
                <a:latin typeface="Segoe UI Semibold"/>
              </a:rPr>
              <a:t>A working system, proven end-to-end — not slideware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28232"/>
            <a:ext cx="11094415" cy="0"/>
          </a:xfrm>
          <a:prstGeom prst="line">
            <a:avLst/>
          </a:prstGeom>
          <a:ln w="12700">
            <a:solidFill>
              <a:srgbClr val="1B27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lang="en-US" spc="30">
                <a:solidFill>
                  <a:srgbClr val="6C7A9C"/>
                </a:solidFill>
                <a:latin typeface="Segoe UI"/>
              </a:rPr>
              <a:t>HAWK-EYE  ·  Team NINEAGENTS  ·  iDEA 2.0 · PSBs Hackathon Series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 lang="en-US" spc="100">
                <a:solidFill>
                  <a:srgbClr val="35D399"/>
                </a:solidFill>
                <a:latin typeface="Consolas"/>
              </a:rPr>
              <a:t>06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37360"/>
            <a:ext cx="3794760" cy="2743200"/>
          </a:xfrm>
          <a:prstGeom prst="roundRect">
            <a:avLst>
              <a:gd name="adj" fmla="val 5000"/>
            </a:avLst>
          </a:prstGeom>
          <a:solidFill>
            <a:srgbClr val="121B30"/>
          </a:solidFill>
          <a:ln w="15240">
            <a:solidFill>
              <a:srgbClr val="35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65376"/>
            <a:ext cx="33832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30">
                <a:solidFill>
                  <a:srgbClr val="35D399"/>
                </a:solidFill>
                <a:latin typeface="Segoe UI Semibold"/>
              </a:rPr>
              <a:t>END-TO-END IN ONE COMMAND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194560"/>
            <a:ext cx="2194560" cy="310896"/>
          </a:xfrm>
          <a:prstGeom prst="roundRect">
            <a:avLst>
              <a:gd name="adj" fmla="val 50000"/>
            </a:avLst>
          </a:prstGeom>
          <a:solidFill>
            <a:srgbClr val="0F182B"/>
          </a:solidFill>
          <a:ln w="12700">
            <a:solidFill>
              <a:srgbClr val="35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185416"/>
            <a:ext cx="21945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50" b="1" lang="en-US" spc="0">
                <a:solidFill>
                  <a:srgbClr val="35D399"/>
                </a:solidFill>
                <a:latin typeface="Consolas"/>
              </a:rPr>
              <a:t>python -m ml.demo</a:t>
            </a:r>
          </a:p>
        </p:txBody>
      </p:sp>
      <p:sp>
        <p:nvSpPr>
          <p:cNvPr id="13" name="Oval 12"/>
          <p:cNvSpPr/>
          <p:nvPr/>
        </p:nvSpPr>
        <p:spPr>
          <a:xfrm>
            <a:off x="1033271" y="2862072"/>
            <a:ext cx="1133856" cy="1133856"/>
          </a:xfrm>
          <a:prstGeom prst="ellipse">
            <a:avLst/>
          </a:prstGeom>
          <a:noFill/>
          <a:ln w="63500">
            <a:solidFill>
              <a:srgbClr val="FF4D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197864" y="3026664"/>
            <a:ext cx="804672" cy="804672"/>
          </a:xfrm>
          <a:prstGeom prst="ellipse">
            <a:avLst/>
          </a:prstGeom>
          <a:noFill/>
          <a:ln w="12700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3271" y="3118104"/>
            <a:ext cx="113385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2600" b="1" lang="en-US">
                <a:solidFill>
                  <a:srgbClr val="FF4D5E"/>
                </a:solidFill>
                <a:latin typeface="Segoe UI Black"/>
              </a:rPr>
              <a:t>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1" y="3538728"/>
            <a:ext cx="113385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 lang="en-US" spc="40">
                <a:solidFill>
                  <a:srgbClr val="9AA8C8"/>
                </a:solidFill>
                <a:latin typeface="Consolas"/>
              </a:rPr>
              <a:t>RISK · CRITICAL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2788920"/>
            <a:ext cx="1828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80" b="0" lang="en-US">
                <a:solidFill>
                  <a:srgbClr val="9AA8C8"/>
                </a:solidFill>
                <a:latin typeface="Segoe UI"/>
              </a:rPr>
              <a:t>A synthetic fraud burst flows </a:t>
            </a:r>
            <a:r>
              <a:rPr sz="880" b="1" lang="en-US">
                <a:solidFill>
                  <a:srgbClr val="3DD6E8"/>
                </a:solidFill>
                <a:latin typeface="Consolas"/>
              </a:rPr>
              <a:t>L0→L2→L3→L5→L6</a:t>
            </a:r>
            <a:r>
              <a:rPr sz="880" b="0" lang="en-US">
                <a:solidFill>
                  <a:srgbClr val="9AA8C8"/>
                </a:solidFill>
                <a:latin typeface="Segoe UI"/>
              </a:rPr>
              <a:t> and ends in a RISK 100/100 critical alert on a genuinely fraudulent employee — prints reason codes + a plain-English narrative, and confirms the alert is CONTESTABLE &amp; REPRODUCIBLE.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1737360"/>
            <a:ext cx="3566160" cy="2743200"/>
          </a:xfrm>
          <a:prstGeom prst="roundRect">
            <a:avLst>
              <a:gd name="adj" fmla="val 5000"/>
            </a:avLst>
          </a:prstGeom>
          <a:solidFill>
            <a:srgbClr val="121B30"/>
          </a:solidFill>
          <a:ln w="9525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90872" y="1865376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30">
                <a:solidFill>
                  <a:srgbClr val="3DD6E8"/>
                </a:solidFill>
                <a:latin typeface="Segoe UI Semibold"/>
              </a:rPr>
              <a:t>TEST SUITES — ALL GREEN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690872" y="2231136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0F182B"/>
          </a:solidFill>
          <a:ln w="9525">
            <a:solidFill>
              <a:srgbClr val="1B27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818888" y="2249424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80" b="1" lang="en-US" spc="30">
                <a:solidFill>
                  <a:srgbClr val="9AA8C8"/>
                </a:solidFill>
                <a:latin typeface="Consolas"/>
              </a:rPr>
              <a:t>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18888" y="2414016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35D399"/>
                </a:solidFill>
                <a:latin typeface="Segoe UI Semibold"/>
              </a:rPr>
              <a:t>✓ 250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82512" y="2231136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0F182B"/>
          </a:solidFill>
          <a:ln w="9525">
            <a:solidFill>
              <a:srgbClr val="1B27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10528" y="2249424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80" b="1" lang="en-US" spc="30">
                <a:solidFill>
                  <a:srgbClr val="9AA8C8"/>
                </a:solidFill>
                <a:latin typeface="Consolas"/>
              </a:rPr>
              <a:t>BACKEND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10528" y="2414016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35D399"/>
                </a:solidFill>
                <a:latin typeface="Segoe UI Semibold"/>
              </a:rPr>
              <a:t>✓ 109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90872" y="2779776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0F182B"/>
          </a:solidFill>
          <a:ln w="9525">
            <a:solidFill>
              <a:srgbClr val="1B27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18888" y="2798064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80" b="1" lang="en-US" spc="30">
                <a:solidFill>
                  <a:srgbClr val="9AA8C8"/>
                </a:solidFill>
                <a:latin typeface="Consolas"/>
              </a:rPr>
              <a:t>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18888" y="2962656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35D399"/>
                </a:solidFill>
                <a:latin typeface="Segoe UI Semibold"/>
              </a:rPr>
              <a:t>✓ 100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82512" y="2779776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0F182B"/>
          </a:solidFill>
          <a:ln w="9525">
            <a:solidFill>
              <a:srgbClr val="1B27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10528" y="2798064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80" b="1" lang="en-US" spc="30">
                <a:solidFill>
                  <a:srgbClr val="9AA8C8"/>
                </a:solidFill>
                <a:latin typeface="Consolas"/>
              </a:rPr>
              <a:t>FRONTEND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10528" y="2962656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35D399"/>
                </a:solidFill>
                <a:latin typeface="Segoe UI Semibold"/>
              </a:rPr>
              <a:t>✓ 112 +3e2e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690872" y="3328415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0F182B"/>
          </a:solidFill>
          <a:ln w="9525">
            <a:solidFill>
              <a:srgbClr val="1B27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18888" y="3346703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80" b="1" lang="en-US" spc="30">
                <a:solidFill>
                  <a:srgbClr val="9AA8C8"/>
                </a:solidFill>
                <a:latin typeface="Consolas"/>
              </a:rPr>
              <a:t>PLATFORM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18888" y="3511296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35D399"/>
                </a:solidFill>
                <a:latin typeface="Segoe UI Semibold"/>
              </a:rPr>
              <a:t>✓ 73 +4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82512" y="3328415"/>
            <a:ext cx="1572768" cy="457200"/>
          </a:xfrm>
          <a:prstGeom prst="roundRect">
            <a:avLst>
              <a:gd name="adj" fmla="val 12000"/>
            </a:avLst>
          </a:prstGeom>
          <a:solidFill>
            <a:srgbClr val="0F182B"/>
          </a:solidFill>
          <a:ln w="9525">
            <a:solidFill>
              <a:srgbClr val="1B27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10528" y="3346703"/>
            <a:ext cx="13716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780" b="1" lang="en-US" spc="30">
                <a:solidFill>
                  <a:srgbClr val="9AA8C8"/>
                </a:solidFill>
                <a:latin typeface="Consolas"/>
              </a:rPr>
              <a:t>DATABASE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10528" y="3511296"/>
            <a:ext cx="13716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>
                <a:solidFill>
                  <a:srgbClr val="35D399"/>
                </a:solidFill>
                <a:latin typeface="Segoe UI Semibold"/>
              </a:rPr>
              <a:t>✓ 60 +10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90872" y="3950208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 lang="en-US">
                <a:solidFill>
                  <a:srgbClr val="9AA8C8"/>
                </a:solidFill>
                <a:latin typeface="Segoe UI"/>
              </a:rPr>
              <a:t>Adversarial RED-TEAM suite found + fixed </a:t>
            </a:r>
            <a:r>
              <a:rPr sz="860" b="1" lang="en-US">
                <a:solidFill>
                  <a:srgbClr val="FF4D5E"/>
                </a:solidFill>
                <a:latin typeface="Segoe UI"/>
              </a:rPr>
              <a:t>3 real safety bugs</a:t>
            </a:r>
            <a:r>
              <a:rPr sz="860" b="0" lang="en-US">
                <a:solidFill>
                  <a:srgbClr val="9AA8C8"/>
                </a:solidFill>
                <a:latin typeface="Segoe UI"/>
              </a:rPr>
              <a:t>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38160" y="1737360"/>
            <a:ext cx="3483864" cy="2743200"/>
          </a:xfrm>
          <a:prstGeom prst="roundRect">
            <a:avLst>
              <a:gd name="adj" fmla="val 5000"/>
            </a:avLst>
          </a:prstGeom>
          <a:solidFill>
            <a:srgbClr val="121B30"/>
          </a:solidFill>
          <a:ln w="9525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48472" y="1865376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20">
                <a:solidFill>
                  <a:srgbClr val="FFB020"/>
                </a:solidFill>
                <a:latin typeface="Segoe UI Semibold"/>
              </a:rPr>
              <a:t>THE FULL PLATFORM  ( make up 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48472" y="2194560"/>
            <a:ext cx="3154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900" b="1" lang="en-US">
                <a:solidFill>
                  <a:srgbClr val="EAF0FF"/>
                </a:solidFill>
                <a:latin typeface="Segoe UI"/>
              </a:rPr>
              <a:t>~26 connected services</a:t>
            </a:r>
            <a:r>
              <a:rPr sz="880" b="0" lang="en-US">
                <a:solidFill>
                  <a:srgbClr val="9AA8C8"/>
                </a:solidFill>
                <a:latin typeface="Segoe UI"/>
              </a:rPr>
              <a:t> — Kafka · ClickHouse · Redis · Postgres · MinIO · FastAPI control room · model serving · React console · Prometheus/Grafana — one command.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48472" y="3154680"/>
            <a:ext cx="31089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60" b="1" lang="en-US" spc="30">
                <a:solidFill>
                  <a:srgbClr val="6C7A9C"/>
                </a:solidFill>
                <a:latin typeface="Consolas"/>
              </a:rPr>
              <a:t>HONEST LEDGER — 149 build tasks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348472" y="3401568"/>
            <a:ext cx="2336936" cy="237744"/>
          </a:xfrm>
          <a:prstGeom prst="rect">
            <a:avLst/>
          </a:prstGeom>
          <a:solidFill>
            <a:srgbClr val="35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685408" y="3401568"/>
            <a:ext cx="417310" cy="237744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102718" y="3401568"/>
            <a:ext cx="354713" cy="237744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48472" y="3694176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1" lang="en-US">
                <a:solidFill>
                  <a:srgbClr val="35D399"/>
                </a:solidFill>
                <a:latin typeface="Consolas"/>
              </a:rPr>
              <a:t>112 REAL</a:t>
            </a:r>
            <a:r>
              <a:rPr sz="800" b="0" lang="en-US">
                <a:solidFill>
                  <a:srgbClr val="9AA8C8"/>
                </a:solidFill>
                <a:latin typeface="Segoe UI"/>
              </a:rPr>
              <a:t> · </a:t>
            </a:r>
            <a:r>
              <a:rPr sz="840" b="1" lang="en-US">
                <a:solidFill>
                  <a:srgbClr val="FFB020"/>
                </a:solidFill>
                <a:latin typeface="Consolas"/>
              </a:rPr>
              <a:t>20 SCAFFOLD</a:t>
            </a:r>
            <a:r>
              <a:rPr sz="800" b="0" lang="en-US">
                <a:solidFill>
                  <a:srgbClr val="9AA8C8"/>
                </a:solidFill>
                <a:latin typeface="Segoe UI"/>
              </a:rPr>
              <a:t> · </a:t>
            </a:r>
            <a:r>
              <a:rPr sz="840" b="1" lang="en-US">
                <a:solidFill>
                  <a:srgbClr val="9B8CFF"/>
                </a:solidFill>
                <a:latin typeface="Consolas"/>
              </a:rPr>
              <a:t>17 MOCK</a:t>
            </a:r>
            <a:r>
              <a:rPr sz="840" b="0" lang="en-US">
                <a:solidFill>
                  <a:srgbClr val="9AA8C8"/>
                </a:solidFill>
                <a:latin typeface="Segoe UI"/>
              </a:rPr>
              <a:t>  — every capability labelled, nothing oversold. Deterministic dataset: 118,518 events · 12 typologies · 14 fraud actors (seed 1405).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" y="4617720"/>
            <a:ext cx="11055096" cy="1572768"/>
          </a:xfrm>
          <a:prstGeom prst="roundRect">
            <a:avLst>
              <a:gd name="adj" fmla="val 4000"/>
            </a:avLst>
          </a:prstGeom>
          <a:solidFill>
            <a:srgbClr val="0F182B"/>
          </a:solidFill>
          <a:ln w="9525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473659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40">
                <a:solidFill>
                  <a:srgbClr val="EAF0FF"/>
                </a:solidFill>
                <a:latin typeface="Segoe UI Semibold"/>
              </a:rPr>
              <a:t>RIGOR BAKED IN — SAFETY &amp; DELIVERY DISCIPLINE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777240" y="5074920"/>
            <a:ext cx="0" cy="978408"/>
          </a:xfrm>
          <a:prstGeom prst="line">
            <a:avLst/>
          </a:prstGeom>
          <a:ln w="27940">
            <a:solidFill>
              <a:srgbClr val="3DD6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/>
          <p:cNvSpPr txBox="1"/>
          <p:nvPr/>
        </p:nvSpPr>
        <p:spPr>
          <a:xfrm>
            <a:off x="886968" y="5029200"/>
            <a:ext cx="2542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lang="en-US">
                <a:solidFill>
                  <a:srgbClr val="3DD6E8"/>
                </a:solidFill>
                <a:latin typeface="Segoe UI Semibold"/>
              </a:rPr>
              <a:t>Alert-only in code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6968" y="5321808"/>
            <a:ext cx="25420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0" b="0" lang="en-US">
                <a:solidFill>
                  <a:srgbClr val="9AA8C8"/>
                </a:solidFill>
                <a:latin typeface="Segoe UI"/>
              </a:rPr>
              <a:t>ml/design/alert_only_contract.py — API exposes only a human block-REQUEST; nothing auto-blocks or auto-classifies.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3511296" y="5074920"/>
            <a:ext cx="0" cy="978408"/>
          </a:xfrm>
          <a:prstGeom prst="line">
            <a:avLst/>
          </a:prstGeom>
          <a:ln w="27940">
            <a:solidFill>
              <a:srgbClr val="35D39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3621024" y="5029200"/>
            <a:ext cx="2542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lang="en-US">
                <a:solidFill>
                  <a:srgbClr val="35D399"/>
                </a:solidFill>
                <a:latin typeface="Segoe UI Semibold"/>
              </a:rPr>
              <a:t>Contestable + WORM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21024" y="5321808"/>
            <a:ext cx="25420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0" b="0" lang="en-US">
                <a:solidFill>
                  <a:srgbClr val="9AA8C8"/>
                </a:solidFill>
                <a:latin typeface="Segoe UI"/>
              </a:rPr>
              <a:t>reason-less alerts rejected (natural justice); every sensitive action &amp; unmask in a hash-chained WORM log — “watch the watchers.”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6245352" y="5074920"/>
            <a:ext cx="0" cy="978408"/>
          </a:xfrm>
          <a:prstGeom prst="line">
            <a:avLst/>
          </a:prstGeom>
          <a:ln w="27940">
            <a:solidFill>
              <a:srgbClr val="9B8CF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6355080" y="5029200"/>
            <a:ext cx="2542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lang="en-US">
                <a:solidFill>
                  <a:srgbClr val="9B8CFF"/>
                </a:solidFill>
                <a:latin typeface="Segoe UI Semibold"/>
              </a:rPr>
              <a:t>Fair by construction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55080" y="5321808"/>
            <a:ext cx="25420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0" b="0" lang="en-US">
                <a:solidFill>
                  <a:srgbClr val="9AA8C8"/>
                </a:solidFill>
                <a:latin typeface="Segoe UI"/>
              </a:rPr>
              <a:t>peer-relative scoring; protected attributes never used; the build FAILS if a fairness check trips.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8979408" y="5074920"/>
            <a:ext cx="0" cy="978408"/>
          </a:xfrm>
          <a:prstGeom prst="line">
            <a:avLst/>
          </a:prstGeom>
          <a:ln w="27940">
            <a:solidFill>
              <a:srgbClr val="FF4D5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/>
          <p:cNvSpPr txBox="1"/>
          <p:nvPr/>
        </p:nvSpPr>
        <p:spPr>
          <a:xfrm>
            <a:off x="9089136" y="5029200"/>
            <a:ext cx="25420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lang="en-US">
                <a:solidFill>
                  <a:srgbClr val="FF4D5E"/>
                </a:solidFill>
                <a:latin typeface="Segoe UI Semibold"/>
              </a:rPr>
              <a:t>Red-team gates CI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89136" y="5321808"/>
            <a:ext cx="2542032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10" b="0" lang="en-US">
                <a:solidFill>
                  <a:srgbClr val="9AA8C8"/>
                </a:solidFill>
                <a:latin typeface="Segoe UI"/>
              </a:rPr>
              <a:t>suite actively tries to break alert-only, leak secrets, bypass RBAC/SoD — and gates the build.</a:t>
            </a:r>
          </a:p>
        </p:txBody>
      </p:sp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whole"/>
      <p:bldP spid="18" grpId="0" build="whole"/>
      <p:bldP spid="39" grpId="0" build="whole"/>
      <p:bldP spid="47" grpId="0" build="whole"/>
    </p:bld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160">
                <a:solidFill>
                  <a:srgbClr val="3B82F6"/>
                </a:solidFill>
                <a:latin typeface="Consolas"/>
              </a:rPr>
              <a:t>SECURITY, SCALABILITY &amp; ENTERPRISE READINESS (20%) · DATA, PRIVACY &amp; ACCESS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lang="en-US">
                <a:solidFill>
                  <a:srgbClr val="EAF0FF"/>
                </a:solidFill>
                <a:latin typeface="Segoe UI Semibold"/>
              </a:rPr>
              <a:t>Secure and private by design — least-privilege everywhere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28232"/>
            <a:ext cx="11094415" cy="0"/>
          </a:xfrm>
          <a:prstGeom prst="line">
            <a:avLst/>
          </a:prstGeom>
          <a:ln w="12700">
            <a:solidFill>
              <a:srgbClr val="1B27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lang="en-US" spc="30">
                <a:solidFill>
                  <a:srgbClr val="6C7A9C"/>
                </a:solidFill>
                <a:latin typeface="Segoe UI"/>
              </a:rPr>
              <a:t>HAWK-EYE  ·  Team NINEAGENTS  ·  iDEA 2.0 · PSBs Hackathon Series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 lang="en-US" spc="100">
                <a:solidFill>
                  <a:srgbClr val="3B82F6"/>
                </a:solidFill>
                <a:latin typeface="Consolas"/>
              </a:rPr>
              <a:t>07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83080"/>
            <a:ext cx="3611880" cy="4343400"/>
          </a:xfrm>
          <a:prstGeom prst="roundRect">
            <a:avLst>
              <a:gd name="adj" fmla="val 4000"/>
            </a:avLst>
          </a:prstGeom>
          <a:solidFill>
            <a:srgbClr val="121B30"/>
          </a:solidFill>
          <a:ln w="9525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1783080"/>
            <a:ext cx="3611880" cy="45720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057400"/>
            <a:ext cx="3611880" cy="201168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801368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lang="en-US" spc="40">
                <a:solidFill>
                  <a:srgbClr val="0A0E1A"/>
                </a:solidFill>
                <a:latin typeface="Segoe UI Semibold"/>
              </a:rPr>
              <a:t>SECURITY &amp; ACCESS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386584"/>
            <a:ext cx="33009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1" lang="en-US">
                <a:solidFill>
                  <a:srgbClr val="3B82F6"/>
                </a:solidFill>
                <a:latin typeface="Segoe UI Semibold"/>
              </a:rPr>
              <a:t>RBAC + Separation of Duties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33472"/>
            <a:ext cx="33009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 lang="en-US">
                <a:solidFill>
                  <a:srgbClr val="9AA8C8"/>
                </a:solidFill>
                <a:latin typeface="Segoe UI"/>
              </a:rPr>
              <a:t>Role-gated (analyst/compliance/auditor/model-eng/admin). Whoever builds models can't label data or close their own alerts.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300984"/>
            <a:ext cx="33009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1" lang="en-US">
                <a:solidFill>
                  <a:srgbClr val="3B82F6"/>
                </a:solidFill>
                <a:latin typeface="Segoe UI Semibold"/>
              </a:rPr>
              <a:t>Secrets: HSM / Vault + mTLS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547872"/>
            <a:ext cx="33009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 lang="en-US">
                <a:solidFill>
                  <a:srgbClr val="9AA8C8"/>
                </a:solidFill>
                <a:latin typeface="Segoe UI"/>
              </a:rPr>
              <a:t>Secrets in Vault/HSM, injected at runtime — never in code. mTLS between services; OPA/Conftest gates in CI.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15383"/>
            <a:ext cx="33009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1" lang="en-US">
                <a:solidFill>
                  <a:srgbClr val="3B82F6"/>
                </a:solidFill>
                <a:latin typeface="Segoe UI Semibold"/>
              </a:rPr>
              <a:t>Tamper-evident 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462271"/>
            <a:ext cx="33009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 lang="en-US">
                <a:solidFill>
                  <a:srgbClr val="9AA8C8"/>
                </a:solidFill>
                <a:latin typeface="Segoe UI"/>
              </a:rPr>
              <a:t>Hash-chained WORM of every sensitive action &amp; PII unmask — edits detectable. “Watch the watchers.”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29783"/>
            <a:ext cx="33009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1" lang="en-US">
                <a:solidFill>
                  <a:srgbClr val="3B82F6"/>
                </a:solidFill>
                <a:latin typeface="Segoe UI Semibold"/>
              </a:rPr>
              <a:t>Threat model + red-team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76671"/>
            <a:ext cx="33009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 lang="en-US">
                <a:solidFill>
                  <a:srgbClr val="9AA8C8"/>
                </a:solidFill>
                <a:latin typeface="Segoe UI"/>
              </a:rPr>
              <a:t>Documented threat model, admin-access policy, framework mapping; adversarial red-team gates the build.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97680" y="1783080"/>
            <a:ext cx="3611880" cy="4343400"/>
          </a:xfrm>
          <a:prstGeom prst="roundRect">
            <a:avLst>
              <a:gd name="adj" fmla="val 4000"/>
            </a:avLst>
          </a:prstGeom>
          <a:solidFill>
            <a:srgbClr val="121B30"/>
          </a:solidFill>
          <a:ln w="9525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4297680" y="1783080"/>
            <a:ext cx="3611880" cy="457200"/>
          </a:xfrm>
          <a:prstGeom prst="roundRect">
            <a:avLst>
              <a:gd name="adj" fmla="val 8000"/>
            </a:avLst>
          </a:prstGeom>
          <a:solidFill>
            <a:srgbClr val="35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297680" y="2057400"/>
            <a:ext cx="3611880" cy="201168"/>
          </a:xfrm>
          <a:prstGeom prst="rect">
            <a:avLst/>
          </a:prstGeom>
          <a:solidFill>
            <a:srgbClr val="35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1801368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lang="en-US" spc="40">
                <a:solidFill>
                  <a:srgbClr val="0A0E1A"/>
                </a:solidFill>
                <a:latin typeface="Segoe UI Semibold"/>
              </a:rPr>
              <a:t>PRIVACY &amp; DATA GOVERNANCE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62272" y="2386584"/>
            <a:ext cx="33009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1" lang="en-US">
                <a:solidFill>
                  <a:srgbClr val="35D399"/>
                </a:solidFill>
                <a:latin typeface="Segoe UI Semibold"/>
              </a:rPr>
              <a:t>Canonical L0 event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2272" y="2633472"/>
            <a:ext cx="33009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 lang="en-US">
                <a:solidFill>
                  <a:srgbClr val="9AA8C8"/>
                </a:solidFill>
                <a:latin typeface="Segoe UI"/>
              </a:rPr>
              <a:t>Every action from any source (CBS, SWIFT, PAM, IGA, HR) → ONE common JSON event. Connectors slot in behind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3300984"/>
            <a:ext cx="33009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1" lang="en-US">
                <a:solidFill>
                  <a:srgbClr val="35D399"/>
                </a:solidFill>
                <a:latin typeface="Segoe UI Semibold"/>
              </a:rPr>
              <a:t>Synthetic-only, on-prem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62272" y="3547872"/>
            <a:ext cx="33009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 lang="en-US">
                <a:solidFill>
                  <a:srgbClr val="9AA8C8"/>
                </a:solidFill>
                <a:latin typeface="Segoe UI"/>
              </a:rPr>
              <a:t>Runs locally on synthetic + public data — no real people/money/cloud secrets. Keys injected at runtime.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62272" y="4215383"/>
            <a:ext cx="33009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1" lang="en-US">
                <a:solidFill>
                  <a:srgbClr val="35D399"/>
                </a:solidFill>
                <a:latin typeface="Segoe UI Semibold"/>
              </a:rPr>
              <a:t>PII tokenization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62272" y="4462271"/>
            <a:ext cx="33009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 lang="en-US">
                <a:solidFill>
                  <a:srgbClr val="9AA8C8"/>
                </a:solidFill>
                <a:latin typeface="Segoe UI"/>
              </a:rPr>
              <a:t>Identifiers → safe tokens (EMP-7f3a) before anything leaves the perimeter; unmask is RBAC-gated + audited.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2272" y="5129783"/>
            <a:ext cx="33009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1" lang="en-US">
                <a:solidFill>
                  <a:srgbClr val="35D399"/>
                </a:solidFill>
                <a:latin typeface="Segoe UI Semibold"/>
              </a:rPr>
              <a:t>DPDP + RBI retention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2272" y="5376671"/>
            <a:ext cx="33009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 lang="en-US">
                <a:solidFill>
                  <a:srgbClr val="9AA8C8"/>
                </a:solidFill>
                <a:latin typeface="Segoe UI"/>
              </a:rPr>
              <a:t>Retention/archival tiering to DPDP + RBI windows; lineage + MDM staff entity-resolution across merged CBS/AD/HR/IAM.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028431" y="1783080"/>
            <a:ext cx="3611880" cy="4343400"/>
          </a:xfrm>
          <a:prstGeom prst="roundRect">
            <a:avLst>
              <a:gd name="adj" fmla="val 4000"/>
            </a:avLst>
          </a:prstGeom>
          <a:solidFill>
            <a:srgbClr val="121B30"/>
          </a:solidFill>
          <a:ln w="9525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028431" y="1783080"/>
            <a:ext cx="3611880" cy="457200"/>
          </a:xfrm>
          <a:prstGeom prst="roundRect">
            <a:avLst>
              <a:gd name="adj" fmla="val 8000"/>
            </a:avLst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28431" y="2057400"/>
            <a:ext cx="3611880" cy="201168"/>
          </a:xfrm>
          <a:prstGeom prst="rect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28431" y="1801368"/>
            <a:ext cx="361188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100" b="1" lang="en-US" spc="40">
                <a:solidFill>
                  <a:srgbClr val="0A0E1A"/>
                </a:solidFill>
                <a:latin typeface="Segoe UI Semibold"/>
              </a:rPr>
              <a:t>PROPORTIONALITY &amp; FAIRNESS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93023" y="2386584"/>
            <a:ext cx="33009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1" lang="en-US">
                <a:solidFill>
                  <a:srgbClr val="9B8CFF"/>
                </a:solidFill>
                <a:latin typeface="Segoe UI Semibold"/>
              </a:rPr>
              <a:t>It watches STAFF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93023" y="2633472"/>
            <a:ext cx="33009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 lang="en-US">
                <a:solidFill>
                  <a:srgbClr val="9AA8C8"/>
                </a:solidFill>
                <a:latin typeface="Segoe UI"/>
              </a:rPr>
              <a:t>Treated as a legal/cultural matter — not just technical. Transparency with staff / works-council / HR / legal.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93023" y="3300984"/>
            <a:ext cx="33009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1" lang="en-US">
                <a:solidFill>
                  <a:srgbClr val="9B8CFF"/>
                </a:solidFill>
                <a:latin typeface="Segoe UI Semibold"/>
              </a:rPr>
              <a:t>Proportionality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193023" y="3547872"/>
            <a:ext cx="33009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 lang="en-US">
                <a:solidFill>
                  <a:srgbClr val="9AA8C8"/>
                </a:solidFill>
                <a:latin typeface="Segoe UI"/>
              </a:rPr>
              <a:t>Only risk-relevant signals are used, not everything monitored.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93023" y="4215383"/>
            <a:ext cx="33009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1" lang="en-US">
                <a:solidFill>
                  <a:srgbClr val="9B8CFF"/>
                </a:solidFill>
                <a:latin typeface="Segoe UI Semibold"/>
              </a:rPr>
              <a:t>Fairness testing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93023" y="4462271"/>
            <a:ext cx="33009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 lang="en-US">
                <a:solidFill>
                  <a:srgbClr val="9AA8C8"/>
                </a:solidFill>
                <a:latin typeface="Segoe UI"/>
              </a:rPr>
              <a:t>Protected attributes never used; peer-relative scoring; human-in-the-loop before any classification.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193023" y="5129783"/>
            <a:ext cx="3300984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60" b="1" lang="en-US">
                <a:solidFill>
                  <a:srgbClr val="9B8CFF"/>
                </a:solidFill>
                <a:latin typeface="Segoe UI Semibold"/>
              </a:rPr>
              <a:t>TEE-attested AI narrative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3023" y="5376671"/>
            <a:ext cx="330098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0" lang="en-US">
                <a:solidFill>
                  <a:srgbClr val="9AA8C8"/>
                </a:solidFill>
                <a:latin typeface="Segoe UI"/>
              </a:rPr>
              <a:t>Runs in a Trusted Execution Environment — names tokenized; the model provider cannot read the data.</a:t>
            </a:r>
          </a:p>
        </p:txBody>
      </p:sp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whole"/>
      <p:bldP spid="21" grpId="0" build="whole"/>
      <p:bldP spid="33" grpId="0" build="whole"/>
    </p:bld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160">
                <a:solidFill>
                  <a:srgbClr val="FFB020"/>
                </a:solidFill>
                <a:latin typeface="Consolas"/>
              </a:rPr>
              <a:t>SECURITY, SCALABILITY &amp; ENTERPRISE READINESS (20%) · SCALE · DEPLOYMENT ·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lang="en-US">
                <a:solidFill>
                  <a:srgbClr val="EAF0FF"/>
                </a:solidFill>
                <a:latin typeface="Segoe UI Semibold"/>
              </a:rPr>
              <a:t>Built for PSB scale — on-prem deployable, RBI-compliant, integration-ready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28232"/>
            <a:ext cx="11094415" cy="0"/>
          </a:xfrm>
          <a:prstGeom prst="line">
            <a:avLst/>
          </a:prstGeom>
          <a:ln w="12700">
            <a:solidFill>
              <a:srgbClr val="1B27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lang="en-US" spc="30">
                <a:solidFill>
                  <a:srgbClr val="6C7A9C"/>
                </a:solidFill>
                <a:latin typeface="Segoe UI"/>
              </a:rPr>
              <a:t>HAWK-EYE  ·  Team NINEAGENTS  ·  iDEA 2.0 · PSBs Hackathon Series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 lang="en-US" spc="100">
                <a:solidFill>
                  <a:srgbClr val="FFB020"/>
                </a:solidFill>
                <a:latin typeface="Consolas"/>
              </a:rPr>
              <a:t>08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37360"/>
            <a:ext cx="11055096" cy="1298448"/>
          </a:xfrm>
          <a:prstGeom prst="roundRect">
            <a:avLst>
              <a:gd name="adj" fmla="val 4000"/>
            </a:avLst>
          </a:prstGeom>
          <a:solidFill>
            <a:srgbClr val="121B30"/>
          </a:solidFill>
          <a:ln w="9525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47088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30">
                <a:solidFill>
                  <a:srgbClr val="FFB020"/>
                </a:solidFill>
                <a:latin typeface="Segoe UI Semibold"/>
              </a:rPr>
              <a:t>SCALES ON THE AXES THAT MATTER  —  8,000+ branches · thousands of privileged 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176272"/>
            <a:ext cx="5394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FFB020"/>
                </a:solidFill>
                <a:latin typeface="Segoe UI"/>
              </a:rPr>
              <a:t>▸ </a:t>
            </a:r>
            <a:r>
              <a:rPr sz="860" b="0" lang="en-US">
                <a:solidFill>
                  <a:srgbClr val="9AA8C8"/>
                </a:solidFill>
                <a:latin typeface="Segoe UI"/>
              </a:rPr>
              <a:t>Streaming ingest on Kafka — fast lane scores event→alert in seconds; horizontally-scalable consumers.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2176272"/>
            <a:ext cx="5394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FFB020"/>
                </a:solidFill>
                <a:latin typeface="Segoe UI"/>
              </a:rPr>
              <a:t>▸ </a:t>
            </a:r>
            <a:r>
              <a:rPr sz="860" b="0" lang="en-US">
                <a:solidFill>
                  <a:srgbClr val="9AA8C8"/>
                </a:solidFill>
                <a:latin typeface="Segoe UI"/>
              </a:rPr>
              <a:t>ClickHouse columnar store for high-volume privileged-action events; Redis hot features.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487168"/>
            <a:ext cx="5394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FFB020"/>
                </a:solidFill>
                <a:latin typeface="Segoe UI"/>
              </a:rPr>
              <a:t>▸ </a:t>
            </a:r>
            <a:r>
              <a:rPr sz="860" b="0" lang="en-US">
                <a:solidFill>
                  <a:srgbClr val="9AA8C8"/>
                </a:solidFill>
                <a:latin typeface="Segoe UI"/>
              </a:rPr>
              <a:t>~26 services · Kubernetes + ArgoCD + HA topology for horizontal scale &amp; rollout.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487168"/>
            <a:ext cx="53949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FFB020"/>
                </a:solidFill>
                <a:latin typeface="Segoe UI"/>
              </a:rPr>
              <a:t>▸ </a:t>
            </a:r>
            <a:r>
              <a:rPr sz="860" b="0" lang="en-US">
                <a:solidFill>
                  <a:srgbClr val="9AA8C8"/>
                </a:solidFill>
                <a:latin typeface="Segoe UI"/>
              </a:rPr>
              <a:t>Per-entity/peer baselines + alert budgeting + one-alert-per-entity — investigators never buried.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779776"/>
            <a:ext cx="10698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1" lang="en-US">
                <a:solidFill>
                  <a:srgbClr val="3DD6E8"/>
                </a:solidFill>
                <a:latin typeface="Segoe UI"/>
              </a:rPr>
              <a:t>Sized for 360M events/day · 12,500 events/s peak → 3 Kafka brokers (RF3) · 1 Flink · 1 ClickHouse ×2.  ~$480/mo Lightsail pilot → ~$2,400/mo full AWS VPC.  ONNX serving.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00400"/>
            <a:ext cx="3611880" cy="2999232"/>
          </a:xfrm>
          <a:prstGeom prst="roundRect">
            <a:avLst>
              <a:gd name="adj" fmla="val 4000"/>
            </a:avLst>
          </a:prstGeom>
          <a:solidFill>
            <a:srgbClr val="0F182B"/>
          </a:solidFill>
          <a:ln w="9525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3200400"/>
            <a:ext cx="82296" cy="299923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3328416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30">
                <a:solidFill>
                  <a:srgbClr val="3B82F6"/>
                </a:solidFill>
                <a:latin typeface="Segoe UI Semibold"/>
              </a:rPr>
              <a:t>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36576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3B82F6"/>
                </a:solidFill>
                <a:latin typeface="Segoe UI"/>
              </a:rPr>
              <a:t>•  </a:t>
            </a:r>
            <a:r>
              <a:rPr sz="860" b="0" lang="en-US">
                <a:solidFill>
                  <a:srgbClr val="9AA8C8"/>
                </a:solidFill>
                <a:latin typeface="Segoe UI"/>
              </a:rPr>
              <a:t>Docker Compose → Kubernetes + ArgoCD + Terraform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402336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3B82F6"/>
                </a:solidFill>
                <a:latin typeface="Segoe UI"/>
              </a:rPr>
              <a:t>•  </a:t>
            </a:r>
            <a:r>
              <a:rPr sz="860" b="0" lang="en-US">
                <a:solidFill>
                  <a:srgbClr val="9AA8C8"/>
                </a:solidFill>
                <a:latin typeface="Segoe UI"/>
              </a:rPr>
              <a:t>Lightsail pilot recipe (DEPLOY_LIGHTSAIL.md)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8096" y="438912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3B82F6"/>
                </a:solidFill>
                <a:latin typeface="Segoe UI"/>
              </a:rPr>
              <a:t>•  </a:t>
            </a:r>
            <a:r>
              <a:rPr sz="860" b="0" lang="en-US">
                <a:solidFill>
                  <a:srgbClr val="9AA8C8"/>
                </a:solidFill>
                <a:latin typeface="Segoe UI"/>
              </a:rPr>
              <a:t>OPA / Conftest policy gates in CI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475488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3B82F6"/>
                </a:solidFill>
                <a:latin typeface="Segoe UI"/>
              </a:rPr>
              <a:t>•  </a:t>
            </a:r>
            <a:r>
              <a:rPr sz="860" b="0" lang="en-US">
                <a:solidFill>
                  <a:srgbClr val="9AA8C8"/>
                </a:solidFill>
                <a:latin typeface="Segoe UI"/>
              </a:rPr>
              <a:t>On-prem, India data-residency by design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512064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3B82F6"/>
                </a:solidFill>
                <a:latin typeface="Segoe UI"/>
              </a:rPr>
              <a:t>•  </a:t>
            </a:r>
            <a:r>
              <a:rPr sz="860" b="0" lang="en-US">
                <a:solidFill>
                  <a:srgbClr val="9AA8C8"/>
                </a:solidFill>
                <a:latin typeface="Segoe UI"/>
              </a:rPr>
              <a:t>HA · HSM/Vault · mTLS · secrets at runtime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54864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3B82F6"/>
                </a:solidFill>
                <a:latin typeface="Segoe UI"/>
              </a:rPr>
              <a:t>•  </a:t>
            </a:r>
            <a:r>
              <a:rPr sz="860" b="0" lang="en-US">
                <a:solidFill>
                  <a:srgbClr val="9AA8C8"/>
                </a:solidFill>
                <a:latin typeface="Segoe UI"/>
              </a:rPr>
              <a:t>Versioned BOM (deploy/versions.bom.yaml)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297680" y="3200400"/>
            <a:ext cx="3611880" cy="2999232"/>
          </a:xfrm>
          <a:prstGeom prst="roundRect">
            <a:avLst>
              <a:gd name="adj" fmla="val 4000"/>
            </a:avLst>
          </a:prstGeom>
          <a:solidFill>
            <a:srgbClr val="0F182B"/>
          </a:solidFill>
          <a:ln w="9525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80" y="3200400"/>
            <a:ext cx="82296" cy="2999232"/>
          </a:xfrm>
          <a:prstGeom prst="rect">
            <a:avLst/>
          </a:prstGeom>
          <a:solidFill>
            <a:srgbClr val="35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98848" y="3328416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30">
                <a:solidFill>
                  <a:srgbClr val="35D399"/>
                </a:solidFill>
                <a:latin typeface="Segoe UI Semibold"/>
              </a:rPr>
              <a:t>BANKING INTEGRATION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98848" y="36576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35D399"/>
                </a:solidFill>
                <a:latin typeface="Segoe UI"/>
              </a:rPr>
              <a:t>•  </a:t>
            </a:r>
            <a:r>
              <a:rPr sz="860" b="0" lang="en-US">
                <a:solidFill>
                  <a:srgbClr val="9AA8C8"/>
                </a:solidFill>
                <a:latin typeface="Segoe UI"/>
              </a:rPr>
              <a:t>Canonical L0 event = ONE connector interface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98848" y="402336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35D399"/>
                </a:solidFill>
                <a:latin typeface="Segoe UI"/>
              </a:rPr>
              <a:t>•  </a:t>
            </a:r>
            <a:r>
              <a:rPr sz="860" b="0" lang="en-US">
                <a:solidFill>
                  <a:srgbClr val="9AA8C8"/>
                </a:solidFill>
                <a:latin typeface="Segoe UI"/>
              </a:rPr>
              <a:t>Core banking (Finacle) · SWIFT / treasury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98848" y="438912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35D399"/>
                </a:solidFill>
                <a:latin typeface="Segoe UI"/>
              </a:rPr>
              <a:t>•  </a:t>
            </a:r>
            <a:r>
              <a:rPr sz="860" b="0" lang="en-US">
                <a:solidFill>
                  <a:srgbClr val="9AA8C8"/>
                </a:solidFill>
                <a:latin typeface="Segoe UI"/>
              </a:rPr>
              <a:t>PAM (CyberArk / BeyondTrust) session content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98848" y="475488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35D399"/>
                </a:solidFill>
                <a:latin typeface="Segoe UI"/>
              </a:rPr>
              <a:t>•  </a:t>
            </a:r>
            <a:r>
              <a:rPr sz="860" b="0" lang="en-US">
                <a:solidFill>
                  <a:srgbClr val="9AA8C8"/>
                </a:solidFill>
                <a:latin typeface="Segoe UI"/>
              </a:rPr>
              <a:t>IGA / IAM entitlements · HR / JML events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98848" y="512064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35D399"/>
                </a:solidFill>
                <a:latin typeface="Segoe UI"/>
              </a:rPr>
              <a:t>•  </a:t>
            </a:r>
            <a:r>
              <a:rPr sz="860" b="0" lang="en-US">
                <a:solidFill>
                  <a:srgbClr val="9AA8C8"/>
                </a:solidFill>
                <a:latin typeface="Segoe UI"/>
              </a:rPr>
              <a:t>SWIFT ↔ CBS reconciliation (the PNB seam)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98848" y="54864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35D399"/>
                </a:solidFill>
                <a:latin typeface="Segoe UI"/>
              </a:rPr>
              <a:t>•  </a:t>
            </a:r>
            <a:r>
              <a:rPr sz="860" b="0" lang="en-US">
                <a:solidFill>
                  <a:srgbClr val="9AA8C8"/>
                </a:solidFill>
                <a:latin typeface="Segoe UI"/>
              </a:rPr>
              <a:t>Connectors are SCAFFOLD until creds wired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28431" y="3200400"/>
            <a:ext cx="3611880" cy="2999232"/>
          </a:xfrm>
          <a:prstGeom prst="roundRect">
            <a:avLst>
              <a:gd name="adj" fmla="val 4000"/>
            </a:avLst>
          </a:prstGeom>
          <a:solidFill>
            <a:srgbClr val="0F182B"/>
          </a:solidFill>
          <a:ln w="9525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028431" y="3200400"/>
            <a:ext cx="82296" cy="2999232"/>
          </a:xfrm>
          <a:prstGeom prst="rect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29600" y="3328416"/>
            <a:ext cx="3246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30">
                <a:solidFill>
                  <a:srgbClr val="FFB020"/>
                </a:solidFill>
                <a:latin typeface="Segoe UI Semibold"/>
              </a:rPr>
              <a:t>RBI COMPLIANCE WRAPPER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0" y="36576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FFB020"/>
                </a:solidFill>
                <a:latin typeface="Segoe UI"/>
              </a:rPr>
              <a:t>•  </a:t>
            </a:r>
            <a:r>
              <a:rPr sz="860" b="0" lang="en-US">
                <a:solidFill>
                  <a:srgbClr val="9AA8C8"/>
                </a:solidFill>
                <a:latin typeface="Segoe UI"/>
              </a:rPr>
              <a:t>RFA lifecycle state machine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02336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FFB020"/>
                </a:solidFill>
                <a:latin typeface="Segoe UI"/>
              </a:rPr>
              <a:t>•  </a:t>
            </a:r>
            <a:r>
              <a:rPr sz="860" b="0" lang="en-US">
                <a:solidFill>
                  <a:srgbClr val="9AA8C8"/>
                </a:solidFill>
                <a:latin typeface="Segoe UI"/>
              </a:rPr>
              <a:t>Staff-accountability (6-month clock)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438912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FFB020"/>
                </a:solidFill>
                <a:latin typeface="Segoe UI"/>
              </a:rPr>
              <a:t>•  </a:t>
            </a:r>
            <a:r>
              <a:rPr sz="860" b="0" lang="en-US">
                <a:solidFill>
                  <a:srgbClr val="9AA8C8"/>
                </a:solidFill>
                <a:latin typeface="Segoe UI"/>
              </a:rPr>
              <a:t>FMR + Central Fraud Registry generation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475488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FFB020"/>
                </a:solidFill>
                <a:latin typeface="Segoe UI"/>
              </a:rPr>
              <a:t>•  </a:t>
            </a:r>
            <a:r>
              <a:rPr sz="860" b="0" lang="en-US">
                <a:solidFill>
                  <a:srgbClr val="9AA8C8"/>
                </a:solidFill>
                <a:latin typeface="Segoe UI"/>
              </a:rPr>
              <a:t>FREE-AI model governance + kill-switch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0" y="512064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FFB020"/>
                </a:solidFill>
                <a:latin typeface="Segoe UI"/>
              </a:rPr>
              <a:t>•  </a:t>
            </a:r>
            <a:r>
              <a:rPr sz="860" b="0" lang="en-US">
                <a:solidFill>
                  <a:srgbClr val="9AA8C8"/>
                </a:solidFill>
                <a:latin typeface="Segoe UI"/>
              </a:rPr>
              <a:t>MRMF 7-dimension model validation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0" y="5486400"/>
            <a:ext cx="3246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1" lang="en-US">
                <a:solidFill>
                  <a:srgbClr val="FFB020"/>
                </a:solidFill>
                <a:latin typeface="Segoe UI"/>
              </a:rPr>
              <a:t>•  </a:t>
            </a:r>
            <a:r>
              <a:rPr sz="860" b="0" lang="en-US">
                <a:solidFill>
                  <a:srgbClr val="9AA8C8"/>
                </a:solidFill>
                <a:latin typeface="Segoe UI"/>
              </a:rPr>
              <a:t>MLflow registry · Ed25519 signing · model cards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6272784"/>
            <a:ext cx="11055096" cy="0"/>
          </a:xfrm>
          <a:prstGeom prst="roundRect">
            <a:avLst>
              <a:gd name="adj" fmla="val 6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6245352"/>
            <a:ext cx="11064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19" b="1" lang="en-US" spc="20">
                <a:solidFill>
                  <a:srgbClr val="6C7A9C"/>
                </a:solidFill>
                <a:latin typeface="Consolas"/>
              </a:rPr>
              <a:t>WINDOWS:  CRILC ₹3 Cr / 7-day / 180-day  ·  RBI TAT ≤30d  ·  CERT-In 6h  ·  DPDP ≤ ₹250 Cr  ·  go-live gate 17/17 GO  ·  IS-audit insider-control evidence pack</a:t>
            </a:r>
          </a:p>
        </p:txBody>
      </p:sp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whole"/>
      <p:bldP spid="16" grpId="0" build="whole"/>
      <p:bldP spid="25" grpId="0" build="whole"/>
      <p:bldP spid="34" grpId="0" build="whole"/>
    </p:bld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5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160">
                <a:solidFill>
                  <a:srgbClr val="35D399"/>
                </a:solidFill>
                <a:latin typeface="Consolas"/>
              </a:rPr>
              <a:t>SOLUTION EXECUTION &amp; DEMO (15%) · END-TO-END DEMO &amp; INVESTIGATOR 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lang="en-US">
                <a:solidFill>
                  <a:srgbClr val="EAF0FF"/>
                </a:solidFill>
                <a:latin typeface="Segoe UI Semibold"/>
              </a:rPr>
              <a:t>See it work — from one command to the full console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28232"/>
            <a:ext cx="11094415" cy="0"/>
          </a:xfrm>
          <a:prstGeom prst="line">
            <a:avLst/>
          </a:prstGeom>
          <a:ln w="12700">
            <a:solidFill>
              <a:srgbClr val="1B27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lang="en-US" spc="30">
                <a:solidFill>
                  <a:srgbClr val="6C7A9C"/>
                </a:solidFill>
                <a:latin typeface="Segoe UI"/>
              </a:rPr>
              <a:t>HAWK-EYE  ·  Team NINEAGENTS  ·  iDEA 2.0 · PSBs Hackathon Series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 lang="en-US" spc="100">
                <a:solidFill>
                  <a:srgbClr val="35D399"/>
                </a:solidFill>
                <a:latin typeface="Consolas"/>
              </a:rPr>
              <a:t>09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83080"/>
            <a:ext cx="6766560" cy="667512"/>
          </a:xfrm>
          <a:prstGeom prst="roundRect">
            <a:avLst>
              <a:gd name="adj" fmla="val 6000"/>
            </a:avLst>
          </a:prstGeom>
          <a:solidFill>
            <a:srgbClr val="121B30"/>
          </a:solidFill>
          <a:ln w="9525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1947672"/>
            <a:ext cx="347472" cy="347472"/>
          </a:xfrm>
          <a:prstGeom prst="ellipse">
            <a:avLst/>
          </a:prstGeom>
          <a:solidFill>
            <a:srgbClr val="35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938528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lang="en-US">
                <a:solidFill>
                  <a:srgbClr val="0A0E1A"/>
                </a:solidFill>
                <a:latin typeface="Segoe UI Black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1874519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lang="en-US" spc="0">
                <a:solidFill>
                  <a:srgbClr val="35D399"/>
                </a:solidFill>
                <a:latin typeface="Consolas"/>
              </a:rPr>
              <a:t>python -m ml.demo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2130552"/>
            <a:ext cx="5989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 lang="en-US">
                <a:solidFill>
                  <a:srgbClr val="9AA8C8"/>
                </a:solidFill>
                <a:latin typeface="Segoe UI"/>
              </a:rPr>
              <a:t>Synthetic fraud burst → L0→L2→L3→L5→L6 → a RISK 100/100 critical alert with reason codes + narrative, contestable &amp; reproducible.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542032"/>
            <a:ext cx="6766560" cy="667512"/>
          </a:xfrm>
          <a:prstGeom prst="roundRect">
            <a:avLst>
              <a:gd name="adj" fmla="val 6000"/>
            </a:avLst>
          </a:prstGeom>
          <a:solidFill>
            <a:srgbClr val="121B30"/>
          </a:solidFill>
          <a:ln w="9525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2706624"/>
            <a:ext cx="347472" cy="347472"/>
          </a:xfrm>
          <a:prstGeom prst="ellipse">
            <a:avLst/>
          </a:prstGeom>
          <a:solidFill>
            <a:srgbClr val="3D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697479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lang="en-US">
                <a:solidFill>
                  <a:srgbClr val="0A0E1A"/>
                </a:solidFill>
                <a:latin typeface="Segoe UI Black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2633472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lang="en-US" spc="0">
                <a:solidFill>
                  <a:srgbClr val="3DD6E8"/>
                </a:solidFill>
                <a:latin typeface="Consolas"/>
              </a:rPr>
              <a:t>npm run dev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889503"/>
            <a:ext cx="5989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 lang="en-US">
                <a:solidFill>
                  <a:srgbClr val="9AA8C8"/>
                </a:solidFill>
                <a:latin typeface="Segoe UI"/>
              </a:rPr>
              <a:t>The investigator console on built-in mock data: triage queue, entity-360, explanation panel (SHAP + narrative + graph), review actions.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300984"/>
            <a:ext cx="6766560" cy="667512"/>
          </a:xfrm>
          <a:prstGeom prst="roundRect">
            <a:avLst>
              <a:gd name="adj" fmla="val 6000"/>
            </a:avLst>
          </a:prstGeom>
          <a:solidFill>
            <a:srgbClr val="121B30"/>
          </a:solidFill>
          <a:ln w="9525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1520" y="3465576"/>
            <a:ext cx="347472" cy="34747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456432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lang="en-US">
                <a:solidFill>
                  <a:srgbClr val="0A0E1A"/>
                </a:solidFill>
                <a:latin typeface="Segoe UI Black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392424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lang="en-US" spc="0">
                <a:solidFill>
                  <a:srgbClr val="3B82F6"/>
                </a:solidFill>
                <a:latin typeface="Consolas"/>
              </a:rPr>
              <a:t>python backend/run_api.py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34440" y="3648456"/>
            <a:ext cx="5989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 lang="en-US">
                <a:solidFill>
                  <a:srgbClr val="9AA8C8"/>
                </a:solidFill>
                <a:latin typeface="Segoe UI"/>
              </a:rPr>
              <a:t>API + interactive docs at /api/v1/docs; log in as synthetic analyst / compliance / auditor; ranked queue, alert detail, EDD verdict, reports.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059935"/>
            <a:ext cx="6766560" cy="667512"/>
          </a:xfrm>
          <a:prstGeom prst="roundRect">
            <a:avLst>
              <a:gd name="adj" fmla="val 6000"/>
            </a:avLst>
          </a:prstGeom>
          <a:solidFill>
            <a:srgbClr val="121B30"/>
          </a:solidFill>
          <a:ln w="9525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31520" y="4224527"/>
            <a:ext cx="347472" cy="347472"/>
          </a:xfrm>
          <a:prstGeom prst="ellipse">
            <a:avLst/>
          </a:prstGeom>
          <a:solidFill>
            <a:srgbClr val="FFB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215383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lang="en-US">
                <a:solidFill>
                  <a:srgbClr val="0A0E1A"/>
                </a:solidFill>
                <a:latin typeface="Segoe UI Black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34440" y="4151375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lang="en-US" spc="0">
                <a:solidFill>
                  <a:srgbClr val="FFB020"/>
                </a:solidFill>
                <a:latin typeface="Consolas"/>
              </a:rPr>
              <a:t>make up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34440" y="4407407"/>
            <a:ext cx="5989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 lang="en-US">
                <a:solidFill>
                  <a:srgbClr val="9AA8C8"/>
                </a:solidFill>
                <a:latin typeface="Segoe UI"/>
              </a:rPr>
              <a:t>The whole ~26-service stack — Kafka, ClickHouse, Redis, Postgres, MinIO, serving, dashboards, monitoring — up together.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818888"/>
            <a:ext cx="6766560" cy="667512"/>
          </a:xfrm>
          <a:prstGeom prst="roundRect">
            <a:avLst>
              <a:gd name="adj" fmla="val 6000"/>
            </a:avLst>
          </a:prstGeom>
          <a:solidFill>
            <a:srgbClr val="121B30"/>
          </a:solidFill>
          <a:ln w="9525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31520" y="4983479"/>
            <a:ext cx="347472" cy="347472"/>
          </a:xfrm>
          <a:prstGeom prst="ellipse">
            <a:avLst/>
          </a:prstGeom>
          <a:solidFill>
            <a:srgbClr val="9B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4974336"/>
            <a:ext cx="347472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300" b="1" lang="en-US">
                <a:solidFill>
                  <a:srgbClr val="0A0E1A"/>
                </a:solidFill>
                <a:latin typeface="Segoe UI Black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34440" y="4910327"/>
            <a:ext cx="5943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lang="en-US" spc="0">
                <a:solidFill>
                  <a:srgbClr val="9B8CFF"/>
                </a:solidFill>
                <a:latin typeface="Consolas"/>
              </a:rPr>
              <a:t>Replay Studio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34440" y="5166359"/>
            <a:ext cx="5989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60" b="0" lang="en-US">
                <a:solidFill>
                  <a:srgbClr val="9AA8C8"/>
                </a:solidFill>
                <a:latin typeface="Segoe UI"/>
              </a:rPr>
              <a:t>Inject a scripted scenario — “after-hours bulk export by a treasury RM” — and watch it drive the live event tape and fire alerts.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79" y="1783080"/>
            <a:ext cx="4123944" cy="4434840"/>
          </a:xfrm>
          <a:prstGeom prst="roundRect">
            <a:avLst>
              <a:gd name="adj" fmla="val 4000"/>
            </a:avLst>
          </a:prstGeom>
          <a:solidFill>
            <a:srgbClr val="121B30"/>
          </a:solidFill>
          <a:ln w="9525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99248" y="1901952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40">
                <a:solidFill>
                  <a:srgbClr val="3DD6E8"/>
                </a:solidFill>
                <a:latin typeface="Segoe UI Semibold"/>
              </a:rPr>
              <a:t>INVESTIGATOR CONSOLE (L7)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99248" y="2240280"/>
            <a:ext cx="3703320" cy="310896"/>
          </a:xfrm>
          <a:prstGeom prst="roundRect">
            <a:avLst>
              <a:gd name="adj" fmla="val 20000"/>
            </a:avLst>
          </a:prstGeom>
          <a:solidFill>
            <a:srgbClr val="0F182B"/>
          </a:solidFill>
          <a:ln w="9525">
            <a:solidFill>
              <a:srgbClr val="3D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99248" y="2240280"/>
            <a:ext cx="3703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19" b="1" lang="en-US">
                <a:solidFill>
                  <a:srgbClr val="EAF0FF"/>
                </a:solidFill>
                <a:latin typeface="Segoe UI"/>
              </a:rPr>
              <a:t>1.  Alert fires (ranked)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99248" y="2514600"/>
            <a:ext cx="370332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 lang="en-US">
                <a:solidFill>
                  <a:srgbClr val="3DD6E8"/>
                </a:solidFill>
                <a:latin typeface="Segoe UI"/>
              </a:rPr>
              <a:t>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99248" y="2624328"/>
            <a:ext cx="3703320" cy="310896"/>
          </a:xfrm>
          <a:prstGeom prst="roundRect">
            <a:avLst>
              <a:gd name="adj" fmla="val 20000"/>
            </a:avLst>
          </a:prstGeom>
          <a:solidFill>
            <a:srgbClr val="0F182B"/>
          </a:solidFill>
          <a:ln w="9525">
            <a:solidFill>
              <a:srgbClr val="1B27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99248" y="2624328"/>
            <a:ext cx="3703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19" b="1" lang="en-US">
                <a:solidFill>
                  <a:srgbClr val="EAF0FF"/>
                </a:solidFill>
                <a:latin typeface="Segoe UI"/>
              </a:rPr>
              <a:t>2.  Investigate (SHAP + graph)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699248" y="2898648"/>
            <a:ext cx="370332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 lang="en-US">
                <a:solidFill>
                  <a:srgbClr val="3DD6E8"/>
                </a:solidFill>
                <a:latin typeface="Segoe UI"/>
              </a:rPr>
              <a:t>↓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699248" y="3008376"/>
            <a:ext cx="3703320" cy="310896"/>
          </a:xfrm>
          <a:prstGeom prst="roundRect">
            <a:avLst>
              <a:gd name="adj" fmla="val 20000"/>
            </a:avLst>
          </a:prstGeom>
          <a:solidFill>
            <a:srgbClr val="0F182B"/>
          </a:solidFill>
          <a:ln w="9525">
            <a:solidFill>
              <a:srgbClr val="1B27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99248" y="3008376"/>
            <a:ext cx="3703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19" b="1" lang="en-US">
                <a:solidFill>
                  <a:srgbClr val="EAF0FF"/>
                </a:solidFill>
                <a:latin typeface="Segoe UI"/>
              </a:rPr>
              <a:t>3.  Decide (EDD verdict)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99248" y="3282696"/>
            <a:ext cx="3703320" cy="12801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 lang="en-US">
                <a:solidFill>
                  <a:srgbClr val="3DD6E8"/>
                </a:solidFill>
                <a:latin typeface="Segoe UI"/>
              </a:rPr>
              <a:t>↓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699248" y="3392424"/>
            <a:ext cx="3703320" cy="310896"/>
          </a:xfrm>
          <a:prstGeom prst="roundRect">
            <a:avLst>
              <a:gd name="adj" fmla="val 20000"/>
            </a:avLst>
          </a:prstGeom>
          <a:solidFill>
            <a:srgbClr val="0F182B"/>
          </a:solidFill>
          <a:ln w="9525">
            <a:solidFill>
              <a:srgbClr val="1B274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99248" y="3392424"/>
            <a:ext cx="37033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19" b="1" lang="en-US">
                <a:solidFill>
                  <a:srgbClr val="EAF0FF"/>
                </a:solidFill>
                <a:latin typeface="Segoe UI"/>
              </a:rPr>
              <a:t>4.  Learn (verdict → label)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7699248" y="3913632"/>
            <a:ext cx="3703320" cy="0"/>
          </a:xfrm>
          <a:prstGeom prst="line">
            <a:avLst/>
          </a:prstGeom>
          <a:ln w="12700">
            <a:solidFill>
              <a:srgbClr val="1B27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7699248" y="3986784"/>
            <a:ext cx="37490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950" b="1" lang="en-US" spc="40">
                <a:solidFill>
                  <a:srgbClr val="35D399"/>
                </a:solidFill>
                <a:latin typeface="Segoe UI Semibold"/>
              </a:rPr>
              <a:t>WHAT THE INVESTIGATOR SEES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99248" y="4279392"/>
            <a:ext cx="37490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1" lang="en-US">
                <a:solidFill>
                  <a:srgbClr val="35D399"/>
                </a:solidFill>
                <a:latin typeface="Segoe UI"/>
              </a:rPr>
              <a:t>▸ </a:t>
            </a:r>
            <a:r>
              <a:rPr sz="819" b="0" lang="en-US">
                <a:solidFill>
                  <a:srgbClr val="9AA8C8"/>
                </a:solidFill>
                <a:latin typeface="Segoe UI"/>
              </a:rPr>
              <a:t>Ranked triage queue — one alert/entity, severity-colored, sortable, bulk-select, RBAC-gated.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99248" y="4663440"/>
            <a:ext cx="37490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1" lang="en-US">
                <a:solidFill>
                  <a:srgbClr val="35D399"/>
                </a:solidFill>
                <a:latin typeface="Segoe UI"/>
              </a:rPr>
              <a:t>▸ </a:t>
            </a:r>
            <a:r>
              <a:rPr sz="819" b="0" lang="en-US">
                <a:solidFill>
                  <a:srgbClr val="9AA8C8"/>
                </a:solidFill>
                <a:latin typeface="Segoe UI"/>
              </a:rPr>
              <a:t>Entity-360 timeline — history, score-over-time, 7×24 off-hours heatmap.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699248" y="5047488"/>
            <a:ext cx="37490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1" lang="en-US">
                <a:solidFill>
                  <a:srgbClr val="35D399"/>
                </a:solidFill>
                <a:latin typeface="Segoe UI"/>
              </a:rPr>
              <a:t>▸ </a:t>
            </a:r>
            <a:r>
              <a:rPr sz="819" b="0" lang="en-US">
                <a:solidFill>
                  <a:srgbClr val="9AA8C8"/>
                </a:solidFill>
                <a:latin typeface="Segoe UI"/>
              </a:rPr>
              <a:t>Explanation — SHAP + rule provenance + AI narrative + Cytoscape graph (expand / find-path).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99248" y="5431536"/>
            <a:ext cx="374903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1" lang="en-US">
                <a:solidFill>
                  <a:srgbClr val="35D399"/>
                </a:solidFill>
                <a:latin typeface="Segoe UI"/>
              </a:rPr>
              <a:t>▸ </a:t>
            </a:r>
            <a:r>
              <a:rPr sz="819" b="0" lang="en-US">
                <a:solidFill>
                  <a:srgbClr val="9AA8C8"/>
                </a:solidFill>
                <a:latin typeface="Segoe UI"/>
              </a:rPr>
              <a:t>EDD disposition (fraud/FP/inconclusive) that teaches the system; masked PII + audited unmask.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699248" y="5870448"/>
            <a:ext cx="3703320" cy="292608"/>
          </a:xfrm>
          <a:prstGeom prst="roundRect">
            <a:avLst>
              <a:gd name="adj" fmla="val 20000"/>
            </a:avLst>
          </a:prstGeom>
          <a:solidFill>
            <a:srgbClr val="0C1426"/>
          </a:solidFill>
          <a:ln w="9525">
            <a:solidFill>
              <a:srgbClr val="3D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99248" y="5870448"/>
            <a:ext cx="3703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 lang="en-US" spc="60">
                <a:solidFill>
                  <a:srgbClr val="3DD6E8"/>
                </a:solidFill>
                <a:latin typeface="Consolas"/>
              </a:rPr>
              <a:t>A TERMINAL, NOT A DASHBOARD</a:t>
            </a:r>
          </a:p>
        </p:txBody>
      </p:sp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whole"/>
      <p:bldP spid="14" grpId="0" build="whole"/>
      <p:bldP spid="19" grpId="0" build="whole"/>
      <p:bldP spid="24" grpId="0" build="whole"/>
      <p:bldP spid="29" grpId="0" build="whole"/>
      <p:bldP spid="34" grpId="0" build="whole"/>
    </p:bld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54864" y="-54864"/>
            <a:ext cx="12301423" cy="6967728"/>
          </a:xfrm>
          <a:prstGeom prst="rect">
            <a:avLst/>
          </a:prstGeom>
          <a:solidFill>
            <a:srgbClr val="0A0E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3DD6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0058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160">
                <a:solidFill>
                  <a:srgbClr val="3DD6E8"/>
                </a:solidFill>
                <a:latin typeface="Consolas"/>
              </a:rPr>
              <a:t>COMMERCIALIZATION &amp; STARTUP POTENTIAL (10%) · MARKET · DEFENSIBILITY · 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10642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700" b="1" lang="en-US">
                <a:solidFill>
                  <a:srgbClr val="EAF0FF"/>
                </a:solidFill>
                <a:latin typeface="Segoe UI Semibold"/>
              </a:rPr>
              <a:t>Viable, defensible, and pulled by regulation — and fundable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6428232"/>
            <a:ext cx="11094415" cy="0"/>
          </a:xfrm>
          <a:prstGeom prst="line">
            <a:avLst/>
          </a:prstGeom>
          <a:ln w="12700">
            <a:solidFill>
              <a:srgbClr val="1B274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473952"/>
            <a:ext cx="86868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50" b="0" lang="en-US" spc="30">
                <a:solidFill>
                  <a:srgbClr val="6C7A9C"/>
                </a:solidFill>
                <a:latin typeface="Segoe UI"/>
              </a:rPr>
              <a:t>HAWK-EYE  ·  Team NINEAGENTS  ·  iDEA 2.0 · PSBs Hackathon Series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62895" y="6473952"/>
            <a:ext cx="128016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1" lang="en-US" spc="100">
                <a:solidFill>
                  <a:srgbClr val="3DD6E8"/>
                </a:solidFill>
                <a:latin typeface="Consolas"/>
              </a:rPr>
              <a:t>10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37360"/>
            <a:ext cx="3749039" cy="2788920"/>
          </a:xfrm>
          <a:prstGeom prst="roundRect">
            <a:avLst>
              <a:gd name="adj" fmla="val 4000"/>
            </a:avLst>
          </a:prstGeom>
          <a:solidFill>
            <a:srgbClr val="121B30"/>
          </a:solidFill>
          <a:ln w="9525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47088"/>
            <a:ext cx="3291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30">
                <a:solidFill>
                  <a:srgbClr val="3DD6E8"/>
                </a:solidFill>
                <a:latin typeface="Segoe UI Semibold"/>
              </a:rPr>
              <a:t>MARKET  ·  TAM / SAM / SOM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" y="2212848"/>
            <a:ext cx="3246120" cy="384048"/>
          </a:xfrm>
          <a:prstGeom prst="roundRect">
            <a:avLst>
              <a:gd name="adj" fmla="val 10000"/>
            </a:avLst>
          </a:prstGeom>
          <a:solidFill>
            <a:srgbClr val="0F182B"/>
          </a:solidFill>
          <a:ln w="9525">
            <a:solidFill>
              <a:srgbClr val="3B82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100" y="2212848"/>
            <a:ext cx="324612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lang="en-US">
                <a:solidFill>
                  <a:srgbClr val="3B82F6"/>
                </a:solidFill>
                <a:latin typeface="Segoe UI Black"/>
              </a:rPr>
              <a:t>TAM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615184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70" b="0" lang="en-US">
                <a:solidFill>
                  <a:srgbClr val="9AA8C8"/>
                </a:solidFill>
                <a:latin typeface="Segoe UI"/>
              </a:rPr>
              <a:t>Global fraud detection $32.0B (2025) → $65.68B (2030) · insider-threat $0.42B→$1.81B @ 27.9%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19" y="2980944"/>
            <a:ext cx="2468880" cy="384048"/>
          </a:xfrm>
          <a:prstGeom prst="roundRect">
            <a:avLst>
              <a:gd name="adj" fmla="val 10000"/>
            </a:avLst>
          </a:prstGeom>
          <a:solidFill>
            <a:srgbClr val="0F182B"/>
          </a:solidFill>
          <a:ln w="9525">
            <a:solidFill>
              <a:srgbClr val="3D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19" y="2980944"/>
            <a:ext cx="24688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lang="en-US">
                <a:solidFill>
                  <a:srgbClr val="3DD6E8"/>
                </a:solidFill>
                <a:latin typeface="Segoe UI Black"/>
              </a:rPr>
              <a:t>SAM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3383279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70" b="0" lang="en-US">
                <a:solidFill>
                  <a:srgbClr val="9AA8C8"/>
                </a:solidFill>
                <a:latin typeface="Segoe UI"/>
              </a:rPr>
              <a:t>India fraud detection $1.28B → $3.89B @ 20.9%; BFSI-insider ~$0.35–0.55B → $1.0–1.3B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554480" y="3749039"/>
            <a:ext cx="1737360" cy="384048"/>
          </a:xfrm>
          <a:prstGeom prst="roundRect">
            <a:avLst>
              <a:gd name="adj" fmla="val 10000"/>
            </a:avLst>
          </a:prstGeom>
          <a:solidFill>
            <a:srgbClr val="0F182B"/>
          </a:solidFill>
          <a:ln w="9525">
            <a:solidFill>
              <a:srgbClr val="35D39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3749039"/>
            <a:ext cx="17373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 lang="en-US">
                <a:solidFill>
                  <a:srgbClr val="35D399"/>
                </a:solidFill>
                <a:latin typeface="Segoe UI Black"/>
              </a:rPr>
              <a:t>SOM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151376"/>
            <a:ext cx="32918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70" b="0" lang="en-US">
                <a:solidFill>
                  <a:srgbClr val="9AA8C8"/>
                </a:solidFill>
                <a:latin typeface="Segoe UI"/>
              </a:rPr>
              <a:t>₹1.2 Cr ARR (Yr 1) → ₹50 Cr (~$6M) / 50 customers by Yr 5 — &lt;3% of the ~150–200 large-bank segment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34840" y="1737360"/>
            <a:ext cx="3566160" cy="2788920"/>
          </a:xfrm>
          <a:prstGeom prst="roundRect">
            <a:avLst>
              <a:gd name="adj" fmla="val 4000"/>
            </a:avLst>
          </a:prstGeom>
          <a:solidFill>
            <a:srgbClr val="121B30"/>
          </a:solidFill>
          <a:ln w="9525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45152" y="1847088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50" b="1" lang="en-US" spc="30">
                <a:solidFill>
                  <a:srgbClr val="FF4D5E"/>
                </a:solidFill>
                <a:latin typeface="Segoe UI Semibold"/>
              </a:rPr>
              <a:t>COMPETITION &amp; DEFENSIBILITY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45152" y="2157984"/>
            <a:ext cx="3200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40" b="1" lang="en-US" spc="20">
                <a:solidFill>
                  <a:srgbClr val="6C7A9C"/>
                </a:solidFill>
                <a:latin typeface="Consolas"/>
              </a:rPr>
              <a:t>INCUMBENTS (transaction-fraud / AML)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239572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1" lang="en-US">
                <a:solidFill>
                  <a:srgbClr val="FF4D5E"/>
                </a:solidFill>
                <a:latin typeface="Segoe UI"/>
              </a:rPr>
              <a:t>•  </a:t>
            </a:r>
            <a:r>
              <a:rPr sz="830" b="0" lang="en-US">
                <a:solidFill>
                  <a:srgbClr val="9AA8C8"/>
                </a:solidFill>
                <a:latin typeface="Segoe UI"/>
              </a:rPr>
              <a:t>Feedzai — reached $2B valuation (2025, Series E).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45152" y="267004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1" lang="en-US">
                <a:solidFill>
                  <a:srgbClr val="FF4D5E"/>
                </a:solidFill>
                <a:latin typeface="Segoe UI"/>
              </a:rPr>
              <a:t>•  </a:t>
            </a:r>
            <a:r>
              <a:rPr sz="830" b="0" lang="en-US">
                <a:solidFill>
                  <a:srgbClr val="9AA8C8"/>
                </a:solidFill>
                <a:latin typeface="Segoe UI"/>
              </a:rPr>
              <a:t>Featurespace — acquired by Visa (~$925M, Dec 2024).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2944368"/>
            <a:ext cx="3200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30" b="1" lang="en-US">
                <a:solidFill>
                  <a:srgbClr val="FF4D5E"/>
                </a:solidFill>
                <a:latin typeface="Segoe UI"/>
              </a:rPr>
              <a:t>•  </a:t>
            </a:r>
            <a:r>
              <a:rPr sz="830" b="0" lang="en-US">
                <a:solidFill>
                  <a:srgbClr val="9AA8C8"/>
                </a:solidFill>
                <a:latin typeface="Segoe UI"/>
              </a:rPr>
              <a:t>NICE Actimize — Forrester Leader, enterprise-fraud.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2" y="3255264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1" lang="en-US">
                <a:solidFill>
                  <a:srgbClr val="EAF0FF"/>
                </a:solidFill>
                <a:latin typeface="Segoe UI"/>
              </a:rPr>
              <a:t>None is built for on-prem, India-sovereign, insider-focused, alert-only, CRILC/FMR-native detection. </a:t>
            </a:r>
            <a:r>
              <a:rPr sz="840" b="1" lang="en-US">
                <a:solidFill>
                  <a:srgbClr val="35D399"/>
                </a:solidFill>
                <a:latin typeface="Segoe UI"/>
              </a:rPr>
              <a:t>That seam is our defensibility.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45152" y="3913632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19" b="1" lang="en-US">
                <a:solidFill>
                  <a:srgbClr val="35D399"/>
                </a:solidFill>
                <a:latin typeface="Segoe UI"/>
              </a:rPr>
              <a:t>✓ </a:t>
            </a:r>
            <a:r>
              <a:rPr sz="800" b="0" lang="en-US">
                <a:solidFill>
                  <a:srgbClr val="9AA8C8"/>
                </a:solidFill>
                <a:latin typeface="Segoe UI"/>
              </a:rPr>
              <a:t>~57% gross margin (→70–80% at scale)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45152" y="4114800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19" b="1" lang="en-US">
                <a:solidFill>
                  <a:srgbClr val="35D399"/>
                </a:solidFill>
                <a:latin typeface="Segoe UI"/>
              </a:rPr>
              <a:t>✓ </a:t>
            </a:r>
            <a:r>
              <a:rPr sz="800" b="0" lang="en-US">
                <a:solidFill>
                  <a:srgbClr val="9AA8C8"/>
                </a:solidFill>
                <a:latin typeface="Segoe UI"/>
              </a:rPr>
              <a:t>~8× customer ROI (₹8 Cr value vs ~₹1 Cr cost)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45152" y="4315968"/>
            <a:ext cx="32004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19" b="1" lang="en-US">
                <a:solidFill>
                  <a:srgbClr val="35D399"/>
                </a:solidFill>
                <a:latin typeface="Segoe UI"/>
              </a:rPr>
              <a:t>✓ </a:t>
            </a:r>
            <a:r>
              <a:rPr sz="800" b="0" lang="en-US">
                <a:solidFill>
                  <a:srgbClr val="9AA8C8"/>
                </a:solidFill>
                <a:latin typeface="Segoe UI"/>
              </a:rPr>
              <a:t>Pricing ₹10 L – ₹3 Cr/yr — ~30–60% under incumbents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138160" y="1737360"/>
            <a:ext cx="3483864" cy="2788920"/>
          </a:xfrm>
          <a:prstGeom prst="roundRect">
            <a:avLst>
              <a:gd name="adj" fmla="val 4000"/>
            </a:avLst>
          </a:prstGeom>
          <a:solidFill>
            <a:srgbClr val="0E1A2E"/>
          </a:solidFill>
          <a:ln w="16510">
            <a:solidFill>
              <a:srgbClr val="3DD6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39327" y="1874519"/>
            <a:ext cx="3108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100" b="1" lang="en-US" spc="60">
                <a:solidFill>
                  <a:srgbClr val="3DD6E8"/>
                </a:solidFill>
                <a:latin typeface="Segoe UI Semibold"/>
              </a:rPr>
              <a:t>THE ASK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7" y="2212848"/>
            <a:ext cx="3154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1" lang="en-US">
                <a:solidFill>
                  <a:srgbClr val="EAF0FF"/>
                </a:solidFill>
                <a:latin typeface="Segoe UI Black"/>
              </a:rPr>
              <a:t>₹10 Cr seed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39327" y="274320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0" lang="en-US">
                <a:solidFill>
                  <a:srgbClr val="9AA8C8"/>
                </a:solidFill>
                <a:latin typeface="Segoe UI"/>
              </a:rPr>
              <a:t>for ~18% at ~₹55 Cr post-money</a:t>
            </a:r>
          </a:p>
          <a:p>
            <a:pPr algn="l">
              <a:spcBef>
                <a:spcPts val="200"/>
              </a:spcBef>
              <a:spcAft>
                <a:spcPts val="200"/>
              </a:spcAft>
            </a:pPr>
            <a:r>
              <a:rPr sz="819" b="0" lang="en-US">
                <a:solidFill>
                  <a:srgbClr val="6C7A9C"/>
                </a:solidFill>
                <a:latin typeface="Segoe UI"/>
              </a:rPr>
              <a:t>(benchmarked to Carta 2024 fintech medians)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39327" y="3200400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1" lang="en-US">
                <a:solidFill>
                  <a:srgbClr val="3DD6E8"/>
                </a:solidFill>
                <a:latin typeface="Segoe UI"/>
              </a:rPr>
              <a:t>▸ </a:t>
            </a:r>
            <a:r>
              <a:rPr sz="810" b="0" lang="en-US">
                <a:solidFill>
                  <a:srgbClr val="9AA8C8"/>
                </a:solidFill>
                <a:latin typeface="Segoe UI"/>
              </a:rPr>
              <a:t>Use of funds → ₹5 Cr ARR / ~9 paying banks → Series A.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39327" y="3630168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1" lang="en-US">
                <a:solidFill>
                  <a:srgbClr val="3DD6E8"/>
                </a:solidFill>
                <a:latin typeface="Segoe UI"/>
              </a:rPr>
              <a:t>▸ </a:t>
            </a:r>
            <a:r>
              <a:rPr sz="810" b="0" lang="en-US">
                <a:solidFill>
                  <a:srgbClr val="9AA8C8"/>
                </a:solidFill>
                <a:latin typeface="Segoe UI"/>
              </a:rPr>
              <a:t>GTM: on-prem pilot on synthetic data (zero data-risk) → highest-risk privileged surface → entitlements, collusion, slow-lane EWS.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39327" y="4059935"/>
            <a:ext cx="3154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840" b="1" lang="en-US">
                <a:solidFill>
                  <a:srgbClr val="3DD6E8"/>
                </a:solidFill>
                <a:latin typeface="Segoe UI"/>
              </a:rPr>
              <a:t>▸ </a:t>
            </a:r>
            <a:r>
              <a:rPr sz="810" b="0" lang="en-US">
                <a:solidFill>
                  <a:srgbClr val="9AA8C8"/>
                </a:solidFill>
                <a:latin typeface="Segoe UI"/>
              </a:rPr>
              <a:t>Why now: RBI Fraud-Risk 2024 + FREE-AI + IS-Audit make insider controls mandatory — the on-prem / India-sovereign / insider seam is wide open.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663440"/>
            <a:ext cx="11055096" cy="1554480"/>
          </a:xfrm>
          <a:prstGeom prst="roundRect">
            <a:avLst>
              <a:gd name="adj" fmla="val 4000"/>
            </a:avLst>
          </a:prstGeom>
          <a:solidFill>
            <a:srgbClr val="121B30"/>
          </a:solidFill>
          <a:ln w="9525">
            <a:solidFill>
              <a:srgbClr val="2533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4791456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1" lang="en-US" spc="30">
                <a:solidFill>
                  <a:srgbClr val="EAF0FF"/>
                </a:solidFill>
                <a:latin typeface="Segoe UI Semibold"/>
              </a:rPr>
              <a:t>TEAM NINEAGENTS — thank you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138928"/>
            <a:ext cx="2697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lang="en-US">
                <a:solidFill>
                  <a:srgbClr val="3DD6E8"/>
                </a:solidFill>
                <a:latin typeface="Segoe UI"/>
              </a:rPr>
              <a:t>Dhruv Agrawal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" y="5358384"/>
            <a:ext cx="2697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40" b="1" lang="en-US" spc="20">
                <a:solidFill>
                  <a:srgbClr val="35D399"/>
                </a:solidFill>
                <a:latin typeface="Consolas"/>
              </a:rPr>
              <a:t>ML / Backend Lead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559552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lang="en-US">
                <a:solidFill>
                  <a:srgbClr val="9AA8C8"/>
                </a:solidFill>
                <a:latin typeface="Segoe UI"/>
              </a:rPr>
              <a:t>Detection layers, fusion, MLOps, backend &amp; platform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93008" y="5138928"/>
            <a:ext cx="2697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lang="en-US">
                <a:solidFill>
                  <a:srgbClr val="3DD6E8"/>
                </a:solidFill>
                <a:latin typeface="Segoe UI"/>
              </a:rPr>
              <a:t>Tanishq Vyas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493008" y="5358384"/>
            <a:ext cx="2697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40" b="1" lang="en-US" spc="20">
                <a:solidFill>
                  <a:srgbClr val="35D399"/>
                </a:solidFill>
                <a:latin typeface="Consolas"/>
              </a:rPr>
              <a:t>Frontend / UX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93008" y="5559552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lang="en-US">
                <a:solidFill>
                  <a:srgbClr val="9AA8C8"/>
                </a:solidFill>
                <a:latin typeface="Segoe UI"/>
              </a:rPr>
              <a:t>Investigator console — triage, entity-360, explanation &amp; graph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08776" y="5138928"/>
            <a:ext cx="2697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lang="en-US">
                <a:solidFill>
                  <a:srgbClr val="3DD6E8"/>
                </a:solidFill>
                <a:latin typeface="Segoe UI"/>
              </a:rPr>
              <a:t>Hanzala Saify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08776" y="5358384"/>
            <a:ext cx="2697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40" b="1" lang="en-US" spc="20">
                <a:solidFill>
                  <a:srgbClr val="35D399"/>
                </a:solidFill>
                <a:latin typeface="Consolas"/>
              </a:rPr>
              <a:t>Infra / DevOps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08776" y="5559552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lang="en-US">
                <a:solidFill>
                  <a:srgbClr val="9AA8C8"/>
                </a:solidFill>
                <a:latin typeface="Segoe UI"/>
              </a:rPr>
              <a:t>~26-service stack, k8s/ArgoCD/Terraform, security, observability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924544" y="5138928"/>
            <a:ext cx="269748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000" b="1" lang="en-US">
                <a:solidFill>
                  <a:srgbClr val="3DD6E8"/>
                </a:solidFill>
                <a:latin typeface="Segoe UI"/>
              </a:rPr>
              <a:t>Aditya Dubey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24544" y="5358384"/>
            <a:ext cx="269748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40" b="1" lang="en-US" spc="20">
                <a:solidFill>
                  <a:srgbClr val="35D399"/>
                </a:solidFill>
                <a:latin typeface="Consolas"/>
              </a:rPr>
              <a:t>Domain Research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924544" y="5559552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780" b="0" lang="en-US">
                <a:solidFill>
                  <a:srgbClr val="9AA8C8"/>
                </a:solidFill>
                <a:latin typeface="Segoe UI"/>
              </a:rPr>
              <a:t>RBI Fraud-Risk / FREE-AI mapping, coverage, honest limits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5989320"/>
            <a:ext cx="10607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840" b="1" lang="en-US" spc="20">
                <a:solidFill>
                  <a:srgbClr val="35D399"/>
                </a:solidFill>
                <a:latin typeface="Consolas"/>
              </a:rPr>
              <a:t>github.com/dhruvagrawal27/hawk-eye   ·   read GETTING_STARTED.md · docs/detection-coverage-map.md · docs/honest-limits.md</a:t>
            </a:r>
          </a:p>
        </p:txBody>
      </p:sp>
    </p:spTree>
  </p:cSld>
  <p:transition spd="med">
    <p:fade/>
  </p:transition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4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45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uild="whole"/>
      <p:bldP spid="20" grpId="0" build="whole"/>
      <p:bldP spid="30" grpId="0" build="whole"/>
      <p:bldP spid="37" grpId="0" build="whole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