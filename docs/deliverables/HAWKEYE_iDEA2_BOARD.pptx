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00584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48056"/>
            <a:ext cx="877824" cy="4389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792224" y="3840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31" y="448056"/>
            <a:ext cx="438912" cy="4389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505456" y="3840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448056"/>
            <a:ext cx="438912" cy="438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18688" y="384048"/>
            <a:ext cx="2937052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448056"/>
            <a:ext cx="2926080" cy="438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11704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 spc="100">
                <a:solidFill>
                  <a:srgbClr val="BFD0EE"/>
                </a:solidFill>
                <a:latin typeface="Segoe UI Semibold"/>
              </a:rPr>
              <a:t>RBI · iDEA 2.0  ·  PROBLEM STATEMENT: INTERNAL &amp; PRIVILEGED-USER FRAUD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240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000" b="1" lang="en-US" spc="50">
                <a:solidFill>
                  <a:srgbClr val="0B2E63"/>
                </a:solidFill>
                <a:latin typeface="Segoe UI Black"/>
              </a:rPr>
              <a:t>HAWK</a:t>
            </a:r>
            <a:r>
              <a:rPr sz="7000" b="1" lang="en-US" spc="50">
                <a:solidFill>
                  <a:srgbClr val="0E7490"/>
                </a:solidFill>
                <a:latin typeface="Segoe UI Black"/>
              </a:rPr>
              <a:t>-EYE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118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lang="en-US">
                <a:solidFill>
                  <a:srgbClr val="0E1B33"/>
                </a:solidFill>
                <a:latin typeface="Segoe UI Semibold"/>
              </a:rPr>
              <a:t>An AI Early-Warning System for Internal &amp; Privileged-User Fraud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245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lang="en-US">
                <a:solidFill>
                  <a:srgbClr val="394A66"/>
                </a:solidFill>
                <a:latin typeface="Segoe UI"/>
              </a:rPr>
              <a:t>Protecting the bank's money, its licence, and its trust — </a:t>
            </a:r>
            <a:r>
              <a:rPr sz="1600" b="0" lang="en-US">
                <a:solidFill>
                  <a:srgbClr val="394A66"/>
                </a:solidFill>
                <a:latin typeface="Segoe UI"/>
              </a:rPr>
              <a:t>every privileged action watched, scored, and explained; a person always decides.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92040"/>
            <a:ext cx="1714500" cy="420624"/>
          </a:xfrm>
          <a:prstGeom prst="roundRect">
            <a:avLst>
              <a:gd name="adj" fmla="val 50000"/>
            </a:avLst>
          </a:prstGeom>
          <a:solidFill>
            <a:srgbClr val="F6F9FD"/>
          </a:solidFill>
          <a:ln w="17780">
            <a:solidFill>
              <a:srgbClr val="0F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892040"/>
            <a:ext cx="17145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lang="en-US" spc="20">
                <a:solidFill>
                  <a:srgbClr val="0F7A4E"/>
                </a:solidFill>
                <a:latin typeface="Segoe UI Semibold"/>
              </a:rPr>
              <a:t>SAVES MONEY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55748" y="4892040"/>
            <a:ext cx="1943100" cy="420624"/>
          </a:xfrm>
          <a:prstGeom prst="roundRect">
            <a:avLst>
              <a:gd name="adj" fmla="val 50000"/>
            </a:avLst>
          </a:prstGeom>
          <a:solidFill>
            <a:srgbClr val="F6F9FD"/>
          </a:solidFill>
          <a:ln w="1778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55748" y="4892040"/>
            <a:ext cx="19431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lang="en-US" spc="20">
                <a:solidFill>
                  <a:srgbClr val="1D4ED8"/>
                </a:solidFill>
                <a:latin typeface="Segoe UI Semibold"/>
              </a:rPr>
              <a:t>RBI-COMPLIANT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81728" y="4892040"/>
            <a:ext cx="3314700" cy="420624"/>
          </a:xfrm>
          <a:prstGeom prst="roundRect">
            <a:avLst>
              <a:gd name="adj" fmla="val 50000"/>
            </a:avLst>
          </a:prstGeom>
          <a:solidFill>
            <a:srgbClr val="F6F9FD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4892040"/>
            <a:ext cx="33147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lang="en-US" spc="20">
                <a:solidFill>
                  <a:srgbClr val="0E7490"/>
                </a:solidFill>
                <a:latin typeface="Segoe UI Semibold"/>
              </a:rPr>
              <a:t>BUILT ON-PREM · SOVEREIGN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9308" y="4892040"/>
            <a:ext cx="2514600" cy="420624"/>
          </a:xfrm>
          <a:prstGeom prst="roundRect">
            <a:avLst>
              <a:gd name="adj" fmla="val 50000"/>
            </a:avLst>
          </a:prstGeom>
          <a:solidFill>
            <a:srgbClr val="F6F9FD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9308" y="4892040"/>
            <a:ext cx="2514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lang="en-US" spc="20">
                <a:solidFill>
                  <a:srgbClr val="6D28D9"/>
                </a:solidFill>
                <a:latin typeface="Segoe UI Semibold"/>
              </a:rPr>
              <a:t>EXPLAINABLE &amp; FAIR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5623560"/>
            <a:ext cx="10893247" cy="0"/>
          </a:xfrm>
          <a:prstGeom prst="line">
            <a:avLst/>
          </a:prstGeom>
          <a:ln w="15240">
            <a:solidFill>
              <a:srgbClr val="DDE5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57790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E1B33"/>
                </a:solidFill>
                <a:latin typeface="Segoe UI Semibold"/>
              </a:rPr>
              <a:t>Team NINEAGENTS — </a:t>
            </a:r>
            <a:r>
              <a:rPr sz="1300" b="0" lang="en-US">
                <a:solidFill>
                  <a:srgbClr val="394A66"/>
                </a:solidFill>
                <a:latin typeface="Segoe UI"/>
              </a:rPr>
              <a:t>Dhruv Agrawal · Tanishq Vyas · Hanzala Saify · Aditya Dubey     </a:t>
            </a:r>
            <a:r>
              <a:rPr sz="1250" b="0" lang="en-US">
                <a:solidFill>
                  <a:srgbClr val="5C6C88"/>
                </a:solidFill>
                <a:latin typeface="Segoe UI"/>
              </a:rPr>
              <a:t>SVKM's NMIMS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126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lang="en-US">
                <a:solidFill>
                  <a:srgbClr val="0E7490"/>
                </a:solidFill>
                <a:latin typeface="Segoe UI"/>
              </a:rPr>
              <a:t>github.com/dhruvagrawal27/hawk-eye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lang="en-US" spc="120">
                <a:solidFill>
                  <a:srgbClr val="C51F2E"/>
                </a:solidFill>
                <a:latin typeface="Segoe UI Semibold"/>
              </a:rPr>
              <a:t>THE EXPOSURE ON YOUR 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315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lang="en-US">
                <a:solidFill>
                  <a:srgbClr val="0E1B33"/>
                </a:solidFill>
                <a:latin typeface="Segoe UI Semibold"/>
              </a:rPr>
              <a:t>The fastest-growing loss is the one nobody is watching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lang="en-US">
                <a:solidFill>
                  <a:srgbClr val="394A66"/>
                </a:solidFill>
                <a:latin typeface="Segoe UI"/>
              </a:rPr>
              <a:t>Bank fraud has exploded — and public-sector banks carry most of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19088"/>
            <a:ext cx="11094415" cy="0"/>
          </a:xfrm>
          <a:prstGeom prst="line">
            <a:avLst/>
          </a:prstGeom>
          <a:ln w="15240">
            <a:solidFill>
              <a:srgbClr val="DDE5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73952"/>
            <a:ext cx="9326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lang="en-US" spc="20">
                <a:solidFill>
                  <a:srgbClr val="5C6C88"/>
                </a:solidFill>
                <a:latin typeface="Segoe UI"/>
              </a:rPr>
              <a:t>HAWK-EYE  ·  Team NINEAGENTS · SVKM's NMIMS  ·  for Union Bank of India  ·  RBI iDEA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lang="en-US">
                <a:solidFill>
                  <a:srgbClr val="C51F2E"/>
                </a:solidFill>
                <a:latin typeface="Segoe UI Semibold"/>
              </a:rPr>
              <a:t>2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3566160" cy="109728"/>
          </a:xfrm>
          <a:prstGeom prst="rect">
            <a:avLst/>
          </a:prstGeom>
          <a:solidFill>
            <a:srgbClr val="C5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084831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lang="en-US">
                <a:solidFill>
                  <a:srgbClr val="C51F2E"/>
                </a:solidFill>
                <a:latin typeface="Segoe UI Black"/>
              </a:rPr>
              <a:t>₹25,667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5292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lang="en-US">
                <a:solidFill>
                  <a:srgbClr val="394A66"/>
                </a:solidFill>
                <a:latin typeface="Segoe UI"/>
              </a:rPr>
              <a:t>of FY25 bank fraud was borne by public-sector banks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783080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2544" y="1783080"/>
            <a:ext cx="3566160" cy="1097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2084831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lang="en-US">
                <a:solidFill>
                  <a:srgbClr val="B45309"/>
                </a:solidFill>
                <a:latin typeface="Segoe UI Black"/>
              </a:rPr>
              <a:t>+194%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85292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lang="en-US">
                <a:solidFill>
                  <a:srgbClr val="394A66"/>
                </a:solidFill>
                <a:latin typeface="Segoe UI"/>
              </a:rPr>
              <a:t>jump in fraud value in a single year (₹12,230 cr → ₹36,014 cr)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7" y="1783080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1783080"/>
            <a:ext cx="3566160" cy="1097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2084831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lang="en-US">
                <a:solidFill>
                  <a:srgbClr val="0E7490"/>
                </a:solidFill>
                <a:latin typeface="Segoe UI Black"/>
              </a:rPr>
              <a:t>~12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285292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lang="en-US">
                <a:solidFill>
                  <a:srgbClr val="394A66"/>
                </a:solidFill>
                <a:latin typeface="Segoe UI"/>
              </a:rPr>
              <a:t>that insider fraud runs, on average, before anyone notices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03320"/>
            <a:ext cx="10908792" cy="566928"/>
          </a:xfrm>
          <a:prstGeom prst="roundRect">
            <a:avLst>
              <a:gd name="adj" fmla="val 6000"/>
            </a:avLst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109087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50" b="1" lang="en-US">
                <a:solidFill>
                  <a:srgbClr val="FFFFFF"/>
                </a:solidFill>
                <a:latin typeface="Segoe UI Semibold"/>
              </a:rPr>
              <a:t>₹33,148 cr — over 92% of it — came from loans &amp; advances:  the instruments only privileged staff can originate or modify.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53949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2686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lang="en-US">
                <a:solidFill>
                  <a:srgbClr val="C51F2E"/>
                </a:solidFill>
                <a:latin typeface="Segoe UI Semibold"/>
              </a:rPr>
              <a:t>Caught by luck, not by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29200"/>
            <a:ext cx="4983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lang="en-US">
                <a:solidFill>
                  <a:srgbClr val="394A66"/>
                </a:solidFill>
                <a:latin typeface="Segoe UI"/>
              </a:rPr>
              <a:t>Insider fraud is most often found by a tip-off — not by a control. Banking is the most-affected sector worldwide. When it is actively monitored, detection time roughly halves.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4480560"/>
            <a:ext cx="53949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62686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lang="en-US">
                <a:solidFill>
                  <a:srgbClr val="0B2E63"/>
                </a:solidFill>
                <a:latin typeface="Segoe UI Semibold"/>
              </a:rPr>
              <a:t>This is Union Bank's largest blind spot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029200"/>
            <a:ext cx="4983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lang="en-US">
                <a:solidFill>
                  <a:srgbClr val="394A66"/>
                </a:solidFill>
                <a:latin typeface="Segoe UI"/>
              </a:rPr>
              <a:t>A merged Finacle core, ~8,000+ branches and thousands of privileged users — DBAs, treasury &amp; SWIFT operators, makers, checkers, loan officers — each holding the keys to core banking, treasury and loan systems.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whole"/>
      <p:bldP spid="14" grpId="0" build="whole"/>
      <p:bldP spid="18" grpId="0" build="whole"/>
      <p:bldP spid="22" grpId="0" build="whole"/>
      <p:bldP spid="24" grpId="0" build="whole"/>
      <p:bldP spid="27" grpId="0" build="whol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lang="en-US" spc="120">
                <a:solidFill>
                  <a:srgbClr val="1D4ED8"/>
                </a:solidFill>
                <a:latin typeface="Segoe UI Semibold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315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lang="en-US">
                <a:solidFill>
                  <a:srgbClr val="0E1B33"/>
                </a:solidFill>
                <a:latin typeface="Segoe UI Semibold"/>
              </a:rPr>
              <a:t>Now a supervised duty — and a chance to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lang="en-US">
                <a:solidFill>
                  <a:srgbClr val="394A66"/>
                </a:solidFill>
                <a:latin typeface="Segoe UI"/>
              </a:rPr>
              <a:t>Watching your own privileged staff has moved from good practice to a supervised obligation.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19088"/>
            <a:ext cx="11094415" cy="0"/>
          </a:xfrm>
          <a:prstGeom prst="line">
            <a:avLst/>
          </a:prstGeom>
          <a:ln w="15240">
            <a:solidFill>
              <a:srgbClr val="DDE5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73952"/>
            <a:ext cx="9326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lang="en-US" spc="20">
                <a:solidFill>
                  <a:srgbClr val="5C6C88"/>
                </a:solidFill>
                <a:latin typeface="Segoe UI"/>
              </a:rPr>
              <a:t>HAWK-EYE  ·  Team NINEAGENTS · SVKM's NMIMS  ·  for Union Bank of India  ·  RBI iDEA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lang="en-US">
                <a:solidFill>
                  <a:srgbClr val="1D4ED8"/>
                </a:solidFill>
                <a:latin typeface="Segoe UI Semibold"/>
              </a:rPr>
              <a:t>3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440680" cy="43434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5681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lang="en-US" spc="40">
                <a:solidFill>
                  <a:srgbClr val="1D4ED8"/>
                </a:solidFill>
                <a:latin typeface="Segoe UI Semibold"/>
              </a:rPr>
              <a:t>THE RBI MANDATE (2024–2026)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59152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lang="en-US">
                <a:solidFill>
                  <a:srgbClr val="0E1B33"/>
                </a:solidFill>
                <a:latin typeface="Segoe UI Semibold"/>
              </a:rPr>
              <a:t>Fraud Risk Management Directions,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651760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en-US">
                <a:solidFill>
                  <a:srgbClr val="394A66"/>
                </a:solidFill>
                <a:latin typeface="Segoe UI"/>
              </a:rPr>
              <a:t>Red-Flagged-Account lifecycle, staff-accountability on a 6-month clock, and a fair hearing before anyone is named (Supreme Court, SBI v. Rajesh Agarwal).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291840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lang="en-US">
                <a:solidFill>
                  <a:srgbClr val="0E1B33"/>
                </a:solidFill>
                <a:latin typeface="Segoe UI Semibold"/>
              </a:rPr>
              <a:t>FREE-AI framework, 2025 + Model-Risk draft,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84448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en-US">
                <a:solidFill>
                  <a:srgbClr val="394A66"/>
                </a:solidFill>
                <a:latin typeface="Segoe UI"/>
              </a:rPr>
              <a:t>AI models used in the bank are now a regulated, inspectable asset — governance, explainability and a kill-switch expected.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224528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lang="en-US">
                <a:solidFill>
                  <a:srgbClr val="0E1B33"/>
                </a:solidFill>
                <a:latin typeface="Segoe UI Semibold"/>
              </a:rPr>
              <a:t>Cyber-Security Framework + IS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517136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en-US">
                <a:solidFill>
                  <a:srgbClr val="394A66"/>
                </a:solidFill>
                <a:latin typeface="Segoe UI"/>
              </a:rPr>
              <a:t>Privileged access, segregation of duties and log integrity are directly inspected.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157216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lang="en-US">
                <a:solidFill>
                  <a:srgbClr val="0E1B33"/>
                </a:solidFill>
                <a:latin typeface="Segoe UI Semibold"/>
              </a:rPr>
              <a:t>Reporting duties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449824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en-US">
                <a:solidFill>
                  <a:srgbClr val="394A66"/>
                </a:solidFill>
                <a:latin typeface="Segoe UI"/>
              </a:rPr>
              <a:t>FMR returns, Central Fraud Registry and CRILC (₹3 cr / 7-day / 180-day) all apply to staff fraud.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783080"/>
            <a:ext cx="534924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99632" y="1783080"/>
            <a:ext cx="5349240" cy="822960"/>
          </a:xfrm>
          <a:prstGeom prst="roundRect">
            <a:avLst>
              <a:gd name="adj" fmla="val 4000"/>
            </a:avLst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2331720"/>
            <a:ext cx="5349240" cy="320040"/>
          </a:xfrm>
          <a:prstGeom prst="rect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783080"/>
            <a:ext cx="5349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lang="en-US">
                <a:solidFill>
                  <a:srgbClr val="FFFFFF"/>
                </a:solidFill>
                <a:latin typeface="Segoe UI Semibold"/>
              </a:rPr>
              <a:t>The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834640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lang="en-US">
                <a:solidFill>
                  <a:srgbClr val="0F7A4E"/>
                </a:solidFill>
                <a:latin typeface="Segoe UI Semibold"/>
              </a:rPr>
              <a:t>▸  Turn a duty into a showcase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31455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lang="en-US">
                <a:solidFill>
                  <a:srgbClr val="394A66"/>
                </a:solidFill>
                <a:latin typeface="Segoe UI"/>
              </a:rPr>
              <a:t>Be the PSB that meets the mandate with a modern, home-grown AI system — a natural centrepiece for the Global Fintech Fest.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913632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lang="en-US">
                <a:solidFill>
                  <a:srgbClr val="0F7A4E"/>
                </a:solidFill>
                <a:latin typeface="Segoe UI Semibold"/>
              </a:rPr>
              <a:t>▸  Protect the licence &amp; the trust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42245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lang="en-US">
                <a:solidFill>
                  <a:srgbClr val="394A66"/>
                </a:solidFill>
                <a:latin typeface="Segoe UI"/>
              </a:rPr>
              <a:t>Demonstrable, inspection-ready controls reduce regulatory risk and protect the bank's reputation with customers and the Board.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992624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lang="en-US">
                <a:solidFill>
                  <a:srgbClr val="0F7A4E"/>
                </a:solidFill>
                <a:latin typeface="Segoe UI Semibold"/>
              </a:rPr>
              <a:t>▸  Lead, don't follow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530352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lang="en-US">
                <a:solidFill>
                  <a:srgbClr val="394A66"/>
                </a:solidFill>
                <a:latin typeface="Segoe UI"/>
              </a:rPr>
              <a:t>No global vendor offers an on-prem, India-sovereign, insider-focused, RBI-native system. This is open ground.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whole"/>
      <p:bldP spid="20" grpId="0" build="whol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lang="en-US" spc="120">
                <a:solidFill>
                  <a:srgbClr val="0E7490"/>
                </a:solidFill>
                <a:latin typeface="Segoe UI Semibold"/>
              </a:rPr>
              <a:t>WHAT HAWK-EYE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315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lang="en-US">
                <a:solidFill>
                  <a:srgbClr val="0E1B33"/>
                </a:solidFill>
                <a:latin typeface="Segoe UI Semibold"/>
              </a:rPr>
              <a:t>In one sentence — and it never touches your money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1094415" cy="0"/>
          </a:xfrm>
          <a:prstGeom prst="line">
            <a:avLst/>
          </a:prstGeom>
          <a:ln w="15240">
            <a:solidFill>
              <a:srgbClr val="DDE5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9326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lang="en-US" spc="20">
                <a:solidFill>
                  <a:srgbClr val="5C6C88"/>
                </a:solidFill>
                <a:latin typeface="Segoe UI"/>
              </a:rPr>
              <a:t>HAWK-EYE  ·  Team NINEAGENTS · SVKM's NMIMS  ·  for Union Bank of India  ·  RBI iDEA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lang="en-US">
                <a:solidFill>
                  <a:srgbClr val="0E7490"/>
                </a:solidFill>
                <a:latin typeface="Segoe UI Semibold"/>
              </a:rPr>
              <a:t>4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08792" cy="1371600"/>
          </a:xfrm>
          <a:prstGeom prst="roundRect">
            <a:avLst>
              <a:gd name="adj" fmla="val 5000"/>
            </a:avLst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38528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lang="en-US">
                <a:solidFill>
                  <a:srgbClr val="FFFFFF"/>
                </a:solidFill>
                <a:latin typeface="Segoe UI"/>
              </a:rPr>
              <a:t>It watches every action a privileged employee takes, gives each one a </a:t>
            </a:r>
            <a:r>
              <a:rPr sz="1800" b="1" lang="en-US">
                <a:solidFill>
                  <a:srgbClr val="7FE0F0"/>
                </a:solidFill>
                <a:latin typeface="Segoe UI Semibold"/>
              </a:rPr>
              <a:t>0–100 risk score</a:t>
            </a:r>
            <a:r>
              <a:rPr sz="1800" b="0" lang="en-US">
                <a:solidFill>
                  <a:srgbClr val="FFFFFF"/>
                </a:solidFill>
                <a:latin typeface="Segoe UI"/>
              </a:rPr>
              <a:t>, explains </a:t>
            </a:r>
            <a:r>
              <a:rPr sz="1800" b="1" lang="en-US">
                <a:solidFill>
                  <a:srgbClr val="7FE0F0"/>
                </a:solidFill>
                <a:latin typeface="Segoe UI Semibold"/>
              </a:rPr>
              <a:t>why</a:t>
            </a:r>
            <a:r>
              <a:rPr sz="1800" b="0" lang="en-US">
                <a:solidFill>
                  <a:srgbClr val="FFFFFF"/>
                </a:solidFill>
                <a:latin typeface="Segoe UI"/>
              </a:rPr>
              <a:t> in plain English, and places the risky few in front of an officer.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1" lang="en-US">
                <a:solidFill>
                  <a:srgbClr val="C9D8F2"/>
                </a:solidFill>
                <a:latin typeface="Segoe UI"/>
              </a:rPr>
              <a:t>It never blocks a payment and never brands anyone a fraudster — </a:t>
            </a:r>
            <a:r>
              <a:rPr sz="1600" b="1" lang="en-US">
                <a:solidFill>
                  <a:srgbClr val="FFFFFF"/>
                </a:solidFill>
                <a:latin typeface="Segoe UI Semibold"/>
              </a:rPr>
              <a:t>a human always decides.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2670048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2670048" cy="914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639312"/>
            <a:ext cx="23408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lang="en-US">
                <a:solidFill>
                  <a:srgbClr val="0E7490"/>
                </a:solidFill>
                <a:latin typeface="Segoe UI Semibold"/>
              </a:rPr>
              <a:t>Watches the right 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480560"/>
            <a:ext cx="234086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en-US">
                <a:solidFill>
                  <a:srgbClr val="394A66"/>
                </a:solidFill>
                <a:latin typeface="Segoe UI"/>
              </a:rPr>
              <a:t>DBAs, sysadmins, SWIFT/treasury operators, makers &amp; checkers, loan officers, IAM/PAM admins — across core banking, treasury, loans and customer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383280"/>
            <a:ext cx="2670048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3383280"/>
            <a:ext cx="2670048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639312"/>
            <a:ext cx="23408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lang="en-US">
                <a:solidFill>
                  <a:srgbClr val="1D4ED8"/>
                </a:solidFill>
                <a:latin typeface="Segoe UI Semibold"/>
              </a:rPr>
              <a:t>Learns what 'normal' looks like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480560"/>
            <a:ext cx="234086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en-US">
                <a:solidFill>
                  <a:srgbClr val="394A66"/>
                </a:solidFill>
                <a:latin typeface="Segoe UI"/>
              </a:rPr>
              <a:t>For each person, compared with their peers — so it flags the genuinely unusual (odd hours, bulk downloads, self-granted access, sudden approvals) not the merely busy.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2670048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2670048" cy="91440"/>
          </a:xfrm>
          <a:prstGeom prst="rect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39312"/>
            <a:ext cx="23408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lang="en-US">
                <a:solidFill>
                  <a:srgbClr val="0F7A4E"/>
                </a:solidFill>
                <a:latin typeface="Segoe UI Semibold"/>
              </a:rPr>
              <a:t>Explains every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234086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en-US">
                <a:solidFill>
                  <a:srgbClr val="394A66"/>
                </a:solidFill>
                <a:latin typeface="Segoe UI"/>
              </a:rPr>
              <a:t>Plain-English reasons, the contributing signals, and a connection map — an officer understands it in seconds; a regulator can audit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39" y="3383280"/>
            <a:ext cx="2670048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39" y="3383280"/>
            <a:ext cx="2670048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19" y="3639312"/>
            <a:ext cx="23408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lang="en-US">
                <a:solidFill>
                  <a:srgbClr val="6D28D9"/>
                </a:solidFill>
                <a:latin typeface="Segoe UI Semibold"/>
              </a:rPr>
              <a:t>Improves as it 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4480560"/>
            <a:ext cx="234086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en-US">
                <a:solidFill>
                  <a:srgbClr val="394A66"/>
                </a:solidFill>
                <a:latin typeface="Segoe UI"/>
              </a:rPr>
              <a:t>Every officer's decision teaches the system, so accuracy rises and false alarms fall the longer the bank uses it.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1" grpId="0" build="whole"/>
      <p:bldP spid="15" grpId="0" build="whole"/>
      <p:bldP spid="19" grpId="0" build="whole"/>
      <p:bldP spid="23" grpId="0" build="whol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lang="en-US" spc="120">
                <a:solidFill>
                  <a:srgbClr val="0B2E63"/>
                </a:solidFill>
                <a:latin typeface="Segoe UI Semibold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315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lang="en-US">
                <a:solidFill>
                  <a:srgbClr val="0E1B33"/>
                </a:solidFill>
                <a:latin typeface="Segoe UI Semibold"/>
              </a:rPr>
              <a:t>Seven checks, one score — for every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lang="en-US">
                <a:solidFill>
                  <a:srgbClr val="394A66"/>
                </a:solidFill>
                <a:latin typeface="Segoe UI"/>
              </a:rPr>
              <a:t>Each action passes through layered checks; the results combine into a single, calibrated score.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19088"/>
            <a:ext cx="11094415" cy="0"/>
          </a:xfrm>
          <a:prstGeom prst="line">
            <a:avLst/>
          </a:prstGeom>
          <a:ln w="15240">
            <a:solidFill>
              <a:srgbClr val="DDE5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73952"/>
            <a:ext cx="9326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lang="en-US" spc="20">
                <a:solidFill>
                  <a:srgbClr val="5C6C88"/>
                </a:solidFill>
                <a:latin typeface="Segoe UI"/>
              </a:rPr>
              <a:t>HAWK-EYE  ·  Team NINEAGENTS · SVKM's NMIMS  ·  for Union Bank of India  ·  RBI iDEA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lang="en-US">
                <a:solidFill>
                  <a:srgbClr val="0B2E63"/>
                </a:solidFill>
                <a:latin typeface="Segoe UI Semibold"/>
              </a:rPr>
              <a:t>5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40164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1446" y="2450592"/>
            <a:ext cx="438912" cy="43891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1446" y="244144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lang="en-US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971800"/>
            <a:ext cx="12919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lang="en-US">
                <a:solidFill>
                  <a:srgbClr val="0E1B33"/>
                </a:solidFill>
                <a:latin typeface="Segoe UI Semibold"/>
              </a:rPr>
              <a:t>Standardise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" y="3328415"/>
            <a:ext cx="12553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lang="en-US">
                <a:solidFill>
                  <a:srgbClr val="394A66"/>
                </a:solidFill>
                <a:latin typeface="Segoe UI"/>
              </a:rPr>
              <a:t>every action becomes one common record</a:t>
            </a:r>
          </a:p>
        </p:txBody>
      </p:sp>
      <p:sp>
        <p:nvSpPr>
          <p:cNvPr id="15" name="Chevron 14"/>
          <p:cNvSpPr/>
          <p:nvPr/>
        </p:nvSpPr>
        <p:spPr>
          <a:xfrm>
            <a:off x="2060012" y="3067812"/>
            <a:ext cx="146304" cy="219456"/>
          </a:xfrm>
          <a:prstGeom prst="chevron">
            <a:avLst/>
          </a:prstGeom>
          <a:solidFill>
            <a:srgbClr val="B9C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24604" y="2286000"/>
            <a:ext cx="140164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05970" y="2450592"/>
            <a:ext cx="438912" cy="43891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5970" y="244144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lang="en-US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9468" y="2971800"/>
            <a:ext cx="12919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lang="en-US">
                <a:solidFill>
                  <a:srgbClr val="0E1B33"/>
                </a:solidFill>
                <a:latin typeface="Segoe UI Semibold"/>
              </a:rPr>
              <a:t>Hard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7756" y="3328415"/>
            <a:ext cx="12553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lang="en-US">
                <a:solidFill>
                  <a:srgbClr val="394A66"/>
                </a:solidFill>
                <a:latin typeface="Segoe UI"/>
              </a:rPr>
              <a:t>known red-flags &amp; two-person breaches</a:t>
            </a:r>
          </a:p>
        </p:txBody>
      </p:sp>
      <p:sp>
        <p:nvSpPr>
          <p:cNvPr id="21" name="Chevron 20"/>
          <p:cNvSpPr/>
          <p:nvPr/>
        </p:nvSpPr>
        <p:spPr>
          <a:xfrm>
            <a:off x="3644537" y="3067812"/>
            <a:ext cx="146304" cy="219456"/>
          </a:xfrm>
          <a:prstGeom prst="chevron">
            <a:avLst/>
          </a:prstGeom>
          <a:solidFill>
            <a:srgbClr val="B9C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09129" y="2286000"/>
            <a:ext cx="140164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90495" y="2450592"/>
            <a:ext cx="438912" cy="43891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0495" y="244144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lang="en-US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3993" y="2971800"/>
            <a:ext cx="12919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lang="en-US">
                <a:solidFill>
                  <a:srgbClr val="0E1B33"/>
                </a:solidFill>
                <a:latin typeface="Segoe UI Semibold"/>
              </a:rPr>
              <a:t>Behaviour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2281" y="3328415"/>
            <a:ext cx="12553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lang="en-US">
                <a:solidFill>
                  <a:srgbClr val="394A66"/>
                </a:solidFill>
                <a:latin typeface="Segoe UI"/>
              </a:rPr>
              <a:t>is this unusual for this person vs peers?</a:t>
            </a:r>
          </a:p>
        </p:txBody>
      </p:sp>
      <p:sp>
        <p:nvSpPr>
          <p:cNvPr id="27" name="Chevron 26"/>
          <p:cNvSpPr/>
          <p:nvPr/>
        </p:nvSpPr>
        <p:spPr>
          <a:xfrm>
            <a:off x="5229061" y="3067812"/>
            <a:ext cx="146304" cy="219456"/>
          </a:xfrm>
          <a:prstGeom prst="chevron">
            <a:avLst/>
          </a:prstGeom>
          <a:solidFill>
            <a:srgbClr val="B9C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93653" y="2286000"/>
            <a:ext cx="140164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F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75020" y="2450592"/>
            <a:ext cx="438912" cy="438912"/>
          </a:xfrm>
          <a:prstGeom prst="ellipse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5020" y="244144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lang="en-US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8517" y="2971800"/>
            <a:ext cx="12919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lang="en-US">
                <a:solidFill>
                  <a:srgbClr val="0E1B33"/>
                </a:solidFill>
                <a:latin typeface="Segoe UI Semibold"/>
              </a:rPr>
              <a:t>Learned patterns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6805" y="3328415"/>
            <a:ext cx="12553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lang="en-US">
                <a:solidFill>
                  <a:srgbClr val="394A66"/>
                </a:solidFill>
                <a:latin typeface="Segoe UI"/>
              </a:rPr>
              <a:t>does it resemble past known fraud?</a:t>
            </a:r>
          </a:p>
        </p:txBody>
      </p:sp>
      <p:sp>
        <p:nvSpPr>
          <p:cNvPr id="33" name="Chevron 32"/>
          <p:cNvSpPr/>
          <p:nvPr/>
        </p:nvSpPr>
        <p:spPr>
          <a:xfrm>
            <a:off x="6813586" y="3067812"/>
            <a:ext cx="146304" cy="219456"/>
          </a:xfrm>
          <a:prstGeom prst="chevron">
            <a:avLst/>
          </a:prstGeom>
          <a:solidFill>
            <a:srgbClr val="B9C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78178" y="2286000"/>
            <a:ext cx="140164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59544" y="2450592"/>
            <a:ext cx="438912" cy="43891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9544" y="244144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lang="en-US">
                <a:solidFill>
                  <a:srgbClr val="FFFFFF"/>
                </a:solidFill>
                <a:latin typeface="Segoe UI Black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3042" y="2971800"/>
            <a:ext cx="12919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lang="en-US">
                <a:solidFill>
                  <a:srgbClr val="0E1B33"/>
                </a:solidFill>
                <a:latin typeface="Segoe UI Semibold"/>
              </a:rPr>
              <a:t>Sequence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1330" y="3328415"/>
            <a:ext cx="12553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lang="en-US">
                <a:solidFill>
                  <a:srgbClr val="394A66"/>
                </a:solidFill>
                <a:latin typeface="Segoe UI"/>
              </a:rPr>
              <a:t>is the order &amp; timing of actions odd?</a:t>
            </a:r>
          </a:p>
        </p:txBody>
      </p:sp>
      <p:sp>
        <p:nvSpPr>
          <p:cNvPr id="39" name="Chevron 38"/>
          <p:cNvSpPr/>
          <p:nvPr/>
        </p:nvSpPr>
        <p:spPr>
          <a:xfrm>
            <a:off x="8398110" y="3067812"/>
            <a:ext cx="146304" cy="219456"/>
          </a:xfrm>
          <a:prstGeom prst="chevron">
            <a:avLst/>
          </a:prstGeom>
          <a:solidFill>
            <a:srgbClr val="B9C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562702" y="2286000"/>
            <a:ext cx="140164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C5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44069" y="2450592"/>
            <a:ext cx="438912" cy="438912"/>
          </a:xfrm>
          <a:prstGeom prst="ellipse">
            <a:avLst/>
          </a:prstGeom>
          <a:solidFill>
            <a:srgbClr val="C5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44069" y="244144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lang="en-US">
                <a:solidFill>
                  <a:srgbClr val="FFFFFF"/>
                </a:solidFill>
                <a:latin typeface="Segoe UI Black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17566" y="2971800"/>
            <a:ext cx="12919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lang="en-US">
                <a:solidFill>
                  <a:srgbClr val="0E1B33"/>
                </a:solidFill>
                <a:latin typeface="Segoe UI Semibold"/>
              </a:rPr>
              <a:t>Connections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35854" y="3328415"/>
            <a:ext cx="12553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lang="en-US">
                <a:solidFill>
                  <a:srgbClr val="394A66"/>
                </a:solidFill>
                <a:latin typeface="Segoe UI"/>
              </a:rPr>
              <a:t>collusion rings &amp; shell-vendor links</a:t>
            </a:r>
          </a:p>
        </p:txBody>
      </p:sp>
      <p:sp>
        <p:nvSpPr>
          <p:cNvPr id="45" name="Chevron 44"/>
          <p:cNvSpPr/>
          <p:nvPr/>
        </p:nvSpPr>
        <p:spPr>
          <a:xfrm>
            <a:off x="9982635" y="3067812"/>
            <a:ext cx="146304" cy="219456"/>
          </a:xfrm>
          <a:prstGeom prst="chevron">
            <a:avLst/>
          </a:prstGeom>
          <a:solidFill>
            <a:srgbClr val="B9C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147227" y="2286000"/>
            <a:ext cx="140164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B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628593" y="2450592"/>
            <a:ext cx="438912" cy="438912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28593" y="244144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lang="en-US">
                <a:solidFill>
                  <a:srgbClr val="FFFFFF"/>
                </a:solidFill>
                <a:latin typeface="Segoe UI Black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02091" y="2971800"/>
            <a:ext cx="12919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lang="en-US">
                <a:solidFill>
                  <a:srgbClr val="0E1B33"/>
                </a:solidFill>
                <a:latin typeface="Segoe UI Semibold"/>
              </a:rPr>
              <a:t>One 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20379" y="3328415"/>
            <a:ext cx="12553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lang="en-US">
                <a:solidFill>
                  <a:srgbClr val="394A66"/>
                </a:solidFill>
                <a:latin typeface="Segoe UI"/>
              </a:rPr>
              <a:t>0–100, with the reasons why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4343400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E9F6EF"/>
          </a:solidFill>
          <a:ln w="16510">
            <a:solidFill>
              <a:srgbClr val="0F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43434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en-US">
                <a:solidFill>
                  <a:srgbClr val="0F7A4E"/>
                </a:solidFill>
                <a:latin typeface="Segoe UI Semibold"/>
              </a:rPr>
              <a:t>REAL-TIME LANE:  </a:t>
            </a:r>
            <a:r>
              <a:rPr sz="1400" b="0" lang="en-US">
                <a:solidFill>
                  <a:srgbClr val="394A66"/>
                </a:solidFill>
                <a:latin typeface="Segoe UI"/>
              </a:rPr>
              <a:t>the everyday privileged action is scored in seconds — the moment it happens.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029200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FCF3E4"/>
          </a:solidFill>
          <a:ln w="1651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50292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en-US">
                <a:solidFill>
                  <a:srgbClr val="B45309"/>
                </a:solidFill>
                <a:latin typeface="Segoe UI Semibold"/>
              </a:rPr>
              <a:t>SLOW-BURN LANE:  </a:t>
            </a:r>
            <a:r>
              <a:rPr sz="1400" b="0" lang="en-US">
                <a:solidFill>
                  <a:srgbClr val="394A66"/>
                </a:solidFill>
                <a:latin typeface="Segoe UI"/>
              </a:rPr>
              <a:t>quieter schemes (ghost vendors, ghost payroll, loan collusion) build up over weeks — and feed RBI's Early-Warning reporting.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742432"/>
            <a:ext cx="10908792" cy="45720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742432"/>
            <a:ext cx="10908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0" lang="en-US">
                <a:solidFill>
                  <a:srgbClr val="394A66"/>
                </a:solidFill>
                <a:latin typeface="Segoe UI"/>
              </a:rPr>
              <a:t>The result is always </a:t>
            </a:r>
            <a:r>
              <a:rPr sz="1350" b="1" lang="en-US">
                <a:solidFill>
                  <a:srgbClr val="0B2E63"/>
                </a:solidFill>
                <a:latin typeface="Segoe UI Semibold"/>
              </a:rPr>
              <a:t>one ranked alert per person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 — with the reasons attached — so officers are guided, never buried.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whole"/>
      <p:bldP spid="16" grpId="0" build="whole"/>
      <p:bldP spid="22" grpId="0" build="whole"/>
      <p:bldP spid="28" grpId="0" build="whole"/>
      <p:bldP spid="34" grpId="0" build="whole"/>
      <p:bldP spid="40" grpId="0" build="whole"/>
      <p:bldP spid="46" grpId="0" build="whole"/>
      <p:bldP spid="51" grpId="0" build="whole"/>
      <p:bldP spid="53" grpId="0" build="whole"/>
      <p:bldP spid="55" grpId="0" build="whole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lang="en-US" spc="120">
                <a:solidFill>
                  <a:srgbClr val="0E7490"/>
                </a:solidFill>
                <a:latin typeface="Segoe UI Semibold"/>
              </a:rPr>
              <a:t>WHAT YOUR OFFICER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315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lang="en-US">
                <a:solidFill>
                  <a:srgbClr val="0E1B33"/>
                </a:solidFill>
                <a:latin typeface="Segoe UI Semibold"/>
              </a:rPr>
              <a:t>The whole story on one screen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1094415" cy="0"/>
          </a:xfrm>
          <a:prstGeom prst="line">
            <a:avLst/>
          </a:prstGeom>
          <a:ln w="15240">
            <a:solidFill>
              <a:srgbClr val="DDE5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9326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lang="en-US" spc="20">
                <a:solidFill>
                  <a:srgbClr val="5C6C88"/>
                </a:solidFill>
                <a:latin typeface="Segoe UI"/>
              </a:rPr>
              <a:t>HAWK-EYE  ·  Team NINEAGENTS · SVKM's NMIMS  ·  for Union Bank of India  ·  RBI iDEA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lang="en-US">
                <a:solidFill>
                  <a:srgbClr val="0E7490"/>
                </a:solidFill>
                <a:latin typeface="Segoe UI Semibold"/>
              </a:rPr>
              <a:t>6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0908792" cy="416052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524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10908792" cy="384048"/>
          </a:xfrm>
          <a:prstGeom prst="roundRect">
            <a:avLst>
              <a:gd name="adj" fmla="val 2000"/>
            </a:avLst>
          </a:prstGeom>
          <a:solidFill>
            <a:srgbClr val="E7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847088"/>
            <a:ext cx="128016" cy="128016"/>
          </a:xfrm>
          <a:prstGeom prst="ellipse">
            <a:avLst/>
          </a:prstGeom>
          <a:solidFill>
            <a:srgbClr val="C5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847088"/>
            <a:ext cx="128016" cy="12801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5296" y="1847088"/>
            <a:ext cx="128016" cy="128016"/>
          </a:xfrm>
          <a:prstGeom prst="ellipse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1737360"/>
            <a:ext cx="6400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lang="en-US">
                <a:solidFill>
                  <a:srgbClr val="5C6C88"/>
                </a:solidFill>
                <a:latin typeface="Segoe UI"/>
              </a:rPr>
              <a:t>Hawk-Eye  ·  Investigator Console  ·  Alert  alr-3d7e22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173736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50" b="0" lang="en-US">
                <a:solidFill>
                  <a:srgbClr val="5C6C88"/>
                </a:solidFill>
                <a:latin typeface="Segoe UI"/>
              </a:rPr>
              <a:t>Analyst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331720"/>
            <a:ext cx="28803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37360" y="2679191"/>
            <a:ext cx="1133856" cy="1133856"/>
          </a:xfrm>
          <a:prstGeom prst="ellipse">
            <a:avLst/>
          </a:prstGeom>
          <a:noFill/>
          <a:ln w="76200">
            <a:solidFill>
              <a:srgbClr val="C5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83664" y="2825496"/>
            <a:ext cx="841248" cy="841248"/>
          </a:xfrm>
          <a:prstGeom prst="ellipse">
            <a:avLst/>
          </a:prstGeom>
          <a:noFill/>
          <a:ln w="1778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2916936"/>
            <a:ext cx="1133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lang="en-US">
                <a:solidFill>
                  <a:srgbClr val="C51F2E"/>
                </a:solidFill>
                <a:latin typeface="Segoe UI Black"/>
              </a:rPr>
              <a:t>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392424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lang="en-US" spc="40">
                <a:solidFill>
                  <a:srgbClr val="C51F2E"/>
                </a:solidFill>
                <a:latin typeface="Segoe UI Semibold"/>
              </a:rPr>
              <a:t>HIGH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233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E1B33"/>
                </a:solidFill>
                <a:latin typeface="Segoe UI Semibold"/>
              </a:rPr>
              <a:t>EMP-7f3a  (name hidden)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1596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en-US">
                <a:solidFill>
                  <a:srgbClr val="394A66"/>
                </a:solidFill>
                <a:latin typeface="Segoe UI"/>
              </a:rPr>
              <a:t>Ops Maker · Trade Finance
Branch BR-219 · 7 yrs tenure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9204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lang="en-US">
                <a:solidFill>
                  <a:srgbClr val="5C6C88"/>
                </a:solidFill>
                <a:latin typeface="Segoe UI"/>
              </a:rPr>
              <a:t>Exposure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900" b="1" lang="en-US">
                <a:solidFill>
                  <a:srgbClr val="0E1B33"/>
                </a:solidFill>
                <a:latin typeface="Segoe UI Black"/>
              </a:rPr>
              <a:t>₹48,00,000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2331720"/>
            <a:ext cx="3977639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248716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lang="en-US">
                <a:solidFill>
                  <a:srgbClr val="0B2E63"/>
                </a:solidFill>
                <a:latin typeface="Segoe UI Semibold"/>
              </a:rPr>
              <a:t>Why this was flagged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14800" y="2953512"/>
            <a:ext cx="0" cy="521208"/>
          </a:xfrm>
          <a:prstGeom prst="line">
            <a:avLst/>
          </a:prstGeom>
          <a:ln w="38100">
            <a:solidFill>
              <a:srgbClr val="C51F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61104" y="290779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E1B33"/>
                </a:solidFill>
                <a:latin typeface="Segoe UI Semibold"/>
              </a:rPr>
              <a:t>New payee → huge payment, fast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1104" y="3182112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en-US">
                <a:solidFill>
                  <a:srgbClr val="394A66"/>
                </a:solidFill>
                <a:latin typeface="Segoe UI"/>
              </a:rPr>
              <a:t>A brand-new beneficiary was paid ₹48 lakh just 27 minutes after being created.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14800" y="3813048"/>
            <a:ext cx="0" cy="521208"/>
          </a:xfrm>
          <a:prstGeom prst="line">
            <a:avLst/>
          </a:prstGeom>
          <a:ln w="38100">
            <a:solidFill>
              <a:srgbClr val="B453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61104" y="3767328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E1B33"/>
                </a:solidFill>
                <a:latin typeface="Segoe UI Semibold"/>
              </a:rPr>
              <a:t>Done in the dead of night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61104" y="4041648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en-US">
                <a:solidFill>
                  <a:srgbClr val="394A66"/>
                </a:solidFill>
                <a:latin typeface="Segoe UI"/>
              </a:rPr>
              <a:t>02:14 AM — far outside this officer's and their team's normal hours.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14800" y="4672584"/>
            <a:ext cx="0" cy="521208"/>
          </a:xfrm>
          <a:prstGeom prst="line">
            <a:avLst/>
          </a:prstGeom>
          <a:ln w="38100">
            <a:solidFill>
              <a:srgbClr val="6D2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261104" y="4626864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E1B33"/>
                </a:solidFill>
                <a:latin typeface="Segoe UI Semibold"/>
              </a:rPr>
              <a:t>The same two people, every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61104" y="4901184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lang="en-US">
                <a:solidFill>
                  <a:srgbClr val="394A66"/>
                </a:solidFill>
                <a:latin typeface="Segoe UI"/>
              </a:rPr>
              <a:t>Maker and checker approve only each other — an isolated pair (a possible ring).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5046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lang="en-US">
                <a:solidFill>
                  <a:srgbClr val="5C6C88"/>
                </a:solidFill>
                <a:latin typeface="Segoe UI"/>
              </a:rPr>
              <a:t>Plain-English summary written by the AI assistant.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233172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248716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en-US">
                <a:solidFill>
                  <a:srgbClr val="0B2E63"/>
                </a:solidFill>
                <a:latin typeface="Segoe UI Semibold"/>
              </a:rPr>
              <a:t>The connection map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69680" y="3200400"/>
            <a:ext cx="1645920" cy="0"/>
          </a:xfrm>
          <a:prstGeom prst="line">
            <a:avLst/>
          </a:prstGeom>
          <a:ln w="27940">
            <a:solidFill>
              <a:srgbClr val="E324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92640" y="3200400"/>
            <a:ext cx="0" cy="868680"/>
          </a:xfrm>
          <a:prstGeom prst="line">
            <a:avLst/>
          </a:prstGeom>
          <a:ln w="20320">
            <a:solidFill>
              <a:srgbClr val="39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631936" y="2962656"/>
            <a:ext cx="475488" cy="475488"/>
          </a:xfrm>
          <a:prstGeom prst="ellipse">
            <a:avLst/>
          </a:prstGeom>
          <a:solidFill>
            <a:srgbClr val="6D28D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3456432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lang="en-US">
                <a:solidFill>
                  <a:srgbClr val="0E1B33"/>
                </a:solidFill>
                <a:latin typeface="Segoe UI"/>
              </a:rPr>
              <a:t>Maker</a:t>
            </a:r>
          </a:p>
        </p:txBody>
      </p:sp>
      <p:sp>
        <p:nvSpPr>
          <p:cNvPr id="42" name="Oval 41"/>
          <p:cNvSpPr/>
          <p:nvPr/>
        </p:nvSpPr>
        <p:spPr>
          <a:xfrm>
            <a:off x="10277856" y="2962656"/>
            <a:ext cx="475488" cy="475488"/>
          </a:xfrm>
          <a:prstGeom prst="ellipse">
            <a:avLst/>
          </a:prstGeom>
          <a:solidFill>
            <a:srgbClr val="6D28D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3456432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lang="en-US">
                <a:solidFill>
                  <a:srgbClr val="0E1B33"/>
                </a:solidFill>
                <a:latin typeface="Segoe UI"/>
              </a:rPr>
              <a:t>Checker</a:t>
            </a:r>
          </a:p>
        </p:txBody>
      </p:sp>
      <p:sp>
        <p:nvSpPr>
          <p:cNvPr id="44" name="Oval 43"/>
          <p:cNvSpPr/>
          <p:nvPr/>
        </p:nvSpPr>
        <p:spPr>
          <a:xfrm>
            <a:off x="9473184" y="3941063"/>
            <a:ext cx="438912" cy="438912"/>
          </a:xfrm>
          <a:prstGeom prst="ellipse">
            <a:avLst/>
          </a:prstGeom>
          <a:solidFill>
            <a:srgbClr val="C51F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4398264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lang="en-US">
                <a:solidFill>
                  <a:srgbClr val="C51F2E"/>
                </a:solidFill>
                <a:latin typeface="Segoe UI"/>
              </a:rPr>
              <a:t>New payee ₹48L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4626864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lang="en-US">
                <a:solidFill>
                  <a:srgbClr val="E3242B"/>
                </a:solidFill>
                <a:latin typeface="Segoe UI Semibold"/>
              </a:rPr>
              <a:t>Maker–checker ring · RNG-12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11312" y="4956048"/>
            <a:ext cx="3081528" cy="0"/>
          </a:xfrm>
          <a:prstGeom prst="line">
            <a:avLst/>
          </a:prstGeom>
          <a:ln w="12700">
            <a:solidFill>
              <a:srgbClr val="DDE5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211312" y="506577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C5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11312" y="5065776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lang="en-US" spc="20">
                <a:solidFill>
                  <a:srgbClr val="FFFFFF"/>
                </a:solidFill>
                <a:latin typeface="Segoe UI Semibold"/>
              </a:rPr>
              <a:t>Confirm fraud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56064" y="5065776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6F9FD"/>
          </a:solidFill>
          <a:ln w="17780">
            <a:solidFill>
              <a:srgbClr val="0F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56064" y="5065776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lang="en-US" spc="20">
                <a:solidFill>
                  <a:srgbClr val="0F7A4E"/>
                </a:solidFill>
                <a:latin typeface="Segoe UI Semibold"/>
              </a:rPr>
              <a:t>Not fraud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5468112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lang="en-US">
                <a:solidFill>
                  <a:srgbClr val="5C6C88"/>
                </a:solidFill>
                <a:latin typeface="Segoe UI"/>
              </a:rPr>
              <a:t>An officer decides — never auto-blocks.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lang="en-US" spc="120">
                <a:solidFill>
                  <a:srgbClr val="1D4ED8"/>
                </a:solidFill>
                <a:latin typeface="Segoe UI Semibold"/>
              </a:rPr>
              <a:t>COMPLIANCE &amp;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315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lang="en-US">
                <a:solidFill>
                  <a:srgbClr val="0E1B33"/>
                </a:solidFill>
                <a:latin typeface="Segoe UI Semibold"/>
              </a:rPr>
              <a:t>Every RBI box ticked — inspection-ready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lang="en-US">
                <a:solidFill>
                  <a:srgbClr val="394A66"/>
                </a:solidFill>
                <a:latin typeface="Segoe UI"/>
              </a:rPr>
              <a:t>The system is designed to sit inside the regulatory machinery, not bolted on after.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19088"/>
            <a:ext cx="11094415" cy="0"/>
          </a:xfrm>
          <a:prstGeom prst="line">
            <a:avLst/>
          </a:prstGeom>
          <a:ln w="15240">
            <a:solidFill>
              <a:srgbClr val="DDE5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73952"/>
            <a:ext cx="9326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lang="en-US" spc="20">
                <a:solidFill>
                  <a:srgbClr val="5C6C88"/>
                </a:solidFill>
                <a:latin typeface="Segoe UI"/>
              </a:rPr>
              <a:t>HAWK-EYE  ·  Team NINEAGENTS · SVKM's NMIMS  ·  for Union Bank of India  ·  RBI iDEA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lang="en-US">
                <a:solidFill>
                  <a:srgbClr val="1D4ED8"/>
                </a:solidFill>
                <a:latin typeface="Segoe UI Semibold"/>
              </a:rPr>
              <a:t>7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10512"/>
            <a:ext cx="10908792" cy="457200"/>
          </a:xfrm>
          <a:prstGeom prst="roundRect">
            <a:avLst>
              <a:gd name="adj" fmla="val 4000"/>
            </a:avLst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 spc="40">
                <a:solidFill>
                  <a:srgbClr val="FFFFFF"/>
                </a:solidFill>
                <a:latin typeface="Segoe UI Semibold"/>
              </a:rPr>
              <a:t>WHAT THE REGULATOR EXPECTS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10512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 spc="40">
                <a:solidFill>
                  <a:srgbClr val="FFFFFF"/>
                </a:solidFill>
                <a:latin typeface="Segoe UI Semibold"/>
              </a:rPr>
              <a:t>HOW HAWK-EYE DELIVERS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10908792" cy="62179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2478024"/>
            <a:ext cx="237744" cy="237744"/>
          </a:xfrm>
          <a:prstGeom prst="ellipse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6887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286000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E1B33"/>
                </a:solidFill>
                <a:latin typeface="Segoe UI Semibold"/>
              </a:rPr>
              <a:t>A fair hearing before anyone is named (natural justice)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86000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lang="en-US">
                <a:solidFill>
                  <a:srgbClr val="394A66"/>
                </a:solidFill>
                <a:latin typeface="Segoe UI"/>
              </a:rPr>
              <a:t>Alerts only flag &amp; evidence; a person decides after due process. Never auto-classifies.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2"/>
            <a:ext cx="10908792" cy="621792"/>
          </a:xfrm>
          <a:prstGeom prst="roundRect">
            <a:avLst>
              <a:gd name="adj" fmla="val 0"/>
            </a:avLst>
          </a:prstGeom>
          <a:solidFill>
            <a:srgbClr val="F6F9FD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099816"/>
            <a:ext cx="237744" cy="237744"/>
          </a:xfrm>
          <a:prstGeom prst="ellipse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0906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907792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E1B33"/>
                </a:solidFill>
                <a:latin typeface="Segoe UI Semibold"/>
              </a:rPr>
              <a:t>Red-Flagged-Account lifecycle, FMR &amp; Central Fraud 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907792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lang="en-US">
                <a:solidFill>
                  <a:srgbClr val="394A66"/>
                </a:solidFill>
                <a:latin typeface="Segoe UI"/>
              </a:rPr>
              <a:t>Case workflow with the 7-day / 180-day clocks and one-click regulator-ready reports.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9584"/>
            <a:ext cx="10908792" cy="62179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3721608"/>
            <a:ext cx="237744" cy="237744"/>
          </a:xfrm>
          <a:prstGeom prst="ellipse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1246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529584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E1B33"/>
                </a:solidFill>
                <a:latin typeface="Segoe UI Semibold"/>
              </a:rPr>
              <a:t>Staff-accountability on a 6-month clock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529584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lang="en-US">
                <a:solidFill>
                  <a:srgbClr val="394A66"/>
                </a:solidFill>
                <a:latin typeface="Segoe UI"/>
              </a:rPr>
              <a:t>Built-in examination workflow and a tamper-proof record of who did what, and when.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151376"/>
            <a:ext cx="10908792" cy="621792"/>
          </a:xfrm>
          <a:prstGeom prst="roundRect">
            <a:avLst>
              <a:gd name="adj" fmla="val 0"/>
            </a:avLst>
          </a:prstGeom>
          <a:solidFill>
            <a:srgbClr val="F6F9FD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60" y="4343400"/>
            <a:ext cx="237744" cy="237744"/>
          </a:xfrm>
          <a:prstGeom prst="ellipse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3342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151376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E1B33"/>
                </a:solidFill>
                <a:latin typeface="Segoe UI Semibold"/>
              </a:rPr>
              <a:t>AI model governance (FREE-AI / Model-Risk)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151376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lang="en-US">
                <a:solidFill>
                  <a:srgbClr val="394A66"/>
                </a:solidFill>
                <a:latin typeface="Segoe UI"/>
              </a:rPr>
              <a:t>Model register, explainability on every alert, fairness tests, and a kill-switch.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773168"/>
            <a:ext cx="10908792" cy="62179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2960" y="4965192"/>
            <a:ext cx="237744" cy="237744"/>
          </a:xfrm>
          <a:prstGeom prst="ellipse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95604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773168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E1B33"/>
                </a:solidFill>
                <a:latin typeface="Segoe UI Semibold"/>
              </a:rPr>
              <a:t>Data stays in India, on the bank's own premises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773168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lang="en-US">
                <a:solidFill>
                  <a:srgbClr val="394A66"/>
                </a:solidFill>
                <a:latin typeface="Segoe UI"/>
              </a:rPr>
              <a:t>Runs in your data centre; nothing leaves. Personal identities are masked by default.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94959"/>
            <a:ext cx="10908792" cy="621792"/>
          </a:xfrm>
          <a:prstGeom prst="roundRect">
            <a:avLst>
              <a:gd name="adj" fmla="val 0"/>
            </a:avLst>
          </a:prstGeom>
          <a:solidFill>
            <a:srgbClr val="F6F9FD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2960" y="5586983"/>
            <a:ext cx="237744" cy="237744"/>
          </a:xfrm>
          <a:prstGeom prst="ellipse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5778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394959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E1B33"/>
                </a:solidFill>
                <a:latin typeface="Segoe UI Semibold"/>
              </a:rPr>
              <a:t>Watch the watchers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394959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lang="en-US">
                <a:solidFill>
                  <a:srgbClr val="394A66"/>
                </a:solidFill>
                <a:latin typeface="Segoe UI"/>
              </a:rPr>
              <a:t>Every view and every unmasking is written to a permanent, tamper-evident audit log.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whole"/>
      <p:bldP spid="13" grpId="0" build="whole"/>
      <p:bldP spid="18" grpId="0" build="whole"/>
      <p:bldP spid="23" grpId="0" build="whole"/>
      <p:bldP spid="28" grpId="0" build="whole"/>
      <p:bldP spid="33" grpId="0" build="whole"/>
      <p:bldP spid="38" grpId="0" build="whole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lang="en-US" spc="120">
                <a:solidFill>
                  <a:srgbClr val="0F7A4E"/>
                </a:solidFill>
                <a:latin typeface="Segoe UI Semibold"/>
              </a:rPr>
              <a:t>THE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315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lang="en-US">
                <a:solidFill>
                  <a:srgbClr val="0E1B33"/>
                </a:solidFill>
                <a:latin typeface="Segoe UI Semibold"/>
              </a:rPr>
              <a:t>One prevented fraud pays for years of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lang="en-US">
                <a:solidFill>
                  <a:srgbClr val="394A66"/>
                </a:solidFill>
                <a:latin typeface="Segoe UI"/>
              </a:rPr>
              <a:t>This is a cost-avoidance investment with a fast, conservative payback.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19088"/>
            <a:ext cx="11094415" cy="0"/>
          </a:xfrm>
          <a:prstGeom prst="line">
            <a:avLst/>
          </a:prstGeom>
          <a:ln w="15240">
            <a:solidFill>
              <a:srgbClr val="DDE5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73952"/>
            <a:ext cx="9326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lang="en-US" spc="20">
                <a:solidFill>
                  <a:srgbClr val="5C6C88"/>
                </a:solidFill>
                <a:latin typeface="Segoe UI"/>
              </a:rPr>
              <a:t>HAWK-EYE  ·  Team NINEAGENTS · SVKM's NMIMS  ·  for Union Bank of India  ·  RBI iDEA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lang="en-US">
                <a:solidFill>
                  <a:srgbClr val="0F7A4E"/>
                </a:solidFill>
                <a:latin typeface="Segoe UI Semibold"/>
              </a:rPr>
              <a:t>8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10512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10512"/>
            <a:ext cx="3566160" cy="1097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1031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lang="en-US">
                <a:solidFill>
                  <a:srgbClr val="0E7490"/>
                </a:solidFill>
                <a:latin typeface="Segoe UI Black"/>
              </a:rPr>
              <a:t>Months →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76148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lang="en-US">
                <a:solidFill>
                  <a:srgbClr val="394A66"/>
                </a:solidFill>
                <a:latin typeface="Segoe UI"/>
              </a:rPr>
              <a:t>Time to spot a digitally-visible insider scheme — collapsing the ~12-month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810512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2544" y="1810512"/>
            <a:ext cx="3566160" cy="109728"/>
          </a:xfrm>
          <a:prstGeom prst="rect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21031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lang="en-US">
                <a:solidFill>
                  <a:srgbClr val="0F7A4E"/>
                </a:solidFill>
                <a:latin typeface="Segoe UI Black"/>
              </a:rPr>
              <a:t>~8×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76148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lang="en-US">
                <a:solidFill>
                  <a:srgbClr val="394A66"/>
                </a:solidFill>
                <a:latin typeface="Segoe UI"/>
              </a:rPr>
              <a:t>Conservative value vs. cost — and it still pays back if you halve every assumption.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7" y="1810512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1810512"/>
            <a:ext cx="3566160" cy="109728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21031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lang="en-US">
                <a:solidFill>
                  <a:srgbClr val="0B2E63"/>
                </a:solidFill>
                <a:latin typeface="Segoe UI Black"/>
              </a:rPr>
              <a:t>₹10 L – ₹3 cr /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276148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lang="en-US">
                <a:solidFill>
                  <a:srgbClr val="394A66"/>
                </a:solidFill>
                <a:latin typeface="Segoe UI"/>
              </a:rPr>
              <a:t>All-in cost by bank size — a fraction of a single prevented insider fraud.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0050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lang="en-US">
                <a:solidFill>
                  <a:srgbClr val="0F7A4E"/>
                </a:solidFill>
                <a:latin typeface="Segoe UI Semibold"/>
              </a:rPr>
              <a:t>Where the value comes from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4407408"/>
            <a:ext cx="48463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F7A4E"/>
                </a:solidFill>
                <a:latin typeface="Segoe UI"/>
              </a:rPr>
              <a:t>▸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Fraud loss avoided — earlier detection means smaller losses and faster recovery.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4837176"/>
            <a:ext cx="48463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F7A4E"/>
                </a:solidFill>
                <a:latin typeface="Segoe UI"/>
              </a:rPr>
              <a:t>▸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Lower regulatory &amp; reputational risk — inspection-ready controls, fewer surprises.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5266944"/>
            <a:ext cx="48463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F7A4E"/>
                </a:solidFill>
                <a:latin typeface="Segoe UI"/>
              </a:rPr>
              <a:t>▸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Analyst time saved — one ranked alert per person, not a flood of false alarms.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5696712"/>
            <a:ext cx="48463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F7A4E"/>
                </a:solidFill>
                <a:latin typeface="Segoe UI"/>
              </a:rPr>
              <a:t>▸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Faster, defensible decisions — every alert already carries its evidence.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3912" y="384048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40416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lang="en-US">
                <a:solidFill>
                  <a:srgbClr val="FFFFFF"/>
                </a:solidFill>
                <a:latin typeface="Segoe UI Semibold"/>
              </a:rPr>
              <a:t>The simple logic for the 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526280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en-US">
                <a:solidFill>
                  <a:srgbClr val="C9D8F2"/>
                </a:solidFill>
                <a:latin typeface="Segoe UI"/>
              </a:rPr>
              <a:t>Public-sector banks lost </a:t>
            </a:r>
            <a:r>
              <a:rPr sz="1500" b="1" lang="en-US">
                <a:solidFill>
                  <a:srgbClr val="8FE6C2"/>
                </a:solidFill>
                <a:latin typeface="Segoe UI Semibold"/>
              </a:rPr>
              <a:t>₹25,667 cr</a:t>
            </a:r>
            <a:r>
              <a:rPr sz="1500" b="0" lang="en-US">
                <a:solidFill>
                  <a:srgbClr val="C9D8F2"/>
                </a:solidFill>
                <a:latin typeface="Segoe UI"/>
              </a:rPr>
              <a:t> to fraud last year.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</a:pPr>
            <a:r>
              <a:rPr sz="1500" b="0" lang="en-US">
                <a:solidFill>
                  <a:srgbClr val="C9D8F2"/>
                </a:solidFill>
                <a:latin typeface="Segoe UI"/>
              </a:rPr>
              <a:t>Stopping even </a:t>
            </a:r>
            <a:r>
              <a:rPr sz="1500" b="1" lang="en-US">
                <a:solidFill>
                  <a:srgbClr val="FFFFFF"/>
                </a:solidFill>
                <a:latin typeface="Segoe UI Semibold"/>
              </a:rPr>
              <a:t>one</a:t>
            </a:r>
            <a:r>
              <a:rPr sz="1500" b="0" lang="en-US">
                <a:solidFill>
                  <a:srgbClr val="C9D8F2"/>
                </a:solidFill>
                <a:latin typeface="Segoe UI"/>
              </a:rPr>
              <a:t> significant insider case funds Hawk-Eye for years.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400" b="1" lang="en-US">
                <a:solidFill>
                  <a:srgbClr val="FFFFFF"/>
                </a:solidFill>
                <a:latin typeface="Segoe UI Semibold"/>
              </a:rPr>
              <a:t>Everything else — compliance, trust, prestige — is upside.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whole"/>
      <p:bldP spid="14" grpId="0" build="whole"/>
      <p:bldP spid="18" grpId="0" build="whole"/>
      <p:bldP spid="22" grpId="0" build="whole"/>
      <p:bldP spid="28" grpId="0" build="whole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lang="en-US" spc="120">
                <a:solidFill>
                  <a:srgbClr val="0E7490"/>
                </a:solidFill>
                <a:latin typeface="Segoe UI Semibold"/>
              </a:rPr>
              <a:t>ENTERPRISE-GRADE &amp; SOVEREIGN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315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lang="en-US">
                <a:solidFill>
                  <a:srgbClr val="0E1B33"/>
                </a:solidFill>
                <a:latin typeface="Segoe UI Semibold"/>
              </a:rPr>
              <a:t>Built like a bank system — and fully sovereign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1094415" cy="0"/>
          </a:xfrm>
          <a:prstGeom prst="line">
            <a:avLst/>
          </a:prstGeom>
          <a:ln w="15240">
            <a:solidFill>
              <a:srgbClr val="DDE5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9326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lang="en-US" spc="20">
                <a:solidFill>
                  <a:srgbClr val="5C6C88"/>
                </a:solidFill>
                <a:latin typeface="Segoe UI"/>
              </a:rPr>
              <a:t>HAWK-EYE  ·  Team NINEAGENTS · SVKM's NMIMS  ·  for Union Bank of India  ·  RBI iDEA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lang="en-US">
                <a:solidFill>
                  <a:srgbClr val="0E7490"/>
                </a:solidFill>
                <a:latin typeface="Segoe UI Semibold"/>
              </a:rPr>
              <a:t>9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10512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10512"/>
            <a:ext cx="3566160" cy="566928"/>
          </a:xfrm>
          <a:prstGeom prst="roundRect">
            <a:avLst>
              <a:gd name="adj" fmla="val 6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57984"/>
            <a:ext cx="3566160" cy="2194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lang="en-US" spc="30">
                <a:solidFill>
                  <a:srgbClr val="FFFFFF"/>
                </a:solidFill>
                <a:latin typeface="Segoe UI Semibold"/>
              </a:rPr>
              <a:t>BUILT FOR YOUR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8775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en-US">
                <a:solidFill>
                  <a:srgbClr val="1D4ED8"/>
                </a:solidFill>
                <a:latin typeface="Segoe UI"/>
              </a:rPr>
              <a:t>•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Handles the volume of ~8,000+ branches and thousands of privileged users.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68503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en-US">
                <a:solidFill>
                  <a:srgbClr val="1D4ED8"/>
                </a:solidFill>
                <a:latin typeface="Segoe UI"/>
              </a:rPr>
              <a:t>•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Modern streaming core — scores actions the moment they happen.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78231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en-US">
                <a:solidFill>
                  <a:srgbClr val="1D4ED8"/>
                </a:solidFill>
                <a:latin typeface="Segoe UI"/>
              </a:rPr>
              <a:t>•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Runs one ranked alert per person, so investigators are never overwhelmed.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1810512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52544" y="1810512"/>
            <a:ext cx="3566160" cy="566928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2544" y="2157984"/>
            <a:ext cx="3566160" cy="21945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1810512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lang="en-US" spc="30">
                <a:solidFill>
                  <a:srgbClr val="FFFFFF"/>
                </a:solidFill>
                <a:latin typeface="Segoe UI Semibold"/>
              </a:rPr>
              <a:t>SECURE &amp; SOVEREIGN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58775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en-US">
                <a:solidFill>
                  <a:srgbClr val="0E7490"/>
                </a:solidFill>
                <a:latin typeface="Segoe UI"/>
              </a:rPr>
              <a:t>•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On-premise, inside your data centre — India-resident by design.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68503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en-US">
                <a:solidFill>
                  <a:srgbClr val="0E7490"/>
                </a:solidFill>
                <a:latin typeface="Segoe UI"/>
              </a:rPr>
              <a:t>•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Encrypted throughout; secrets in a hardware vault; access strictly role-based.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78231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en-US">
                <a:solidFill>
                  <a:srgbClr val="0E7490"/>
                </a:solidFill>
                <a:latin typeface="Segoe UI"/>
              </a:rPr>
              <a:t>•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The AI assistant runs in a secure enclave — even the model provider can't read the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7" y="1810512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65007" y="1810512"/>
            <a:ext cx="3566160" cy="566928"/>
          </a:xfrm>
          <a:prstGeom prst="roundRect">
            <a:avLst>
              <a:gd name="adj" fmla="val 6000"/>
            </a:avLst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7" y="2157984"/>
            <a:ext cx="3566160" cy="219456"/>
          </a:xfrm>
          <a:prstGeom prst="rect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7" y="1810512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lang="en-US" spc="30">
                <a:solidFill>
                  <a:srgbClr val="FFFFFF"/>
                </a:solidFill>
                <a:latin typeface="Segoe UI Semibold"/>
              </a:rPr>
              <a:t>PROVEN, NOT A CONCEPT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258775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en-US">
                <a:solidFill>
                  <a:srgbClr val="0F7A4E"/>
                </a:solidFill>
                <a:latin typeface="Segoe UI"/>
              </a:rPr>
              <a:t>•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A complete working system — built, tested and ready to pilot.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368503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en-US">
                <a:solidFill>
                  <a:srgbClr val="0F7A4E"/>
                </a:solidFill>
                <a:latin typeface="Segoe UI"/>
              </a:rPr>
              <a:t>•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Connects to Finacle, SWIFT/treasury, privileged-access and HR systems.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478231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lang="en-US">
                <a:solidFill>
                  <a:srgbClr val="0F7A4E"/>
                </a:solidFill>
                <a:latin typeface="Segoe UI"/>
              </a:rPr>
              <a:t>•  </a:t>
            </a:r>
            <a:r>
              <a:rPr sz="1350" b="0" lang="en-US">
                <a:solidFill>
                  <a:srgbClr val="394A66"/>
                </a:solidFill>
                <a:latin typeface="Segoe UI"/>
              </a:rPr>
              <a:t>A low-risk pilot runs first on synthetic data — zero exposure of real records.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6" grpId="0" build="whole"/>
      <p:bldP spid="23" grpId="0" build="whole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lang="en-US" spc="120">
                <a:solidFill>
                  <a:srgbClr val="C51F2E"/>
                </a:solidFill>
                <a:latin typeface="Segoe UI Semibold"/>
              </a:rPr>
              <a:t>THE STRATEGIC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315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lang="en-US">
                <a:solidFill>
                  <a:srgbClr val="0E1B33"/>
                </a:solidFill>
                <a:latin typeface="Segoe UI Semibold"/>
              </a:rPr>
              <a:t>A first-of-its-kind sovereign AI fraud shield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1094415" cy="0"/>
          </a:xfrm>
          <a:prstGeom prst="line">
            <a:avLst/>
          </a:prstGeom>
          <a:ln w="15240">
            <a:solidFill>
              <a:srgbClr val="DDE5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9326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lang="en-US" spc="20">
                <a:solidFill>
                  <a:srgbClr val="5C6C88"/>
                </a:solidFill>
                <a:latin typeface="Segoe UI"/>
              </a:rPr>
              <a:t>HAWK-EYE  ·  Team NINEAGENTS · SVKM's NMIMS  ·  for Union Bank of India  ·  RBI iDEA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lang="en-US">
                <a:solidFill>
                  <a:srgbClr val="C51F2E"/>
                </a:solidFill>
                <a:latin typeface="Segoe UI Semibold"/>
              </a:rPr>
              <a:t>10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10512"/>
            <a:ext cx="10908792" cy="123444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6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en-US">
                <a:solidFill>
                  <a:srgbClr val="394A66"/>
                </a:solidFill>
                <a:latin typeface="Segoe UI"/>
              </a:rPr>
              <a:t>The global fraud giants — Feedzai, Featurespace (now Visa), NICE Actimize — are built for </a:t>
            </a:r>
            <a:r>
              <a:rPr sz="1500" b="1" lang="en-US">
                <a:solidFill>
                  <a:srgbClr val="0E1B33"/>
                </a:solidFill>
                <a:latin typeface="Segoe UI Semibold"/>
              </a:rPr>
              <a:t>customer transaction fraud</a:t>
            </a:r>
            <a:r>
              <a:rPr sz="1500" b="0" lang="en-US">
                <a:solidFill>
                  <a:srgbClr val="394A66"/>
                </a:solidFill>
                <a:latin typeface="Segoe UI"/>
              </a:rPr>
              <a:t>.  None offers an </a:t>
            </a:r>
            <a:r>
              <a:rPr sz="1500" b="1" lang="en-US">
                <a:solidFill>
                  <a:srgbClr val="0E1B33"/>
                </a:solidFill>
                <a:latin typeface="Segoe UI Semibold"/>
              </a:rPr>
              <a:t>on-prem, India-sovereign, insider-focused, RBI-native</a:t>
            </a:r>
            <a:r>
              <a:rPr sz="1500" b="0" lang="en-US">
                <a:solidFill>
                  <a:srgbClr val="394A66"/>
                </a:solidFill>
                <a:latin typeface="Segoe UI"/>
              </a:rPr>
              <a:t> system.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1" lang="en-US">
                <a:solidFill>
                  <a:srgbClr val="0B2E63"/>
                </a:solidFill>
                <a:latin typeface="Segoe UI Semibold"/>
              </a:rPr>
              <a:t>That gap is the opportunity — and it is Union Bank's to take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356616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91440" cy="187451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29000"/>
            <a:ext cx="3154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lang="en-US">
                <a:solidFill>
                  <a:srgbClr val="1D4ED8"/>
                </a:solidFill>
                <a:latin typeface="Segoe UI Semibold"/>
              </a:rPr>
              <a:t>A regulator showcase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67911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lang="en-US">
                <a:solidFill>
                  <a:srgbClr val="394A66"/>
                </a:solidFill>
                <a:latin typeface="Segoe UI"/>
              </a:rPr>
              <a:t>Meet the 2024–26 mandates with a modern, explainable, home-grown system — a natural flagship to present to RBI and at the Global Fintech Fest.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3246120"/>
            <a:ext cx="356616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3246120"/>
            <a:ext cx="91440" cy="1874519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3429000"/>
            <a:ext cx="3154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lang="en-US">
                <a:solidFill>
                  <a:srgbClr val="0E7490"/>
                </a:solidFill>
                <a:latin typeface="Segoe UI Semibold"/>
              </a:rPr>
              <a:t>A trust dividend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867911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lang="en-US">
                <a:solidFill>
                  <a:srgbClr val="394A66"/>
                </a:solidFill>
                <a:latin typeface="Segoe UI"/>
              </a:rPr>
              <a:t>Visible, fair, auditable protection of the bank's own integrity — reassuring the Board, the regulator, staff and customers alike.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7" y="3246120"/>
            <a:ext cx="356616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3246120"/>
            <a:ext cx="91440" cy="1874519"/>
          </a:xfrm>
          <a:prstGeom prst="rect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3429000"/>
            <a:ext cx="3154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lang="en-US">
                <a:solidFill>
                  <a:srgbClr val="0F7A4E"/>
                </a:solidFill>
                <a:latin typeface="Segoe UI Semibold"/>
              </a:rPr>
              <a:t>A sovereign asset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3867911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lang="en-US">
                <a:solidFill>
                  <a:srgbClr val="394A66"/>
                </a:solidFill>
                <a:latin typeface="Segoe UI"/>
              </a:rPr>
              <a:t>Indian-built, India-resident, and owned by the bank — no dependence on a foreign vendor for a core-risk capability.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6000"/>
            </a:avLst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lang="en-US">
                <a:solidFill>
                  <a:srgbClr val="FFFFFF"/>
                </a:solidFill>
                <a:latin typeface="Segoe UI Semibold"/>
              </a:rPr>
              <a:t>“Catch more, far earlier, with far less effort — defensibly.”   That is the whole promise, in one line.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1" grpId="0" build="whole"/>
      <p:bldP spid="15" grpId="0" build="whole"/>
      <p:bldP spid="19" grpId="0" build="whole"/>
      <p:bldP spid="23" grpId="0" build="whole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lang="en-US" spc="120">
                <a:solidFill>
                  <a:srgbClr val="0B2E63"/>
                </a:solidFill>
                <a:latin typeface="Segoe UI Semibold"/>
              </a:rPr>
              <a:t>THE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315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lang="en-US">
                <a:solidFill>
                  <a:srgbClr val="0E1B33"/>
                </a:solidFill>
                <a:latin typeface="Segoe UI Semibold"/>
              </a:rPr>
              <a:t>A low-risk pilot — with a clear next step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1094415" cy="0"/>
          </a:xfrm>
          <a:prstGeom prst="line">
            <a:avLst/>
          </a:prstGeom>
          <a:ln w="15240">
            <a:solidFill>
              <a:srgbClr val="DDE5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9326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lang="en-US" spc="20">
                <a:solidFill>
                  <a:srgbClr val="5C6C88"/>
                </a:solidFill>
                <a:latin typeface="Segoe UI"/>
              </a:rPr>
              <a:t>HAWK-EYE  ·  Team NINEAGENTS · SVKM's NMIMS  ·  for Union Bank of India  ·  RBI iDEA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lang="en-US">
                <a:solidFill>
                  <a:srgbClr val="0B2E63"/>
                </a:solidFill>
                <a:latin typeface="Segoe UI Semibold"/>
              </a:rPr>
              <a:t>11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048256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lang="en-US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848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lang="en-US">
                <a:solidFill>
                  <a:srgbClr val="0E1B33"/>
                </a:solidFill>
                <a:latin typeface="Segoe UI Semibold"/>
              </a:rPr>
              <a:t>Pilot on synthetic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697480"/>
            <a:ext cx="31546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en-US">
                <a:solidFill>
                  <a:srgbClr val="394A66"/>
                </a:solidFill>
                <a:latin typeface="Segoe UI"/>
              </a:rPr>
              <a:t>Prove the system end-to-end with zero exposure of real records — weeks, not months.</a:t>
            </a:r>
          </a:p>
        </p:txBody>
      </p:sp>
      <p:sp>
        <p:nvSpPr>
          <p:cNvPr id="14" name="Chevron 13"/>
          <p:cNvSpPr/>
          <p:nvPr/>
        </p:nvSpPr>
        <p:spPr>
          <a:xfrm>
            <a:off x="4224527" y="2587752"/>
            <a:ext cx="109728" cy="219456"/>
          </a:xfrm>
          <a:prstGeom prst="chevron">
            <a:avLst/>
          </a:prstGeom>
          <a:solidFill>
            <a:srgbClr val="B9C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52544" y="18288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2048256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lang="en-US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0848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lang="en-US">
                <a:solidFill>
                  <a:srgbClr val="0E1B33"/>
                </a:solidFill>
                <a:latin typeface="Segoe UI Semibold"/>
              </a:rPr>
              <a:t>Watch the highest-risk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97480"/>
            <a:ext cx="31546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en-US">
                <a:solidFill>
                  <a:srgbClr val="394A66"/>
                </a:solidFill>
                <a:latin typeface="Segoe UI"/>
              </a:rPr>
              <a:t>Turn on the most sensitive privileged systems first — treasury, SWIFT, entitlements.</a:t>
            </a:r>
          </a:p>
        </p:txBody>
      </p:sp>
      <p:sp>
        <p:nvSpPr>
          <p:cNvPr id="20" name="Chevron 19"/>
          <p:cNvSpPr/>
          <p:nvPr/>
        </p:nvSpPr>
        <p:spPr>
          <a:xfrm>
            <a:off x="7936992" y="2587752"/>
            <a:ext cx="109728" cy="219456"/>
          </a:xfrm>
          <a:prstGeom prst="chevron">
            <a:avLst/>
          </a:prstGeom>
          <a:solidFill>
            <a:srgbClr val="B9C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65007" y="18288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84463" y="2048256"/>
            <a:ext cx="457200" cy="457200"/>
          </a:xfrm>
          <a:prstGeom prst="ellipse">
            <a:avLst/>
          </a:prstGeom>
          <a:solidFill>
            <a:srgbClr val="0F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3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lang="en-US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7" y="20848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lang="en-US">
                <a:solidFill>
                  <a:srgbClr val="0E1B33"/>
                </a:solidFill>
                <a:latin typeface="Segoe UI Semibold"/>
              </a:rPr>
              <a:t>Expand &amp;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3" y="2697480"/>
            <a:ext cx="31546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lang="en-US">
                <a:solidFill>
                  <a:srgbClr val="394A66"/>
                </a:solidFill>
                <a:latin typeface="Segoe UI"/>
              </a:rPr>
              <a:t>Add collusion &amp; slow-burn detection; wire the RBI Early-Warning &amp; FMR reporting.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794760"/>
            <a:ext cx="10908792" cy="1280160"/>
          </a:xfrm>
          <a:prstGeom prst="roundRect">
            <a:avLst>
              <a:gd name="adj" fmla="val 5000"/>
            </a:avLst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968496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lang="en-US">
                <a:solidFill>
                  <a:srgbClr val="FFFFFF"/>
                </a:solidFill>
                <a:latin typeface="Segoe UI Semibold"/>
              </a:rPr>
              <a:t>What we ask of the Board:  </a:t>
            </a:r>
            <a:r>
              <a:rPr sz="1600" b="0" lang="en-US">
                <a:solidFill>
                  <a:srgbClr val="C9D8F2"/>
                </a:solidFill>
                <a:latin typeface="Segoe UI"/>
              </a:rPr>
              <a:t>approve a scoped pilot on the bank's highest-risk privileged systems.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0" lang="en-US">
                <a:solidFill>
                  <a:srgbClr val="C9D8F2"/>
                </a:solidFill>
                <a:latin typeface="Segoe UI"/>
              </a:rPr>
              <a:t>Honest &amp; alert-only, it </a:t>
            </a:r>
            <a:r>
              <a:rPr sz="1400" b="1" lang="en-US">
                <a:solidFill>
                  <a:srgbClr val="FFFFFF"/>
                </a:solidFill>
                <a:latin typeface="Segoe UI Semibold"/>
              </a:rPr>
              <a:t>complements</a:t>
            </a:r>
            <a:r>
              <a:rPr sz="1400" b="0" lang="en-US">
                <a:solidFill>
                  <a:srgbClr val="C9D8F2"/>
                </a:solidFill>
                <a:latin typeface="Segoe UI"/>
              </a:rPr>
              <a:t> your audit, controls and culture — it never replaces them.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lang="en-US">
                <a:solidFill>
                  <a:srgbClr val="0E1B33"/>
                </a:solidFill>
                <a:latin typeface="Segoe UI Black"/>
              </a:rPr>
              <a:t>Thank you.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7790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lang="en-US">
                <a:solidFill>
                  <a:srgbClr val="0E7490"/>
                </a:solidFill>
                <a:latin typeface="Segoe UI"/>
              </a:rPr>
              <a:t>Team NINEAGENTS  ·  github.com/dhruvagrawal27/hawk-eye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5349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8" y="5413248"/>
            <a:ext cx="420623" cy="420623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906256" y="5349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5413248"/>
            <a:ext cx="420623" cy="420623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229600" y="5989320"/>
            <a:ext cx="1766620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8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6053328"/>
            <a:ext cx="1706873" cy="256031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5" grpId="0" build="whole"/>
      <p:bldP spid="21" grpId="0" build="whole"/>
      <p:bldP spid="26" grpId="0" build="whol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