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4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</p:sldIdLst>
  <p:sldSz cx="18288000" cy="10287000"/>
  <p:notesSz cx="6858000" cy="9144000"/>
  <p:embeddedFontLst>
    <p:embeddedFont>
      <p:font typeface="League Spartan" pitchFamily="2" charset="77"/>
      <p:regular r:id="rId4"/>
      <p:bold r:id="rId5"/>
    </p:embeddedFont>
    <p:embeddedFont>
      <p:font typeface="Montserrat Bold" pitchFamily="2" charset="77"/>
      <p:regular r:id="rId6"/>
      <p:bold r:id="rId7"/>
    </p:embeddedFont>
    <p:embeddedFont>
      <p:font typeface="TT Interphases Mono" panose="02000506030000020004" pitchFamily="2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681" autoAdjust="0"/>
  </p:normalViewPr>
  <p:slideViewPr>
    <p:cSldViewPr>
      <p:cViewPr varScale="1">
        <p:scale>
          <a:sx n="77" d="100"/>
          <a:sy n="77" d="100"/>
        </p:scale>
        <p:origin x="344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4.svg"/><Relationship Id="rId7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4.svg"/><Relationship Id="rId7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4.svg"/><Relationship Id="rId7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4.svg"/><Relationship Id="rId7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4.svg"/><Relationship Id="rId7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4.svg"/><Relationship Id="rId7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4.svg"/><Relationship Id="rId7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4.svg"/><Relationship Id="rId7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4.svg"/><Relationship Id="rId7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4.svg"/><Relationship Id="rId7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4.svg"/><Relationship Id="rId7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4.svg"/><Relationship Id="rId7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4.svg"/><Relationship Id="rId7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4.svg"/><Relationship Id="rId7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4.svg"/><Relationship Id="rId7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4.svg"/><Relationship Id="rId7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4.svg"/><Relationship Id="rId7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4.svg"/><Relationship Id="rId7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78405" y="3323336"/>
            <a:ext cx="9231747" cy="4935326"/>
          </a:xfrm>
          <a:custGeom>
            <a:avLst/>
            <a:gdLst/>
            <a:ahLst/>
            <a:cxnLst/>
            <a:rect l="l" t="t" r="r" b="b"/>
            <a:pathLst>
              <a:path w="9231747" h="4935326">
                <a:moveTo>
                  <a:pt x="0" y="0"/>
                </a:moveTo>
                <a:lnTo>
                  <a:pt x="9231746" y="0"/>
                </a:lnTo>
                <a:lnTo>
                  <a:pt x="9231746" y="4935326"/>
                </a:lnTo>
                <a:lnTo>
                  <a:pt x="0" y="49353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2727" b="-4432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130164" y="1392478"/>
            <a:ext cx="8027673" cy="1630802"/>
          </a:xfrm>
          <a:custGeom>
            <a:avLst/>
            <a:gdLst/>
            <a:ahLst/>
            <a:cxnLst/>
            <a:rect l="l" t="t" r="r" b="b"/>
            <a:pathLst>
              <a:path w="8027673" h="1630802">
                <a:moveTo>
                  <a:pt x="0" y="0"/>
                </a:moveTo>
                <a:lnTo>
                  <a:pt x="8027672" y="0"/>
                </a:lnTo>
                <a:lnTo>
                  <a:pt x="8027672" y="1630802"/>
                </a:lnTo>
                <a:lnTo>
                  <a:pt x="0" y="16308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685" b="-9685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439333" y="8524710"/>
            <a:ext cx="3409334" cy="1114590"/>
          </a:xfrm>
          <a:custGeom>
            <a:avLst/>
            <a:gdLst/>
            <a:ahLst/>
            <a:cxnLst/>
            <a:rect l="l" t="t" r="r" b="b"/>
            <a:pathLst>
              <a:path w="3409334" h="1114590">
                <a:moveTo>
                  <a:pt x="0" y="0"/>
                </a:moveTo>
                <a:lnTo>
                  <a:pt x="3409334" y="0"/>
                </a:lnTo>
                <a:lnTo>
                  <a:pt x="3409334" y="1114589"/>
                </a:lnTo>
                <a:lnTo>
                  <a:pt x="0" y="11145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01479" y="281194"/>
            <a:ext cx="2445886" cy="1222943"/>
          </a:xfrm>
          <a:custGeom>
            <a:avLst/>
            <a:gdLst/>
            <a:ahLst/>
            <a:cxnLst/>
            <a:rect l="l" t="t" r="r" b="b"/>
            <a:pathLst>
              <a:path w="2445886" h="1222943">
                <a:moveTo>
                  <a:pt x="0" y="0"/>
                </a:moveTo>
                <a:lnTo>
                  <a:pt x="2445886" y="0"/>
                </a:lnTo>
                <a:lnTo>
                  <a:pt x="2445886" y="1222943"/>
                </a:lnTo>
                <a:lnTo>
                  <a:pt x="0" y="12229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739206" y="471221"/>
            <a:ext cx="1040189" cy="1032916"/>
          </a:xfrm>
          <a:custGeom>
            <a:avLst/>
            <a:gdLst/>
            <a:ahLst/>
            <a:cxnLst/>
            <a:rect l="l" t="t" r="r" b="b"/>
            <a:pathLst>
              <a:path w="1040189" h="1032916">
                <a:moveTo>
                  <a:pt x="0" y="0"/>
                </a:moveTo>
                <a:lnTo>
                  <a:pt x="1040188" y="0"/>
                </a:lnTo>
                <a:lnTo>
                  <a:pt x="1040188" y="1032916"/>
                </a:lnTo>
                <a:lnTo>
                  <a:pt x="0" y="10329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3633" t="-14434" r="-13983" b="-14081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304392" y="990600"/>
            <a:ext cx="12023378" cy="294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56"/>
              </a:lnSpc>
            </a:pPr>
            <a:r>
              <a:rPr lang="en-US" sz="1754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(An Initiative of Government of India, Ministry of Finance , Department of Financial Services)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58924" y="339398"/>
            <a:ext cx="14514314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dirty="0">
                <a:solidFill>
                  <a:srgbClr val="E92A2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PSBs Hackathon Series 2026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12906" y="2894674"/>
            <a:ext cx="2862189" cy="428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2"/>
              </a:lnSpc>
            </a:pPr>
            <a:r>
              <a:rPr lang="en-US" sz="2437">
                <a:solidFill>
                  <a:srgbClr val="000000"/>
                </a:solidFill>
                <a:latin typeface="TT Interphases Mono"/>
                <a:ea typeface="TT Interphases Mono"/>
                <a:cs typeface="TT Interphases Mono"/>
                <a:sym typeface="TT Interphases Mono"/>
              </a:rPr>
              <a:t>PRESENTS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97181"/>
            <a:chOff x="0" y="0"/>
            <a:chExt cx="4816593" cy="4469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46994"/>
            </a:xfrm>
            <a:custGeom>
              <a:avLst/>
              <a:gdLst/>
              <a:ahLst/>
              <a:cxnLst/>
              <a:rect l="l" t="t" r="r" b="b"/>
              <a:pathLst>
                <a:path w="4816592" h="446994">
                  <a:moveTo>
                    <a:pt x="0" y="0"/>
                  </a:moveTo>
                  <a:lnTo>
                    <a:pt x="4816592" y="0"/>
                  </a:lnTo>
                  <a:lnTo>
                    <a:pt x="4816592" y="446994"/>
                  </a:lnTo>
                  <a:lnTo>
                    <a:pt x="0" y="44699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85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662574" y="122606"/>
            <a:ext cx="3497653" cy="1540119"/>
          </a:xfrm>
          <a:custGeom>
            <a:avLst/>
            <a:gdLst/>
            <a:ahLst/>
            <a:cxnLst/>
            <a:rect l="l" t="t" r="r" b="b"/>
            <a:pathLst>
              <a:path w="3497653" h="1540119">
                <a:moveTo>
                  <a:pt x="0" y="0"/>
                </a:moveTo>
                <a:lnTo>
                  <a:pt x="3497653" y="0"/>
                </a:lnTo>
                <a:lnTo>
                  <a:pt x="3497653" y="1540119"/>
                </a:lnTo>
                <a:lnTo>
                  <a:pt x="0" y="15401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230" t="-89762" r="-26367" b="-156792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0969852" y="588904"/>
            <a:ext cx="5022437" cy="749179"/>
            <a:chOff x="0" y="0"/>
            <a:chExt cx="6696583" cy="998906"/>
          </a:xfrm>
        </p:grpSpPr>
        <p:sp>
          <p:nvSpPr>
            <p:cNvPr id="7" name="Freeform 7" descr="A red blue and white logo  Description automatically generated"/>
            <p:cNvSpPr/>
            <p:nvPr/>
          </p:nvSpPr>
          <p:spPr>
            <a:xfrm>
              <a:off x="0" y="0"/>
              <a:ext cx="6696583" cy="998855"/>
            </a:xfrm>
            <a:custGeom>
              <a:avLst/>
              <a:gdLst/>
              <a:ahLst/>
              <a:cxnLst/>
              <a:rect l="l" t="t" r="r" b="b"/>
              <a:pathLst>
                <a:path w="6696583" h="998855">
                  <a:moveTo>
                    <a:pt x="0" y="0"/>
                  </a:moveTo>
                  <a:lnTo>
                    <a:pt x="6696583" y="0"/>
                  </a:lnTo>
                  <a:lnTo>
                    <a:pt x="6696583" y="998855"/>
                  </a:lnTo>
                  <a:lnTo>
                    <a:pt x="0" y="998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5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3163313" y="523697"/>
            <a:ext cx="2690517" cy="879592"/>
          </a:xfrm>
          <a:custGeom>
            <a:avLst/>
            <a:gdLst/>
            <a:ahLst/>
            <a:cxnLst/>
            <a:rect l="l" t="t" r="r" b="b"/>
            <a:pathLst>
              <a:path w="2690517" h="879592">
                <a:moveTo>
                  <a:pt x="0" y="0"/>
                </a:moveTo>
                <a:lnTo>
                  <a:pt x="2690518" y="0"/>
                </a:lnTo>
                <a:lnTo>
                  <a:pt x="2690518" y="879593"/>
                </a:lnTo>
                <a:lnTo>
                  <a:pt x="0" y="8795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01479" y="281194"/>
            <a:ext cx="2445886" cy="1222943"/>
          </a:xfrm>
          <a:custGeom>
            <a:avLst/>
            <a:gdLst/>
            <a:ahLst/>
            <a:cxnLst/>
            <a:rect l="l" t="t" r="r" b="b"/>
            <a:pathLst>
              <a:path w="2445886" h="1222943">
                <a:moveTo>
                  <a:pt x="0" y="0"/>
                </a:moveTo>
                <a:lnTo>
                  <a:pt x="2445886" y="0"/>
                </a:lnTo>
                <a:lnTo>
                  <a:pt x="2445886" y="1222943"/>
                </a:lnTo>
                <a:lnTo>
                  <a:pt x="0" y="12229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739206" y="471221"/>
            <a:ext cx="1040189" cy="1032916"/>
          </a:xfrm>
          <a:custGeom>
            <a:avLst/>
            <a:gdLst/>
            <a:ahLst/>
            <a:cxnLst/>
            <a:rect l="l" t="t" r="r" b="b"/>
            <a:pathLst>
              <a:path w="1040189" h="1032916">
                <a:moveTo>
                  <a:pt x="0" y="0"/>
                </a:moveTo>
                <a:lnTo>
                  <a:pt x="1040188" y="0"/>
                </a:lnTo>
                <a:lnTo>
                  <a:pt x="1040188" y="1032916"/>
                </a:lnTo>
                <a:lnTo>
                  <a:pt x="0" y="10329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3633" t="-14434" r="-13983" b="-14081"/>
            </a:stretch>
          </a:blipFill>
        </p:spPr>
      </p:sp>
      <p:sp>
        <p:nvSpPr>
          <p:cNvPr id="13" name="TextBox 12"/>
          <p:cNvSpPr txBox="1"/>
          <p:nvPr/>
        </p:nvSpPr>
        <p:spPr>
          <a:xfrm>
            <a:off x="640080" y="2286000"/>
            <a:ext cx="17007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E92A2D"/>
                </a:solidFill>
                <a:latin typeface="TT Interphases Mono"/>
              </a:rPr>
              <a:t>RBI · iDEA 2.0 · PS — INTERNAL &amp; PRIVILEGED-USER FRAUD EARLY-WARNING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743200"/>
            <a:ext cx="17007840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0" b="1" i="0">
                <a:solidFill>
                  <a:srgbClr val="14181F"/>
                </a:solidFill>
                <a:latin typeface="League Spartan"/>
              </a:rPr>
              <a:t>HAWK-EYE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34840"/>
            <a:ext cx="170078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2300" b="0" i="1">
                <a:solidFill>
                  <a:srgbClr val="5B6471"/>
                </a:solidFill>
                <a:latin typeface="Montserrat"/>
              </a:rPr>
              <a:t>Real-Time Insider &amp; Privileged-User Fraud Detection for a Public-Sector Bank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983480"/>
            <a:ext cx="170078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14181F"/>
                </a:solidFill>
                <a:latin typeface="Calibri"/>
              </a:rPr>
              <a:t>Every privileged action — watched, scored, explained.  A human always decides.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34639" y="5715000"/>
            <a:ext cx="4023360" cy="548640"/>
          </a:xfrm>
          <a:prstGeom prst="roundRect">
            <a:avLst>
              <a:gd name="adj" fmla="val 50000"/>
            </a:avLst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TT Interphases Mono"/>
              </a:rPr>
              <a:t>7-LAYER L0–L7 ENGINE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5715000"/>
            <a:ext cx="4023360" cy="54864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TT Interphases Mono"/>
              </a:rPr>
              <a:t>ALERT-ONLY · CONTESTABLE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30000" y="5715000"/>
            <a:ext cx="4023360" cy="548640"/>
          </a:xfrm>
          <a:prstGeom prst="roundRect">
            <a:avLst>
              <a:gd name="adj" fmla="val 50000"/>
            </a:avLst>
          </a:prstGeom>
          <a:solidFill>
            <a:srgbClr val="1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TT Interphases Mono"/>
              </a:rPr>
              <a:t>ENTERPRISE-GRADE · ON-PREM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720840"/>
            <a:ext cx="170078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4181F"/>
                </a:solidFill>
                <a:latin typeface="Montserrat"/>
              </a:rPr>
              <a:t>Team NINEAGENTS  ·  SVKM's NMIMS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7178040"/>
            <a:ext cx="170078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5B6471"/>
                </a:solidFill>
                <a:latin typeface="Calibri"/>
              </a:rPr>
              <a:t>Dhruv Agrawal · Tanishq Vyas · Hanzala Saify · Aditya Dubey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7635240"/>
            <a:ext cx="170078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92A2D"/>
                </a:solidFill>
                <a:latin typeface="TT Interphases Mono"/>
              </a:rPr>
              <a:t>github.com/dhruvagrawal27/hawk-eye     ·     on-prem · synthetic-data demo · full test suites green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9857232"/>
            <a:ext cx="11887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8A929E"/>
                </a:solidFill>
                <a:latin typeface="TT Interphases Mono"/>
              </a:rPr>
              <a:t>HAWK-EYE  ·  Team NINEAGENTS  ·  iDEA 2.0 · PSBs Hackathon Series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0" y="9857232"/>
            <a:ext cx="16459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29E"/>
                </a:solidFill>
                <a:latin typeface="TT Interphases Mono"/>
              </a:rPr>
              <a:t>1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/>
          <p:cNvGrpSpPr/>
          <p:nvPr/>
        </p:nvGrpSpPr>
        <p:grpSpPr>
          <a:xfrm>
            <a:off x="0" y="0"/>
            <a:ext cx="18288000" cy="1697181"/>
            <a:chOff x="0" y="0"/>
            <a:chExt cx="4816593" cy="4469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46994"/>
            </a:xfrm>
            <a:custGeom>
              <a:avLst/>
              <a:gdLst/>
              <a:ahLst/>
              <a:cxnLst/>
              <a:rect l="l" t="t" r="r" b="b"/>
              <a:pathLst>
                <a:path w="4816592" h="446994">
                  <a:moveTo>
                    <a:pt x="0" y="0"/>
                  </a:moveTo>
                  <a:lnTo>
                    <a:pt x="4816592" y="0"/>
                  </a:lnTo>
                  <a:lnTo>
                    <a:pt x="4816592" y="446994"/>
                  </a:lnTo>
                  <a:lnTo>
                    <a:pt x="0" y="44699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85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662574" y="122606"/>
            <a:ext cx="3497653" cy="1540119"/>
          </a:xfrm>
          <a:custGeom>
            <a:avLst/>
            <a:gdLst/>
            <a:ahLst/>
            <a:cxnLst/>
            <a:rect l="l" t="t" r="r" b="b"/>
            <a:pathLst>
              <a:path w="3497653" h="1540119">
                <a:moveTo>
                  <a:pt x="0" y="0"/>
                </a:moveTo>
                <a:lnTo>
                  <a:pt x="3497653" y="0"/>
                </a:lnTo>
                <a:lnTo>
                  <a:pt x="3497653" y="1540119"/>
                </a:lnTo>
                <a:lnTo>
                  <a:pt x="0" y="15401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6230" t="-89762" r="-26367" b="-156792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0969852" y="588904"/>
            <a:ext cx="5022437" cy="749179"/>
            <a:chOff x="0" y="0"/>
            <a:chExt cx="6696583" cy="998906"/>
          </a:xfrm>
        </p:grpSpPr>
        <p:sp>
          <p:nvSpPr>
            <p:cNvPr id="7" name="Freeform 7" descr="A red blue and white logo  Description automatically generated"/>
            <p:cNvSpPr/>
            <p:nvPr/>
          </p:nvSpPr>
          <p:spPr>
            <a:xfrm>
              <a:off x="0" y="0"/>
              <a:ext cx="6696583" cy="998855"/>
            </a:xfrm>
            <a:custGeom>
              <a:avLst/>
              <a:gdLst/>
              <a:ahLst/>
              <a:cxnLst/>
              <a:rect l="l" t="t" r="r" b="b"/>
              <a:pathLst>
                <a:path w="6696583" h="998855">
                  <a:moveTo>
                    <a:pt x="0" y="0"/>
                  </a:moveTo>
                  <a:lnTo>
                    <a:pt x="6696583" y="0"/>
                  </a:lnTo>
                  <a:lnTo>
                    <a:pt x="6696583" y="998855"/>
                  </a:lnTo>
                  <a:lnTo>
                    <a:pt x="0" y="998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5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3163313" y="523697"/>
            <a:ext cx="2690517" cy="879592"/>
          </a:xfrm>
          <a:custGeom>
            <a:avLst/>
            <a:gdLst/>
            <a:ahLst/>
            <a:cxnLst/>
            <a:rect l="l" t="t" r="r" b="b"/>
            <a:pathLst>
              <a:path w="2690517" h="879592">
                <a:moveTo>
                  <a:pt x="0" y="0"/>
                </a:moveTo>
                <a:lnTo>
                  <a:pt x="2690518" y="0"/>
                </a:lnTo>
                <a:lnTo>
                  <a:pt x="2690518" y="879593"/>
                </a:lnTo>
                <a:lnTo>
                  <a:pt x="0" y="8795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01479" y="281194"/>
            <a:ext cx="2445886" cy="1222943"/>
          </a:xfrm>
          <a:custGeom>
            <a:avLst/>
            <a:gdLst/>
            <a:ahLst/>
            <a:cxnLst/>
            <a:rect l="l" t="t" r="r" b="b"/>
            <a:pathLst>
              <a:path w="2445886" h="1222943">
                <a:moveTo>
                  <a:pt x="0" y="0"/>
                </a:moveTo>
                <a:lnTo>
                  <a:pt x="2445886" y="0"/>
                </a:lnTo>
                <a:lnTo>
                  <a:pt x="2445886" y="1222943"/>
                </a:lnTo>
                <a:lnTo>
                  <a:pt x="0" y="12229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739206" y="471221"/>
            <a:ext cx="1040189" cy="1032916"/>
          </a:xfrm>
          <a:custGeom>
            <a:avLst/>
            <a:gdLst/>
            <a:ahLst/>
            <a:cxnLst/>
            <a:rect l="l" t="t" r="r" b="b"/>
            <a:pathLst>
              <a:path w="1040189" h="1032916">
                <a:moveTo>
                  <a:pt x="0" y="0"/>
                </a:moveTo>
                <a:lnTo>
                  <a:pt x="1040188" y="0"/>
                </a:lnTo>
                <a:lnTo>
                  <a:pt x="1040188" y="1032916"/>
                </a:lnTo>
                <a:lnTo>
                  <a:pt x="0" y="10329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633" t="-14434" r="-13983" b="-14081"/>
            </a:stretch>
          </a:blipFill>
        </p:spPr>
      </p:sp>
      <p:sp>
        <p:nvSpPr>
          <p:cNvPr id="13" name="TextBox 12"/>
          <p:cNvSpPr txBox="1"/>
          <p:nvPr/>
        </p:nvSpPr>
        <p:spPr>
          <a:xfrm>
            <a:off x="640080" y="1847088"/>
            <a:ext cx="1700784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92A2D"/>
                </a:solidFill>
                <a:latin typeface="TT Interphases Mono"/>
              </a:rPr>
              <a:t>PROBLEM &amp; BUSINESS RELEVANCE (20%) · PROBLEM &amp;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139696"/>
            <a:ext cx="170078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4181F"/>
                </a:solidFill>
                <a:latin typeface="Montserrat"/>
              </a:rPr>
              <a:t>The bank's biggest fraud blind spot is its own privileged staff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779776"/>
            <a:ext cx="822960" cy="45720"/>
          </a:xfrm>
          <a:prstGeom prst="rect">
            <a:avLst/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315468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9050">
            <a:solidFill>
              <a:srgbClr val="141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273552"/>
            <a:ext cx="521208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14181F"/>
                </a:solidFill>
                <a:latin typeface="League Spartan"/>
              </a:rPr>
              <a:t>₹36,014 cr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4023360"/>
            <a:ext cx="48463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5B6471"/>
                </a:solidFill>
                <a:latin typeface="Calibri"/>
              </a:rPr>
              <a:t>bank fraud reported FY25 — up 194% YoY (RBI)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315468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9050">
            <a:solidFill>
              <a:srgbClr val="E92A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3273552"/>
            <a:ext cx="521208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E92A2D"/>
                </a:solidFill>
                <a:latin typeface="League Spartan"/>
              </a:rPr>
              <a:t>₹25,667 cr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023360"/>
            <a:ext cx="48463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5B6471"/>
                </a:solidFill>
                <a:latin typeface="Calibri"/>
              </a:rPr>
              <a:t>of that borne by public-sector banks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612880" y="315468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9050">
            <a:solidFill>
              <a:srgbClr val="D982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612880" y="3273552"/>
            <a:ext cx="521208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D9820B"/>
                </a:solidFill>
                <a:latin typeface="League Spartan"/>
              </a:rPr>
              <a:t>~12 months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95759" y="4023360"/>
            <a:ext cx="48463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5B6471"/>
                </a:solidFill>
                <a:latin typeface="Calibri"/>
              </a:rPr>
              <a:t>median time insider fraud runs before detection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800600"/>
            <a:ext cx="8183879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" y="4800600"/>
            <a:ext cx="8183879" cy="420624"/>
          </a:xfrm>
          <a:prstGeom prst="roundRect">
            <a:avLst>
              <a:gd name="adj" fmla="val 6000"/>
            </a:avLst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5020056"/>
            <a:ext cx="8183879" cy="201168"/>
          </a:xfrm>
          <a:prstGeom prst="rect">
            <a:avLst/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1" y="4837176"/>
            <a:ext cx="7909559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ontserrat"/>
              </a:rPr>
              <a:t>WHY INSIDERS ARE THE BLIND SPOT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1" y="5330952"/>
            <a:ext cx="7872983" cy="397763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00" b="0" i="0">
                <a:solidFill>
                  <a:srgbClr val="14181F"/>
                </a:solidFill>
                <a:latin typeface="Calibri"/>
              </a:rPr>
              <a:t>▸  Privileged users — DBAs, sysadmins, SWIFT/treasury operators, makers &amp; checkers, loan officers, IAM/PAM admins — have god-mode access to core banking, treasury, loan origination and customer databases.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300" b="0" i="0">
                <a:solidFill>
                  <a:srgbClr val="14181F"/>
                </a:solidFill>
                <a:latin typeface="Calibri"/>
              </a:rPr>
              <a:t>▸  Insider fraud runs a median ~12 months before detection and is caught 43% by tips — not systems; banking is the largest sector studied (ACFE 2024).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300" b="0" i="0">
                <a:solidFill>
                  <a:srgbClr val="14181F"/>
                </a:solidFill>
                <a:latin typeface="Calibri"/>
              </a:rPr>
              <a:t>▸  Advances-related frauds = ₹33,148 Cr of FY25 — the loan / OD / trade-finance instruments only privileged staff can originate or modify.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300" b="1" i="0">
                <a:solidFill>
                  <a:srgbClr val="1E9E5A"/>
                </a:solidFill>
                <a:latin typeface="Calibri"/>
              </a:rPr>
              <a:t>▸  Proactive data-monitoring is one of only FOUR controls tied to a ≥50% cut in BOTH fraud loss and duration — Hawk-Eye's core value thesis.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300" b="0" i="0">
                <a:solidFill>
                  <a:srgbClr val="E92A2D"/>
                </a:solidFill>
                <a:latin typeface="Calibri"/>
              </a:rPr>
              <a:t>▸  Union Bank of India: merged-Finacle CBS (ex-Union / Andhra / Corporation), ~8,000+ branches, thousands of privileged users — a vast insider surface.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98280" y="4800600"/>
            <a:ext cx="790956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098280" y="4800600"/>
            <a:ext cx="7909560" cy="420624"/>
          </a:xfrm>
          <a:prstGeom prst="roundRect">
            <a:avLst>
              <a:gd name="adj" fmla="val 6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98280" y="5020056"/>
            <a:ext cx="7909560" cy="20116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62872" y="4837176"/>
            <a:ext cx="763524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ontserrat"/>
              </a:rPr>
              <a:t>THE REGULATORY MANDATE (RBI 2024–2026)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62872" y="5330952"/>
            <a:ext cx="7598664" cy="397763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50" b="0" i="0">
                <a:solidFill>
                  <a:srgbClr val="14181F"/>
                </a:solidFill>
                <a:latin typeface="Calibri"/>
              </a:rPr>
              <a:t>•  RBI Master Directions on Fraud Risk Management 2024 — Red-Flagged-Account (RFA) lifecycle, staff-accountability examination on a 6-month clock, natural justice (SBI v. Rajesh Agarwal, 2023).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350" b="0" i="0">
                <a:solidFill>
                  <a:srgbClr val="14181F"/>
                </a:solidFill>
                <a:latin typeface="Calibri"/>
              </a:rPr>
              <a:t>•  FMR + Central Fraud Registry (CFR) reporting of staff-fraud incidents.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350" b="0" i="0">
                <a:solidFill>
                  <a:srgbClr val="14181F"/>
                </a:solidFill>
                <a:latin typeface="Calibri"/>
              </a:rPr>
              <a:t>•  RBI FREE-AI (Aug 2025) + draft Model Risk Management (MRMF 2026) — ML models are a regulated, inspectable asset class.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350" b="0" i="0">
                <a:solidFill>
                  <a:srgbClr val="14181F"/>
                </a:solidFill>
                <a:latin typeface="Calibri"/>
              </a:rPr>
              <a:t>•  RBI Cyber Security Framework + IS Audit — insider-threat controls (privileged access, SoD, log integrity) are inspected.</a:t>
            </a:r>
          </a:p>
          <a:p>
            <a:pPr algn="l">
              <a:lnSpc>
                <a:spcPct val="102000"/>
              </a:lnSpc>
              <a:spcBef>
                <a:spcPts val="800"/>
              </a:spcBef>
            </a:pPr>
            <a:r>
              <a:rPr sz="1300" b="1" i="1">
                <a:solidFill>
                  <a:srgbClr val="1E9E5A"/>
                </a:solidFill>
                <a:latin typeface="Calibri"/>
              </a:rPr>
              <a:t>Hawk-Eye is built to sit inside this machinery — not bolted on after.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9857232"/>
            <a:ext cx="11887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8A929E"/>
                </a:solidFill>
                <a:latin typeface="TT Interphases Mono"/>
              </a:rPr>
              <a:t>HAWK-EYE  ·  Team NINEAGENTS  ·  iDEA 2.0 · PSBs Hackathon Series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002000" y="9857232"/>
            <a:ext cx="16459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29E"/>
                </a:solidFill>
                <a:latin typeface="TT Interphases Mono"/>
              </a:rPr>
              <a:t>2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/>
          <p:cNvGrpSpPr/>
          <p:nvPr/>
        </p:nvGrpSpPr>
        <p:grpSpPr>
          <a:xfrm>
            <a:off x="0" y="0"/>
            <a:ext cx="18288000" cy="1697181"/>
            <a:chOff x="0" y="0"/>
            <a:chExt cx="4816593" cy="4469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46994"/>
            </a:xfrm>
            <a:custGeom>
              <a:avLst/>
              <a:gdLst/>
              <a:ahLst/>
              <a:cxnLst/>
              <a:rect l="l" t="t" r="r" b="b"/>
              <a:pathLst>
                <a:path w="4816592" h="446994">
                  <a:moveTo>
                    <a:pt x="0" y="0"/>
                  </a:moveTo>
                  <a:lnTo>
                    <a:pt x="4816592" y="0"/>
                  </a:lnTo>
                  <a:lnTo>
                    <a:pt x="4816592" y="446994"/>
                  </a:lnTo>
                  <a:lnTo>
                    <a:pt x="0" y="44699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85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662574" y="122606"/>
            <a:ext cx="3497653" cy="1540119"/>
          </a:xfrm>
          <a:custGeom>
            <a:avLst/>
            <a:gdLst/>
            <a:ahLst/>
            <a:cxnLst/>
            <a:rect l="l" t="t" r="r" b="b"/>
            <a:pathLst>
              <a:path w="3497653" h="1540119">
                <a:moveTo>
                  <a:pt x="0" y="0"/>
                </a:moveTo>
                <a:lnTo>
                  <a:pt x="3497653" y="0"/>
                </a:lnTo>
                <a:lnTo>
                  <a:pt x="3497653" y="1540119"/>
                </a:lnTo>
                <a:lnTo>
                  <a:pt x="0" y="15401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6230" t="-89762" r="-26367" b="-156792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0969852" y="588904"/>
            <a:ext cx="5022437" cy="749179"/>
            <a:chOff x="0" y="0"/>
            <a:chExt cx="6696583" cy="998906"/>
          </a:xfrm>
        </p:grpSpPr>
        <p:sp>
          <p:nvSpPr>
            <p:cNvPr id="7" name="Freeform 7" descr="A red blue and white logo  Description automatically generated"/>
            <p:cNvSpPr/>
            <p:nvPr/>
          </p:nvSpPr>
          <p:spPr>
            <a:xfrm>
              <a:off x="0" y="0"/>
              <a:ext cx="6696583" cy="998855"/>
            </a:xfrm>
            <a:custGeom>
              <a:avLst/>
              <a:gdLst/>
              <a:ahLst/>
              <a:cxnLst/>
              <a:rect l="l" t="t" r="r" b="b"/>
              <a:pathLst>
                <a:path w="6696583" h="998855">
                  <a:moveTo>
                    <a:pt x="0" y="0"/>
                  </a:moveTo>
                  <a:lnTo>
                    <a:pt x="6696583" y="0"/>
                  </a:lnTo>
                  <a:lnTo>
                    <a:pt x="6696583" y="998855"/>
                  </a:lnTo>
                  <a:lnTo>
                    <a:pt x="0" y="998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5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3163313" y="523697"/>
            <a:ext cx="2690517" cy="879592"/>
          </a:xfrm>
          <a:custGeom>
            <a:avLst/>
            <a:gdLst/>
            <a:ahLst/>
            <a:cxnLst/>
            <a:rect l="l" t="t" r="r" b="b"/>
            <a:pathLst>
              <a:path w="2690517" h="879592">
                <a:moveTo>
                  <a:pt x="0" y="0"/>
                </a:moveTo>
                <a:lnTo>
                  <a:pt x="2690518" y="0"/>
                </a:lnTo>
                <a:lnTo>
                  <a:pt x="2690518" y="879593"/>
                </a:lnTo>
                <a:lnTo>
                  <a:pt x="0" y="8795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01479" y="281194"/>
            <a:ext cx="2445886" cy="1222943"/>
          </a:xfrm>
          <a:custGeom>
            <a:avLst/>
            <a:gdLst/>
            <a:ahLst/>
            <a:cxnLst/>
            <a:rect l="l" t="t" r="r" b="b"/>
            <a:pathLst>
              <a:path w="2445886" h="1222943">
                <a:moveTo>
                  <a:pt x="0" y="0"/>
                </a:moveTo>
                <a:lnTo>
                  <a:pt x="2445886" y="0"/>
                </a:lnTo>
                <a:lnTo>
                  <a:pt x="2445886" y="1222943"/>
                </a:lnTo>
                <a:lnTo>
                  <a:pt x="0" y="12229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739206" y="471221"/>
            <a:ext cx="1040189" cy="1032916"/>
          </a:xfrm>
          <a:custGeom>
            <a:avLst/>
            <a:gdLst/>
            <a:ahLst/>
            <a:cxnLst/>
            <a:rect l="l" t="t" r="r" b="b"/>
            <a:pathLst>
              <a:path w="1040189" h="1032916">
                <a:moveTo>
                  <a:pt x="0" y="0"/>
                </a:moveTo>
                <a:lnTo>
                  <a:pt x="1040188" y="0"/>
                </a:lnTo>
                <a:lnTo>
                  <a:pt x="1040188" y="1032916"/>
                </a:lnTo>
                <a:lnTo>
                  <a:pt x="0" y="10329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633" t="-14434" r="-13983" b="-14081"/>
            </a:stretch>
          </a:blipFill>
        </p:spPr>
      </p:sp>
      <p:sp>
        <p:nvSpPr>
          <p:cNvPr id="13" name="TextBox 12"/>
          <p:cNvSpPr txBox="1"/>
          <p:nvPr/>
        </p:nvSpPr>
        <p:spPr>
          <a:xfrm>
            <a:off x="640080" y="1847088"/>
            <a:ext cx="1700784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92A2D"/>
                </a:solidFill>
                <a:latin typeface="TT Interphases Mono"/>
              </a:rPr>
              <a:t>PROBLEM &amp; BUSINESS RELEVANCE (20%) · SOLUTION, DIFFERENTIATION &amp; INNOVATION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139696"/>
            <a:ext cx="170078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4181F"/>
                </a:solidFill>
                <a:latin typeface="Montserrat"/>
              </a:rPr>
              <a:t>A 7-layer, alert-only insider-fraud Early-Warning System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779776"/>
            <a:ext cx="822960" cy="45720"/>
          </a:xfrm>
          <a:prstGeom prst="rect">
            <a:avLst/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3154680"/>
            <a:ext cx="8183879" cy="6263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3154680"/>
            <a:ext cx="8183879" cy="420624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374136"/>
            <a:ext cx="8183879" cy="2011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" y="3191256"/>
            <a:ext cx="7909559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ontserrat"/>
              </a:rPr>
              <a:t>WHAT IT DOES  (exactly what the problem statement asks)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3685032"/>
            <a:ext cx="7872983" cy="562355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50" b="0" i="0">
                <a:solidFill>
                  <a:srgbClr val="14181F"/>
                </a:solidFill>
                <a:latin typeface="Calibri"/>
              </a:rPr>
              <a:t>▸  Continuously monitors internal &amp; privileged users across core banking, treasury, loan origination and customer databases.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350" b="0" i="0">
                <a:solidFill>
                  <a:srgbClr val="14181F"/>
                </a:solidFill>
                <a:latin typeface="Calibri"/>
              </a:rPr>
              <a:t>▸  Learns an ML behavioural baseline per user (peer-relative) and flags deviations in real time.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350" b="1" i="0">
                <a:solidFill>
                  <a:srgbClr val="14181F"/>
                </a:solidFill>
                <a:latin typeface="Calibri"/>
              </a:rPr>
              <a:t>▸  Detects unusual transaction patterns, off-hours access, bulk data downloads, unauthorized account modifications, and privilege-escalation attempts.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350" b="0" i="0">
                <a:solidFill>
                  <a:srgbClr val="14181F"/>
                </a:solidFill>
                <a:latin typeface="Calibri"/>
              </a:rPr>
              <a:t>▸  Produces a calibrated risk score, generates alerts with contextual explanations, and drives an investigator dashboard to triage and act.</a:t>
            </a:r>
          </a:p>
          <a:p>
            <a:pPr algn="l">
              <a:lnSpc>
                <a:spcPct val="102000"/>
              </a:lnSpc>
              <a:spcBef>
                <a:spcPts val="700"/>
              </a:spcBef>
            </a:pPr>
            <a:r>
              <a:rPr sz="1250" b="0" i="1">
                <a:solidFill>
                  <a:srgbClr val="E92A2D"/>
                </a:solidFill>
                <a:latin typeface="Calibri"/>
              </a:rPr>
              <a:t>→ one-to-one coverage of every clause of the PS (mapped on the next slide).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3154680"/>
            <a:ext cx="7863840" cy="6263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0" y="3154680"/>
            <a:ext cx="7863840" cy="420624"/>
          </a:xfrm>
          <a:prstGeom prst="roundRect">
            <a:avLst>
              <a:gd name="adj" fmla="val 6000"/>
            </a:avLst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3374136"/>
            <a:ext cx="7863840" cy="201168"/>
          </a:xfrm>
          <a:prstGeom prst="rect">
            <a:avLst/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08592" y="3191256"/>
            <a:ext cx="7589519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ontserrat"/>
              </a:rPr>
              <a:t>DIFFERENTIATION &amp; INNOVATION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8592" y="3685032"/>
            <a:ext cx="7552944" cy="562355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50" b="0" i="0">
                <a:solidFill>
                  <a:srgbClr val="14181F"/>
                </a:solidFill>
                <a:latin typeface="Calibri"/>
              </a:rPr>
              <a:t>1  Layered fusion — rules + UEBA + supervised GBDT + sequence + graph fused into ONE calibrated 0–100 score (not a single model).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350" b="0" i="0">
                <a:solidFill>
                  <a:srgbClr val="14181F"/>
                </a:solidFill>
                <a:latin typeface="Calibri"/>
              </a:rPr>
              <a:t>2  Explainable by construction — SHAP + structured reason codes + an AI narrative on every alert; an alert with no reasons is rejected.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350" b="0" i="0">
                <a:solidFill>
                  <a:srgbClr val="14181F"/>
                </a:solidFill>
                <a:latin typeface="Calibri"/>
              </a:rPr>
              <a:t>3  Alert-only &amp; contestable — the system scores and explains; a human decides. Never auto-blocks money. Enforced in code + natural justice.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350" b="0" i="0">
                <a:solidFill>
                  <a:srgbClr val="14181F"/>
                </a:solidFill>
                <a:latin typeface="Calibri"/>
              </a:rPr>
              <a:t>4  Peer-relative baselines + one-alert-per-entity — harder to game, and fights alert fatigue (the #1 killer of fraud systems).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350" b="0" i="0">
                <a:solidFill>
                  <a:srgbClr val="E92A2D"/>
                </a:solidFill>
                <a:latin typeface="Calibri"/>
              </a:rPr>
              <a:t>5  Wrapped in the RBI staff-fraud + FREE-AI governance machinery; on-prem, India-residency, fair (protected attributes never used), audited (tamper-evident WORM).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9857232"/>
            <a:ext cx="11887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8A929E"/>
                </a:solidFill>
                <a:latin typeface="TT Interphases Mono"/>
              </a:rPr>
              <a:t>HAWK-EYE  ·  Team NINEAGENTS  ·  iDEA 2.0 · PSBs Hackathon Series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0" y="9857232"/>
            <a:ext cx="16459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29E"/>
                </a:solidFill>
                <a:latin typeface="TT Interphases Mono"/>
              </a:rPr>
              <a:t>3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/>
          <p:cNvGrpSpPr/>
          <p:nvPr/>
        </p:nvGrpSpPr>
        <p:grpSpPr>
          <a:xfrm>
            <a:off x="0" y="0"/>
            <a:ext cx="18288000" cy="1697181"/>
            <a:chOff x="0" y="0"/>
            <a:chExt cx="4816593" cy="4469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46994"/>
            </a:xfrm>
            <a:custGeom>
              <a:avLst/>
              <a:gdLst/>
              <a:ahLst/>
              <a:cxnLst/>
              <a:rect l="l" t="t" r="r" b="b"/>
              <a:pathLst>
                <a:path w="4816592" h="446994">
                  <a:moveTo>
                    <a:pt x="0" y="0"/>
                  </a:moveTo>
                  <a:lnTo>
                    <a:pt x="4816592" y="0"/>
                  </a:lnTo>
                  <a:lnTo>
                    <a:pt x="4816592" y="446994"/>
                  </a:lnTo>
                  <a:lnTo>
                    <a:pt x="0" y="44699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85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662574" y="122606"/>
            <a:ext cx="3497653" cy="1540119"/>
          </a:xfrm>
          <a:custGeom>
            <a:avLst/>
            <a:gdLst/>
            <a:ahLst/>
            <a:cxnLst/>
            <a:rect l="l" t="t" r="r" b="b"/>
            <a:pathLst>
              <a:path w="3497653" h="1540119">
                <a:moveTo>
                  <a:pt x="0" y="0"/>
                </a:moveTo>
                <a:lnTo>
                  <a:pt x="3497653" y="0"/>
                </a:lnTo>
                <a:lnTo>
                  <a:pt x="3497653" y="1540119"/>
                </a:lnTo>
                <a:lnTo>
                  <a:pt x="0" y="15401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6230" t="-89762" r="-26367" b="-156792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0969852" y="588904"/>
            <a:ext cx="5022437" cy="749179"/>
            <a:chOff x="0" y="0"/>
            <a:chExt cx="6696583" cy="998906"/>
          </a:xfrm>
        </p:grpSpPr>
        <p:sp>
          <p:nvSpPr>
            <p:cNvPr id="7" name="Freeform 7" descr="A red blue and white logo  Description automatically generated"/>
            <p:cNvSpPr/>
            <p:nvPr/>
          </p:nvSpPr>
          <p:spPr>
            <a:xfrm>
              <a:off x="0" y="0"/>
              <a:ext cx="6696583" cy="998855"/>
            </a:xfrm>
            <a:custGeom>
              <a:avLst/>
              <a:gdLst/>
              <a:ahLst/>
              <a:cxnLst/>
              <a:rect l="l" t="t" r="r" b="b"/>
              <a:pathLst>
                <a:path w="6696583" h="998855">
                  <a:moveTo>
                    <a:pt x="0" y="0"/>
                  </a:moveTo>
                  <a:lnTo>
                    <a:pt x="6696583" y="0"/>
                  </a:lnTo>
                  <a:lnTo>
                    <a:pt x="6696583" y="998855"/>
                  </a:lnTo>
                  <a:lnTo>
                    <a:pt x="0" y="998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5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3163313" y="523697"/>
            <a:ext cx="2690517" cy="879592"/>
          </a:xfrm>
          <a:custGeom>
            <a:avLst/>
            <a:gdLst/>
            <a:ahLst/>
            <a:cxnLst/>
            <a:rect l="l" t="t" r="r" b="b"/>
            <a:pathLst>
              <a:path w="2690517" h="879592">
                <a:moveTo>
                  <a:pt x="0" y="0"/>
                </a:moveTo>
                <a:lnTo>
                  <a:pt x="2690518" y="0"/>
                </a:lnTo>
                <a:lnTo>
                  <a:pt x="2690518" y="879593"/>
                </a:lnTo>
                <a:lnTo>
                  <a:pt x="0" y="8795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01479" y="281194"/>
            <a:ext cx="2445886" cy="1222943"/>
          </a:xfrm>
          <a:custGeom>
            <a:avLst/>
            <a:gdLst/>
            <a:ahLst/>
            <a:cxnLst/>
            <a:rect l="l" t="t" r="r" b="b"/>
            <a:pathLst>
              <a:path w="2445886" h="1222943">
                <a:moveTo>
                  <a:pt x="0" y="0"/>
                </a:moveTo>
                <a:lnTo>
                  <a:pt x="2445886" y="0"/>
                </a:lnTo>
                <a:lnTo>
                  <a:pt x="2445886" y="1222943"/>
                </a:lnTo>
                <a:lnTo>
                  <a:pt x="0" y="12229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739206" y="471221"/>
            <a:ext cx="1040189" cy="1032916"/>
          </a:xfrm>
          <a:custGeom>
            <a:avLst/>
            <a:gdLst/>
            <a:ahLst/>
            <a:cxnLst/>
            <a:rect l="l" t="t" r="r" b="b"/>
            <a:pathLst>
              <a:path w="1040189" h="1032916">
                <a:moveTo>
                  <a:pt x="0" y="0"/>
                </a:moveTo>
                <a:lnTo>
                  <a:pt x="1040188" y="0"/>
                </a:lnTo>
                <a:lnTo>
                  <a:pt x="1040188" y="1032916"/>
                </a:lnTo>
                <a:lnTo>
                  <a:pt x="0" y="10329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633" t="-14434" r="-13983" b="-14081"/>
            </a:stretch>
          </a:blipFill>
        </p:spPr>
      </p:sp>
      <p:sp>
        <p:nvSpPr>
          <p:cNvPr id="13" name="TextBox 12"/>
          <p:cNvSpPr txBox="1"/>
          <p:nvPr/>
        </p:nvSpPr>
        <p:spPr>
          <a:xfrm>
            <a:off x="640080" y="1847088"/>
            <a:ext cx="1700784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92A2D"/>
                </a:solidFill>
                <a:latin typeface="TT Interphases Mono"/>
              </a:rPr>
              <a:t>PROBLEM &amp; BUSINESS RELEVANCE (20%) · COVERAGE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139696"/>
            <a:ext cx="170078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4181F"/>
                </a:solidFill>
                <a:latin typeface="Montserrat"/>
              </a:rPr>
              <a:t>Every signal the problem statement asks for — mapped to a layer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779776"/>
            <a:ext cx="822960" cy="45720"/>
          </a:xfrm>
          <a:prstGeom prst="rect">
            <a:avLst/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108960"/>
            <a:ext cx="17007840" cy="4572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154680"/>
            <a:ext cx="512064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TT Interphases Mono"/>
              </a:rPr>
              <a:t>PROBLEM-STATEMENT SIGNAL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154680"/>
            <a:ext cx="868680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TT Interphases Mono"/>
              </a:rPr>
              <a:t>HOW HAWK-EYE CATCHES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453359" y="3154680"/>
            <a:ext cx="210312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TT Interphases Mono"/>
              </a:rPr>
              <a:t>LAYER(S)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566160"/>
            <a:ext cx="17007840" cy="603504"/>
          </a:xfrm>
          <a:prstGeom prst="rect">
            <a:avLst/>
          </a:prstGeom>
          <a:solidFill>
            <a:srgbClr val="F5F6F8"/>
          </a:solidFill>
          <a:ln w="12700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566160"/>
            <a:ext cx="5212080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4181F"/>
                </a:solidFill>
                <a:latin typeface="Montserrat"/>
              </a:rPr>
              <a:t>ML behavioural baseline per user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566160"/>
            <a:ext cx="9144000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6471"/>
                </a:solidFill>
                <a:latin typeface="Calibri"/>
              </a:rPr>
              <a:t>peer-relative UEBA (unsupervised, no labels)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453359" y="3566160"/>
            <a:ext cx="2103120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92A2D"/>
                </a:solidFill>
                <a:latin typeface="TT Interphases Mono"/>
              </a:rPr>
              <a:t>L2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169663"/>
            <a:ext cx="170078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169663"/>
            <a:ext cx="5212080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4181F"/>
                </a:solidFill>
                <a:latin typeface="Montserrat"/>
              </a:rPr>
              <a:t>Unusual transaction patterns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169663"/>
            <a:ext cx="9144000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6471"/>
                </a:solidFill>
                <a:latin typeface="Calibri"/>
              </a:rPr>
              <a:t>hard rules + supervised GBDT (LightGBM)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453359" y="4169663"/>
            <a:ext cx="2103120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92A2D"/>
                </a:solidFill>
                <a:latin typeface="TT Interphases Mono"/>
              </a:rPr>
              <a:t>L1 + L3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773168"/>
            <a:ext cx="17007840" cy="603504"/>
          </a:xfrm>
          <a:prstGeom prst="rect">
            <a:avLst/>
          </a:prstGeom>
          <a:solidFill>
            <a:srgbClr val="F5F6F8"/>
          </a:solidFill>
          <a:ln w="12700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773168"/>
            <a:ext cx="5212080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4181F"/>
                </a:solidFill>
                <a:latin typeface="Montserrat"/>
              </a:rPr>
              <a:t>Off-hours access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4773168"/>
            <a:ext cx="9144000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6471"/>
                </a:solidFill>
                <a:latin typeface="Calibri"/>
              </a:rPr>
              <a:t>time-of-day vs baseline + 7×24 heatmap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453359" y="4773168"/>
            <a:ext cx="2103120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92A2D"/>
                </a:solidFill>
                <a:latin typeface="TT Interphases Mono"/>
              </a:rPr>
              <a:t>L1 + L2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5376672"/>
            <a:ext cx="170078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376672"/>
            <a:ext cx="5212080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4181F"/>
                </a:solidFill>
                <a:latin typeface="Montserrat"/>
              </a:rPr>
              <a:t>Bulk data downloads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5376672"/>
            <a:ext cx="9144000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6471"/>
                </a:solidFill>
                <a:latin typeface="Calibri"/>
              </a:rPr>
              <a:t>download volume vs baseline + leaver-window + export-to-personal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453359" y="5376672"/>
            <a:ext cx="2103120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92A2D"/>
                </a:solidFill>
                <a:latin typeface="TT Interphases Mono"/>
              </a:rPr>
              <a:t>L1 + L2 + L4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980176"/>
            <a:ext cx="17007840" cy="603504"/>
          </a:xfrm>
          <a:prstGeom prst="rect">
            <a:avLst/>
          </a:prstGeom>
          <a:solidFill>
            <a:srgbClr val="F5F6F8"/>
          </a:solidFill>
          <a:ln w="12700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980176"/>
            <a:ext cx="5212080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4181F"/>
                </a:solidFill>
                <a:latin typeface="Montserrat"/>
              </a:rPr>
              <a:t>Unauthorized account modifications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5980176"/>
            <a:ext cx="9144000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6471"/>
                </a:solidFill>
                <a:latin typeface="Calibri"/>
              </a:rPr>
              <a:t>DB write with no app transaction · out-of-scope access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453359" y="5980176"/>
            <a:ext cx="2103120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92A2D"/>
                </a:solidFill>
                <a:latin typeface="TT Interphases Mono"/>
              </a:rPr>
              <a:t>L1 + L2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6583680"/>
            <a:ext cx="170078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6583680"/>
            <a:ext cx="5212080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4181F"/>
                </a:solidFill>
                <a:latin typeface="Montserrat"/>
              </a:rPr>
              <a:t>Privilege-escalation attempts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6583680"/>
            <a:ext cx="9144000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6471"/>
                </a:solidFill>
                <a:latin typeface="Calibri"/>
              </a:rPr>
              <a:t>entitlement self-grant · temp-admin timed to transactions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453359" y="6583680"/>
            <a:ext cx="2103120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92A2D"/>
                </a:solidFill>
                <a:latin typeface="TT Interphases Mono"/>
              </a:rPr>
              <a:t>L1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7187184"/>
            <a:ext cx="17007840" cy="603504"/>
          </a:xfrm>
          <a:prstGeom prst="rect">
            <a:avLst/>
          </a:prstGeom>
          <a:solidFill>
            <a:srgbClr val="F5F6F8"/>
          </a:solidFill>
          <a:ln w="12700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7187184"/>
            <a:ext cx="5212080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4181F"/>
                </a:solidFill>
                <a:latin typeface="Montserrat"/>
              </a:rPr>
              <a:t>Real-time flagging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0" y="7187184"/>
            <a:ext cx="9144000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6471"/>
                </a:solidFill>
                <a:latin typeface="Calibri"/>
              </a:rPr>
              <a:t>fast lane: event → feature → score → alert in seconds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453359" y="7187184"/>
            <a:ext cx="2103120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92A2D"/>
                </a:solidFill>
                <a:latin typeface="TT Interphases Mono"/>
              </a:rPr>
              <a:t>L0–L6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" y="7790688"/>
            <a:ext cx="170078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" y="7790688"/>
            <a:ext cx="5212080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4181F"/>
                </a:solidFill>
                <a:latin typeface="Montserrat"/>
              </a:rPr>
              <a:t>Risk scores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26480" y="7790688"/>
            <a:ext cx="9144000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6471"/>
                </a:solidFill>
                <a:latin typeface="Calibri"/>
              </a:rPr>
              <a:t>one calibrated 0–100 score (severity × confidence)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453359" y="7790688"/>
            <a:ext cx="2103120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92A2D"/>
                </a:solidFill>
                <a:latin typeface="TT Interphases Mono"/>
              </a:rPr>
              <a:t>L6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" y="8394192"/>
            <a:ext cx="17007840" cy="603504"/>
          </a:xfrm>
          <a:prstGeom prst="rect">
            <a:avLst/>
          </a:prstGeom>
          <a:solidFill>
            <a:srgbClr val="F5F6F8"/>
          </a:solidFill>
          <a:ln w="12700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7240" y="8394192"/>
            <a:ext cx="5212080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4181F"/>
                </a:solidFill>
                <a:latin typeface="Montserrat"/>
              </a:rPr>
              <a:t>Alerts with contextual explanations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26480" y="8394192"/>
            <a:ext cx="9144000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6471"/>
                </a:solidFill>
                <a:latin typeface="Calibri"/>
              </a:rPr>
              <a:t>SHAP + reason codes + AI narrative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453359" y="8394192"/>
            <a:ext cx="2103120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92A2D"/>
                </a:solidFill>
                <a:latin typeface="TT Interphases Mono"/>
              </a:rPr>
              <a:t>L3 / L6 / LLM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0080" y="8997696"/>
            <a:ext cx="170078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7240" y="8997696"/>
            <a:ext cx="5212080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4181F"/>
                </a:solidFill>
                <a:latin typeface="Montserrat"/>
              </a:rPr>
              <a:t>Dashboard to triage &amp; act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26480" y="8997696"/>
            <a:ext cx="9144000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6471"/>
                </a:solidFill>
                <a:latin typeface="Calibri"/>
              </a:rPr>
              <a:t>investigator console: queue · entity-360 · EDD verdict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453359" y="8997696"/>
            <a:ext cx="2103120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92A2D"/>
                </a:solidFill>
                <a:latin typeface="TT Interphases Mono"/>
              </a:rPr>
              <a:t>L7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" y="9646920"/>
            <a:ext cx="170078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8A929E"/>
                </a:solidFill>
                <a:latin typeface="Calibri"/>
              </a:rPr>
              <a:t>Source: docs/detection-coverage-map.md (reproduces blueprint Part 12). 16 insider fraud vectors covered end-to-end.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" y="9857232"/>
            <a:ext cx="11887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8A929E"/>
                </a:solidFill>
                <a:latin typeface="TT Interphases Mono"/>
              </a:rPr>
              <a:t>HAWK-EYE  ·  Team NINEAGENTS  ·  iDEA 2.0 · PSBs Hackathon Series 2026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002000" y="9857232"/>
            <a:ext cx="16459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29E"/>
                </a:solidFill>
                <a:latin typeface="TT Interphases Mono"/>
              </a:rPr>
              <a:t>4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/>
          <p:cNvGrpSpPr/>
          <p:nvPr/>
        </p:nvGrpSpPr>
        <p:grpSpPr>
          <a:xfrm>
            <a:off x="0" y="0"/>
            <a:ext cx="18288000" cy="1697181"/>
            <a:chOff x="0" y="0"/>
            <a:chExt cx="4816593" cy="4469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46994"/>
            </a:xfrm>
            <a:custGeom>
              <a:avLst/>
              <a:gdLst/>
              <a:ahLst/>
              <a:cxnLst/>
              <a:rect l="l" t="t" r="r" b="b"/>
              <a:pathLst>
                <a:path w="4816592" h="446994">
                  <a:moveTo>
                    <a:pt x="0" y="0"/>
                  </a:moveTo>
                  <a:lnTo>
                    <a:pt x="4816592" y="0"/>
                  </a:lnTo>
                  <a:lnTo>
                    <a:pt x="4816592" y="446994"/>
                  </a:lnTo>
                  <a:lnTo>
                    <a:pt x="0" y="44699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85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662574" y="122606"/>
            <a:ext cx="3497653" cy="1540119"/>
          </a:xfrm>
          <a:custGeom>
            <a:avLst/>
            <a:gdLst/>
            <a:ahLst/>
            <a:cxnLst/>
            <a:rect l="l" t="t" r="r" b="b"/>
            <a:pathLst>
              <a:path w="3497653" h="1540119">
                <a:moveTo>
                  <a:pt x="0" y="0"/>
                </a:moveTo>
                <a:lnTo>
                  <a:pt x="3497653" y="0"/>
                </a:lnTo>
                <a:lnTo>
                  <a:pt x="3497653" y="1540119"/>
                </a:lnTo>
                <a:lnTo>
                  <a:pt x="0" y="15401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6230" t="-89762" r="-26367" b="-156792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0969852" y="588904"/>
            <a:ext cx="5022437" cy="749179"/>
            <a:chOff x="0" y="0"/>
            <a:chExt cx="6696583" cy="998906"/>
          </a:xfrm>
        </p:grpSpPr>
        <p:sp>
          <p:nvSpPr>
            <p:cNvPr id="7" name="Freeform 7" descr="A red blue and white logo  Description automatically generated"/>
            <p:cNvSpPr/>
            <p:nvPr/>
          </p:nvSpPr>
          <p:spPr>
            <a:xfrm>
              <a:off x="0" y="0"/>
              <a:ext cx="6696583" cy="998855"/>
            </a:xfrm>
            <a:custGeom>
              <a:avLst/>
              <a:gdLst/>
              <a:ahLst/>
              <a:cxnLst/>
              <a:rect l="l" t="t" r="r" b="b"/>
              <a:pathLst>
                <a:path w="6696583" h="998855">
                  <a:moveTo>
                    <a:pt x="0" y="0"/>
                  </a:moveTo>
                  <a:lnTo>
                    <a:pt x="6696583" y="0"/>
                  </a:lnTo>
                  <a:lnTo>
                    <a:pt x="6696583" y="998855"/>
                  </a:lnTo>
                  <a:lnTo>
                    <a:pt x="0" y="998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5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3163313" y="523697"/>
            <a:ext cx="2690517" cy="879592"/>
          </a:xfrm>
          <a:custGeom>
            <a:avLst/>
            <a:gdLst/>
            <a:ahLst/>
            <a:cxnLst/>
            <a:rect l="l" t="t" r="r" b="b"/>
            <a:pathLst>
              <a:path w="2690517" h="879592">
                <a:moveTo>
                  <a:pt x="0" y="0"/>
                </a:moveTo>
                <a:lnTo>
                  <a:pt x="2690518" y="0"/>
                </a:lnTo>
                <a:lnTo>
                  <a:pt x="2690518" y="879593"/>
                </a:lnTo>
                <a:lnTo>
                  <a:pt x="0" y="8795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01479" y="281194"/>
            <a:ext cx="2445886" cy="1222943"/>
          </a:xfrm>
          <a:custGeom>
            <a:avLst/>
            <a:gdLst/>
            <a:ahLst/>
            <a:cxnLst/>
            <a:rect l="l" t="t" r="r" b="b"/>
            <a:pathLst>
              <a:path w="2445886" h="1222943">
                <a:moveTo>
                  <a:pt x="0" y="0"/>
                </a:moveTo>
                <a:lnTo>
                  <a:pt x="2445886" y="0"/>
                </a:lnTo>
                <a:lnTo>
                  <a:pt x="2445886" y="1222943"/>
                </a:lnTo>
                <a:lnTo>
                  <a:pt x="0" y="12229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739206" y="471221"/>
            <a:ext cx="1040189" cy="1032916"/>
          </a:xfrm>
          <a:custGeom>
            <a:avLst/>
            <a:gdLst/>
            <a:ahLst/>
            <a:cxnLst/>
            <a:rect l="l" t="t" r="r" b="b"/>
            <a:pathLst>
              <a:path w="1040189" h="1032916">
                <a:moveTo>
                  <a:pt x="0" y="0"/>
                </a:moveTo>
                <a:lnTo>
                  <a:pt x="1040188" y="0"/>
                </a:lnTo>
                <a:lnTo>
                  <a:pt x="1040188" y="1032916"/>
                </a:lnTo>
                <a:lnTo>
                  <a:pt x="0" y="10329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633" t="-14434" r="-13983" b="-14081"/>
            </a:stretch>
          </a:blipFill>
        </p:spPr>
      </p:sp>
      <p:sp>
        <p:nvSpPr>
          <p:cNvPr id="13" name="TextBox 12"/>
          <p:cNvSpPr txBox="1"/>
          <p:nvPr/>
        </p:nvSpPr>
        <p:spPr>
          <a:xfrm>
            <a:off x="640080" y="1847088"/>
            <a:ext cx="1700784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92A2D"/>
                </a:solidFill>
                <a:latin typeface="TT Interphases Mono"/>
              </a:rPr>
              <a:t>TECHNOLOGY &amp; ENGINEERING (40%) · ARCHITECTURE &amp; DATA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139696"/>
            <a:ext cx="170078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4181F"/>
                </a:solidFill>
                <a:latin typeface="Montserrat"/>
              </a:rPr>
              <a:t>L0–L7 conveyor: event → rules → UEBA → GBDT → sequence → graph → fusion → dashboard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779776"/>
            <a:ext cx="822960" cy="45720"/>
          </a:xfrm>
          <a:prstGeom prst="rect">
            <a:avLst/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3200400"/>
            <a:ext cx="1956816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41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3200400"/>
            <a:ext cx="1956816" cy="640080"/>
          </a:xfrm>
          <a:prstGeom prst="roundRect">
            <a:avLst>
              <a:gd name="adj" fmla="val 6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566160"/>
            <a:ext cx="1956816" cy="27432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218688"/>
            <a:ext cx="1956816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League Spartan"/>
              </a:rPr>
              <a:t>L0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931920"/>
            <a:ext cx="1865376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4181F"/>
                </a:solidFill>
                <a:latin typeface="Montserrat"/>
              </a:rPr>
              <a:t>Canonical event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434840"/>
            <a:ext cx="1865376" cy="960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B6471"/>
                </a:solidFill>
                <a:latin typeface="Calibri"/>
              </a:rPr>
              <a:t>one JSON event
from any source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565545" y="4224528"/>
            <a:ext cx="175042" cy="237744"/>
          </a:xfrm>
          <a:prstGeom prst="rightArrow">
            <a:avLst/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790226" y="3200400"/>
            <a:ext cx="1956816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790226" y="3200400"/>
            <a:ext cx="1956816" cy="64008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90226" y="3566160"/>
            <a:ext cx="1956816" cy="274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90226" y="3218688"/>
            <a:ext cx="1956816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League Spartan"/>
              </a:rPr>
              <a:t>L1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5946" y="3931920"/>
            <a:ext cx="1865376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4181F"/>
                </a:solidFill>
                <a:latin typeface="Montserrat"/>
              </a:rPr>
              <a:t>Rules + SoD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5946" y="4434840"/>
            <a:ext cx="1865376" cy="960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B6471"/>
                </a:solidFill>
                <a:latin typeface="Calibri"/>
              </a:rPr>
              <a:t>hard red-flags,
maker-checker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4715691" y="4224528"/>
            <a:ext cx="175042" cy="237744"/>
          </a:xfrm>
          <a:prstGeom prst="rightArrow">
            <a:avLst/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940372" y="3200400"/>
            <a:ext cx="1956816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940372" y="3200400"/>
            <a:ext cx="1956816" cy="640080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940372" y="3566160"/>
            <a:ext cx="1956816" cy="274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40372" y="3218688"/>
            <a:ext cx="1956816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League Spartan"/>
              </a:rPr>
              <a:t>L2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86092" y="3931920"/>
            <a:ext cx="1865376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4181F"/>
                </a:solidFill>
                <a:latin typeface="Montserrat"/>
              </a:rPr>
              <a:t>UEBA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86092" y="4434840"/>
            <a:ext cx="1865376" cy="960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B6471"/>
                </a:solidFill>
                <a:latin typeface="Calibri"/>
              </a:rPr>
              <a:t>peer-relative
baseline, no labels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6865837" y="4224528"/>
            <a:ext cx="175042" cy="237744"/>
          </a:xfrm>
          <a:prstGeom prst="rightArrow">
            <a:avLst/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090518" y="3200400"/>
            <a:ext cx="1956816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E9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090518" y="3200400"/>
            <a:ext cx="1956816" cy="640080"/>
          </a:xfrm>
          <a:prstGeom prst="roundRect">
            <a:avLst>
              <a:gd name="adj" fmla="val 6000"/>
            </a:avLst>
          </a:prstGeom>
          <a:solidFill>
            <a:srgbClr val="1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090518" y="3566160"/>
            <a:ext cx="1956816" cy="274320"/>
          </a:xfrm>
          <a:prstGeom prst="rect">
            <a:avLst/>
          </a:prstGeom>
          <a:solidFill>
            <a:srgbClr val="1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90518" y="3218688"/>
            <a:ext cx="1956816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League Spartan"/>
              </a:rPr>
              <a:t>L3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6238" y="3931920"/>
            <a:ext cx="1865376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4181F"/>
                </a:solidFill>
                <a:latin typeface="Montserrat"/>
              </a:rPr>
              <a:t>Supervised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6238" y="4434840"/>
            <a:ext cx="1865376" cy="960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B6471"/>
                </a:solidFill>
                <a:latin typeface="Calibri"/>
              </a:rPr>
              <a:t>LightGBM
+ SHAP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9015984" y="4224528"/>
            <a:ext cx="175042" cy="237744"/>
          </a:xfrm>
          <a:prstGeom prst="rightArrow">
            <a:avLst/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240665" y="3200400"/>
            <a:ext cx="1956816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E91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240665" y="3200400"/>
            <a:ext cx="1956816" cy="640080"/>
          </a:xfrm>
          <a:prstGeom prst="roundRect">
            <a:avLst>
              <a:gd name="adj" fmla="val 6000"/>
            </a:avLst>
          </a:prstGeom>
          <a:solidFill>
            <a:srgbClr val="0E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240665" y="3566160"/>
            <a:ext cx="1956816" cy="274320"/>
          </a:xfrm>
          <a:prstGeom prst="rect">
            <a:avLst/>
          </a:prstGeom>
          <a:solidFill>
            <a:srgbClr val="0E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40665" y="3218688"/>
            <a:ext cx="1956816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League Spartan"/>
              </a:rPr>
              <a:t>L4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86385" y="3931920"/>
            <a:ext cx="1865376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4181F"/>
                </a:solidFill>
                <a:latin typeface="Montserrat"/>
              </a:rPr>
              <a:t>Sequence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86385" y="4434840"/>
            <a:ext cx="1865376" cy="960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B6471"/>
                </a:solidFill>
                <a:latin typeface="Calibri"/>
              </a:rPr>
              <a:t>order &amp; timing
of actions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11166130" y="4224528"/>
            <a:ext cx="175042" cy="237744"/>
          </a:xfrm>
          <a:prstGeom prst="rightArrow">
            <a:avLst/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1390811" y="3200400"/>
            <a:ext cx="1956816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D982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1390811" y="3200400"/>
            <a:ext cx="1956816" cy="640080"/>
          </a:xfrm>
          <a:prstGeom prst="roundRect">
            <a:avLst>
              <a:gd name="adj" fmla="val 6000"/>
            </a:avLst>
          </a:prstGeom>
          <a:solidFill>
            <a:srgbClr val="D982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390811" y="3566160"/>
            <a:ext cx="1956816" cy="274320"/>
          </a:xfrm>
          <a:prstGeom prst="rect">
            <a:avLst/>
          </a:prstGeom>
          <a:solidFill>
            <a:srgbClr val="D982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390811" y="3218688"/>
            <a:ext cx="1956816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League Spartan"/>
              </a:rPr>
              <a:t>L5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436531" y="3931920"/>
            <a:ext cx="1865376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4181F"/>
                </a:solidFill>
                <a:latin typeface="Montserrat"/>
              </a:rPr>
              <a:t>Graph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6531" y="4434840"/>
            <a:ext cx="1865376" cy="960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B6471"/>
                </a:solidFill>
                <a:latin typeface="Calibri"/>
              </a:rPr>
              <a:t>collusion rings,
shell vendors</a:t>
            </a:r>
          </a:p>
        </p:txBody>
      </p:sp>
      <p:sp>
        <p:nvSpPr>
          <p:cNvPr id="57" name="Right Arrow 56"/>
          <p:cNvSpPr/>
          <p:nvPr/>
        </p:nvSpPr>
        <p:spPr>
          <a:xfrm>
            <a:off x="13316276" y="4224528"/>
            <a:ext cx="175042" cy="237744"/>
          </a:xfrm>
          <a:prstGeom prst="rightArrow">
            <a:avLst/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3540957" y="3200400"/>
            <a:ext cx="1956816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E92A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13540957" y="3200400"/>
            <a:ext cx="1956816" cy="640080"/>
          </a:xfrm>
          <a:prstGeom prst="roundRect">
            <a:avLst>
              <a:gd name="adj" fmla="val 6000"/>
            </a:avLst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3540957" y="3566160"/>
            <a:ext cx="1956816" cy="274320"/>
          </a:xfrm>
          <a:prstGeom prst="rect">
            <a:avLst/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3540957" y="3218688"/>
            <a:ext cx="1956816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League Spartan"/>
              </a:rPr>
              <a:t>L6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3586677" y="3931920"/>
            <a:ext cx="1865376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4181F"/>
                </a:solidFill>
                <a:latin typeface="Montserrat"/>
              </a:rPr>
              <a:t>Fusion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3586677" y="4434840"/>
            <a:ext cx="1865376" cy="960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B6471"/>
                </a:solidFill>
                <a:latin typeface="Calibri"/>
              </a:rPr>
              <a:t>one 0–100 score
+ reason codes</a:t>
            </a:r>
          </a:p>
        </p:txBody>
      </p:sp>
      <p:sp>
        <p:nvSpPr>
          <p:cNvPr id="64" name="Right Arrow 63"/>
          <p:cNvSpPr/>
          <p:nvPr/>
        </p:nvSpPr>
        <p:spPr>
          <a:xfrm>
            <a:off x="15466422" y="4224528"/>
            <a:ext cx="175042" cy="237744"/>
          </a:xfrm>
          <a:prstGeom prst="rightArrow">
            <a:avLst/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5691104" y="3200400"/>
            <a:ext cx="1956816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41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15691104" y="3200400"/>
            <a:ext cx="1956816" cy="640080"/>
          </a:xfrm>
          <a:prstGeom prst="roundRect">
            <a:avLst>
              <a:gd name="adj" fmla="val 6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5691104" y="3566160"/>
            <a:ext cx="1956816" cy="27432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5691104" y="3218688"/>
            <a:ext cx="1956816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League Spartan"/>
              </a:rPr>
              <a:t>L7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5736824" y="3931920"/>
            <a:ext cx="1865376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4181F"/>
                </a:solidFill>
                <a:latin typeface="Montserrat"/>
              </a:rPr>
              <a:t>Dashboard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5736824" y="4434840"/>
            <a:ext cx="1865376" cy="960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B6471"/>
                </a:solidFill>
                <a:latin typeface="Calibri"/>
              </a:rPr>
              <a:t>investigator
triage + EDD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40080" y="5715000"/>
            <a:ext cx="17007840" cy="45720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5240">
            <a:solidFill>
              <a:srgbClr val="1E9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22959" y="5715000"/>
            <a:ext cx="1664208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4181F"/>
                </a:solidFill>
                <a:latin typeface="Calibri"/>
              </a:rPr>
              <a:t>FAST LANE — real-time: event → feature → score → alert in SECONDS (the primary build).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40080" y="6263640"/>
            <a:ext cx="17007840" cy="45720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5240">
            <a:solidFill>
              <a:srgbClr val="D982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22959" y="6263640"/>
            <a:ext cx="1664208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4181F"/>
                </a:solidFill>
                <a:latin typeface="Calibri"/>
              </a:rPr>
              <a:t>SLOW LANE — batch Early-Warning-Signal over days–weeks → feeds RBI EWS / RFA / CRILC / FMR.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40080" y="6812280"/>
            <a:ext cx="17007840" cy="658368"/>
          </a:xfrm>
          <a:prstGeom prst="roundRect">
            <a:avLst>
              <a:gd name="adj" fmla="val 6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22959" y="6812280"/>
            <a:ext cx="1664208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ALERT-ONLY — scores &amp; explains; a human decides, never auto-blocks money.  Every alert is contestable (reason codes) · reproducible · audited (hash-chained WORM).  Feedback loop: investigator EDD verdict → new label → models retrain.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9857232"/>
            <a:ext cx="11887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8A929E"/>
                </a:solidFill>
                <a:latin typeface="TT Interphases Mono"/>
              </a:rPr>
              <a:t>HAWK-EYE  ·  Team NINEAGENTS  ·  iDEA 2.0 · PSBs Hackathon Series 2026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6002000" y="9857232"/>
            <a:ext cx="16459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29E"/>
                </a:solidFill>
                <a:latin typeface="TT Interphases Mono"/>
              </a:rPr>
              <a:t>5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/>
          <p:cNvGrpSpPr/>
          <p:nvPr/>
        </p:nvGrpSpPr>
        <p:grpSpPr>
          <a:xfrm>
            <a:off x="0" y="0"/>
            <a:ext cx="18288000" cy="1697181"/>
            <a:chOff x="0" y="0"/>
            <a:chExt cx="4816593" cy="4469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46994"/>
            </a:xfrm>
            <a:custGeom>
              <a:avLst/>
              <a:gdLst/>
              <a:ahLst/>
              <a:cxnLst/>
              <a:rect l="l" t="t" r="r" b="b"/>
              <a:pathLst>
                <a:path w="4816592" h="446994">
                  <a:moveTo>
                    <a:pt x="0" y="0"/>
                  </a:moveTo>
                  <a:lnTo>
                    <a:pt x="4816592" y="0"/>
                  </a:lnTo>
                  <a:lnTo>
                    <a:pt x="4816592" y="446994"/>
                  </a:lnTo>
                  <a:lnTo>
                    <a:pt x="0" y="44699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85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662574" y="122606"/>
            <a:ext cx="3497653" cy="1540119"/>
          </a:xfrm>
          <a:custGeom>
            <a:avLst/>
            <a:gdLst/>
            <a:ahLst/>
            <a:cxnLst/>
            <a:rect l="l" t="t" r="r" b="b"/>
            <a:pathLst>
              <a:path w="3497653" h="1540119">
                <a:moveTo>
                  <a:pt x="0" y="0"/>
                </a:moveTo>
                <a:lnTo>
                  <a:pt x="3497653" y="0"/>
                </a:lnTo>
                <a:lnTo>
                  <a:pt x="3497653" y="1540119"/>
                </a:lnTo>
                <a:lnTo>
                  <a:pt x="0" y="15401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6230" t="-89762" r="-26367" b="-156792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0969852" y="588904"/>
            <a:ext cx="5022437" cy="749179"/>
            <a:chOff x="0" y="0"/>
            <a:chExt cx="6696583" cy="998906"/>
          </a:xfrm>
        </p:grpSpPr>
        <p:sp>
          <p:nvSpPr>
            <p:cNvPr id="7" name="Freeform 7" descr="A red blue and white logo  Description automatically generated"/>
            <p:cNvSpPr/>
            <p:nvPr/>
          </p:nvSpPr>
          <p:spPr>
            <a:xfrm>
              <a:off x="0" y="0"/>
              <a:ext cx="6696583" cy="998855"/>
            </a:xfrm>
            <a:custGeom>
              <a:avLst/>
              <a:gdLst/>
              <a:ahLst/>
              <a:cxnLst/>
              <a:rect l="l" t="t" r="r" b="b"/>
              <a:pathLst>
                <a:path w="6696583" h="998855">
                  <a:moveTo>
                    <a:pt x="0" y="0"/>
                  </a:moveTo>
                  <a:lnTo>
                    <a:pt x="6696583" y="0"/>
                  </a:lnTo>
                  <a:lnTo>
                    <a:pt x="6696583" y="998855"/>
                  </a:lnTo>
                  <a:lnTo>
                    <a:pt x="0" y="998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5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3163313" y="523697"/>
            <a:ext cx="2690517" cy="879592"/>
          </a:xfrm>
          <a:custGeom>
            <a:avLst/>
            <a:gdLst/>
            <a:ahLst/>
            <a:cxnLst/>
            <a:rect l="l" t="t" r="r" b="b"/>
            <a:pathLst>
              <a:path w="2690517" h="879592">
                <a:moveTo>
                  <a:pt x="0" y="0"/>
                </a:moveTo>
                <a:lnTo>
                  <a:pt x="2690518" y="0"/>
                </a:lnTo>
                <a:lnTo>
                  <a:pt x="2690518" y="879593"/>
                </a:lnTo>
                <a:lnTo>
                  <a:pt x="0" y="8795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01479" y="281194"/>
            <a:ext cx="2445886" cy="1222943"/>
          </a:xfrm>
          <a:custGeom>
            <a:avLst/>
            <a:gdLst/>
            <a:ahLst/>
            <a:cxnLst/>
            <a:rect l="l" t="t" r="r" b="b"/>
            <a:pathLst>
              <a:path w="2445886" h="1222943">
                <a:moveTo>
                  <a:pt x="0" y="0"/>
                </a:moveTo>
                <a:lnTo>
                  <a:pt x="2445886" y="0"/>
                </a:lnTo>
                <a:lnTo>
                  <a:pt x="2445886" y="1222943"/>
                </a:lnTo>
                <a:lnTo>
                  <a:pt x="0" y="12229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739206" y="471221"/>
            <a:ext cx="1040189" cy="1032916"/>
          </a:xfrm>
          <a:custGeom>
            <a:avLst/>
            <a:gdLst/>
            <a:ahLst/>
            <a:cxnLst/>
            <a:rect l="l" t="t" r="r" b="b"/>
            <a:pathLst>
              <a:path w="1040189" h="1032916">
                <a:moveTo>
                  <a:pt x="0" y="0"/>
                </a:moveTo>
                <a:lnTo>
                  <a:pt x="1040188" y="0"/>
                </a:lnTo>
                <a:lnTo>
                  <a:pt x="1040188" y="1032916"/>
                </a:lnTo>
                <a:lnTo>
                  <a:pt x="0" y="10329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633" t="-14434" r="-13983" b="-14081"/>
            </a:stretch>
          </a:blipFill>
        </p:spPr>
      </p:sp>
      <p:sp>
        <p:nvSpPr>
          <p:cNvPr id="13" name="TextBox 12"/>
          <p:cNvSpPr txBox="1"/>
          <p:nvPr/>
        </p:nvSpPr>
        <p:spPr>
          <a:xfrm>
            <a:off x="640080" y="1847088"/>
            <a:ext cx="1700784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92A2D"/>
                </a:solidFill>
                <a:latin typeface="TT Interphases Mono"/>
              </a:rPr>
              <a:t>TECHNOLOGY &amp; ENGINEERING (40%) · TECH STACK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139696"/>
            <a:ext cx="170078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4181F"/>
                </a:solidFill>
                <a:latin typeface="Montserrat"/>
              </a:rPr>
              <a:t>Production stack — ~26 orchestrated services, on-prem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779776"/>
            <a:ext cx="822960" cy="45720"/>
          </a:xfrm>
          <a:prstGeom prst="rect">
            <a:avLst/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3200400"/>
            <a:ext cx="53492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3200400"/>
            <a:ext cx="5349240" cy="420624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419856"/>
            <a:ext cx="5349240" cy="2011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" y="3236976"/>
            <a:ext cx="507492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ontserrat"/>
              </a:rPr>
              <a:t>BACKEND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3730752"/>
            <a:ext cx="5038344" cy="169163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300" b="0" i="0">
                <a:solidFill>
                  <a:srgbClr val="14181F"/>
                </a:solidFill>
                <a:latin typeface="Calibri"/>
              </a:rPr>
              <a:t>•  Python 3.13 · FastAPI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300" b="0" i="0">
                <a:solidFill>
                  <a:srgbClr val="14181F"/>
                </a:solidFill>
                <a:latin typeface="Calibri"/>
              </a:rPr>
              <a:t>•  performance-critical bits in Rust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300" b="0" i="0">
                <a:solidFill>
                  <a:srgbClr val="14181F"/>
                </a:solidFill>
                <a:latin typeface="Calibri"/>
              </a:rPr>
              <a:t>•  REST API + OpenAPI + RBAC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3200400"/>
            <a:ext cx="53492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46520" y="3200400"/>
            <a:ext cx="5349240" cy="420624"/>
          </a:xfrm>
          <a:prstGeom prst="roundRect">
            <a:avLst>
              <a:gd name="adj" fmla="val 6000"/>
            </a:avLst>
          </a:prstGeom>
          <a:solidFill>
            <a:srgbClr val="1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46520" y="3419856"/>
            <a:ext cx="5349240" cy="201168"/>
          </a:xfrm>
          <a:prstGeom prst="rect">
            <a:avLst/>
          </a:prstGeom>
          <a:solidFill>
            <a:srgbClr val="1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11112" y="3236976"/>
            <a:ext cx="507492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ontserrat"/>
              </a:rPr>
              <a:t>ML / MLOps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11112" y="3730752"/>
            <a:ext cx="5038344" cy="169163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300" b="0" i="0">
                <a:solidFill>
                  <a:srgbClr val="14181F"/>
                </a:solidFill>
                <a:latin typeface="Calibri"/>
              </a:rPr>
              <a:t>•  LightGBM · XGBoost · CatBoost · PyOD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300" b="0" i="0">
                <a:solidFill>
                  <a:srgbClr val="14181F"/>
                </a:solidFill>
                <a:latin typeface="Calibri"/>
              </a:rPr>
              <a:t>•  PyTorch + torch-geometric (GNN) · SHAP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300" b="0" i="0">
                <a:solidFill>
                  <a:srgbClr val="14181F"/>
                </a:solidFill>
                <a:latin typeface="Calibri"/>
              </a:rPr>
              <a:t>•  MLflow · Evidently · Fairlearn · ONNX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252959" y="3200400"/>
            <a:ext cx="53492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2252959" y="3200400"/>
            <a:ext cx="5349240" cy="420624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252959" y="3419856"/>
            <a:ext cx="5349240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417551" y="3236976"/>
            <a:ext cx="507492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ontserrat"/>
              </a:rPr>
              <a:t>DATA / STREAMING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417551" y="3730752"/>
            <a:ext cx="5038344" cy="169163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300" b="0" i="0">
                <a:solidFill>
                  <a:srgbClr val="14181F"/>
                </a:solidFill>
                <a:latin typeface="Calibri"/>
              </a:rPr>
              <a:t>•  Kafka event bus · canonical L0 event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300" b="0" i="0">
                <a:solidFill>
                  <a:srgbClr val="14181F"/>
                </a:solidFill>
                <a:latin typeface="Calibri"/>
              </a:rPr>
              <a:t>•  feature store + lineage + MDM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300" b="0" i="0">
                <a:solidFill>
                  <a:srgbClr val="14181F"/>
                </a:solidFill>
                <a:latin typeface="Calibri"/>
              </a:rPr>
              <a:t>•  synthetic simulator + public datasets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897879"/>
            <a:ext cx="53492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0080" y="5897879"/>
            <a:ext cx="5349240" cy="420624"/>
          </a:xfrm>
          <a:prstGeom prst="roundRect">
            <a:avLst>
              <a:gd name="adj" fmla="val 6000"/>
            </a:avLst>
          </a:prstGeom>
          <a:solidFill>
            <a:srgbClr val="0E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6117336"/>
            <a:ext cx="5349240" cy="201168"/>
          </a:xfrm>
          <a:prstGeom prst="rect">
            <a:avLst/>
          </a:prstGeom>
          <a:solidFill>
            <a:srgbClr val="0E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1" y="5934455"/>
            <a:ext cx="507492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ontserrat"/>
              </a:rPr>
              <a:t>DATABASES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" y="6428231"/>
            <a:ext cx="5038344" cy="169163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300" b="0" i="0">
                <a:solidFill>
                  <a:srgbClr val="14181F"/>
                </a:solidFill>
                <a:latin typeface="Calibri"/>
              </a:rPr>
              <a:t>•  ClickHouse (columnar events)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300" b="0" i="0">
                <a:solidFill>
                  <a:srgbClr val="14181F"/>
                </a:solidFill>
                <a:latin typeface="Calibri"/>
              </a:rPr>
              <a:t>•  Postgres · Redis · MinIO object store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300" b="0" i="0">
                <a:solidFill>
                  <a:srgbClr val="14181F"/>
                </a:solidFill>
                <a:latin typeface="Calibri"/>
              </a:rPr>
              <a:t>•  WORM / tamper-evident audit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46520" y="5897879"/>
            <a:ext cx="53492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446520" y="5897879"/>
            <a:ext cx="5349240" cy="420624"/>
          </a:xfrm>
          <a:prstGeom prst="roundRect">
            <a:avLst>
              <a:gd name="adj" fmla="val 6000"/>
            </a:avLst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46520" y="6117336"/>
            <a:ext cx="5349240" cy="201168"/>
          </a:xfrm>
          <a:prstGeom prst="rect">
            <a:avLst/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11112" y="5934455"/>
            <a:ext cx="507492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ontserrat"/>
              </a:rPr>
              <a:t>FRONTEND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11112" y="6428231"/>
            <a:ext cx="5038344" cy="169163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300" b="0" i="0">
                <a:solidFill>
                  <a:srgbClr val="14181F"/>
                </a:solidFill>
                <a:latin typeface="Calibri"/>
              </a:rPr>
              <a:t>•  React 19 · TypeScript · Vite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300" b="0" i="0">
                <a:solidFill>
                  <a:srgbClr val="14181F"/>
                </a:solidFill>
                <a:latin typeface="Calibri"/>
              </a:rPr>
              <a:t>•  Radix + CVA + Tailwind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300" b="0" i="0">
                <a:solidFill>
                  <a:srgbClr val="14181F"/>
                </a:solidFill>
                <a:latin typeface="Calibri"/>
              </a:rPr>
              <a:t>•  Recharts · Cytoscape · 82 components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2252959" y="5897879"/>
            <a:ext cx="53492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2252959" y="5897879"/>
            <a:ext cx="5349240" cy="420624"/>
          </a:xfrm>
          <a:prstGeom prst="roundRect">
            <a:avLst>
              <a:gd name="adj" fmla="val 6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2252959" y="6117336"/>
            <a:ext cx="5349240" cy="20116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417551" y="5934455"/>
            <a:ext cx="507492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ontserrat"/>
              </a:rPr>
              <a:t>INFRA / DEPLOY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417551" y="6428231"/>
            <a:ext cx="5038344" cy="169163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300" b="0" i="0">
                <a:solidFill>
                  <a:srgbClr val="14181F"/>
                </a:solidFill>
                <a:latin typeface="Calibri"/>
              </a:rPr>
              <a:t>•  Docker Compose · Kubernetes · ArgoCD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300" b="0" i="0">
                <a:solidFill>
                  <a:srgbClr val="14181F"/>
                </a:solidFill>
                <a:latin typeface="Calibri"/>
              </a:rPr>
              <a:t>•  Terraform · HSM / Vault · mTLS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300" b="0" i="0">
                <a:solidFill>
                  <a:srgbClr val="14181F"/>
                </a:solidFill>
                <a:latin typeface="Calibri"/>
              </a:rPr>
              <a:t>•  OPA/Conftest policy gates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9857232"/>
            <a:ext cx="11887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8A929E"/>
                </a:solidFill>
                <a:latin typeface="TT Interphases Mono"/>
              </a:rPr>
              <a:t>HAWK-EYE  ·  Team NINEAGENTS  ·  iDEA 2.0 · PSBs Hackathon Series 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002000" y="9857232"/>
            <a:ext cx="16459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29E"/>
                </a:solidFill>
                <a:latin typeface="TT Interphases Mono"/>
              </a:rPr>
              <a:t>6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/>
          <p:cNvGrpSpPr/>
          <p:nvPr/>
        </p:nvGrpSpPr>
        <p:grpSpPr>
          <a:xfrm>
            <a:off x="0" y="0"/>
            <a:ext cx="18288000" cy="1697181"/>
            <a:chOff x="0" y="0"/>
            <a:chExt cx="4816593" cy="4469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46994"/>
            </a:xfrm>
            <a:custGeom>
              <a:avLst/>
              <a:gdLst/>
              <a:ahLst/>
              <a:cxnLst/>
              <a:rect l="l" t="t" r="r" b="b"/>
              <a:pathLst>
                <a:path w="4816592" h="446994">
                  <a:moveTo>
                    <a:pt x="0" y="0"/>
                  </a:moveTo>
                  <a:lnTo>
                    <a:pt x="4816592" y="0"/>
                  </a:lnTo>
                  <a:lnTo>
                    <a:pt x="4816592" y="446994"/>
                  </a:lnTo>
                  <a:lnTo>
                    <a:pt x="0" y="44699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85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662574" y="122606"/>
            <a:ext cx="3497653" cy="1540119"/>
          </a:xfrm>
          <a:custGeom>
            <a:avLst/>
            <a:gdLst/>
            <a:ahLst/>
            <a:cxnLst/>
            <a:rect l="l" t="t" r="r" b="b"/>
            <a:pathLst>
              <a:path w="3497653" h="1540119">
                <a:moveTo>
                  <a:pt x="0" y="0"/>
                </a:moveTo>
                <a:lnTo>
                  <a:pt x="3497653" y="0"/>
                </a:lnTo>
                <a:lnTo>
                  <a:pt x="3497653" y="1540119"/>
                </a:lnTo>
                <a:lnTo>
                  <a:pt x="0" y="15401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6230" t="-89762" r="-26367" b="-156792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0969852" y="588904"/>
            <a:ext cx="5022437" cy="749179"/>
            <a:chOff x="0" y="0"/>
            <a:chExt cx="6696583" cy="998906"/>
          </a:xfrm>
        </p:grpSpPr>
        <p:sp>
          <p:nvSpPr>
            <p:cNvPr id="7" name="Freeform 7" descr="A red blue and white logo  Description automatically generated"/>
            <p:cNvSpPr/>
            <p:nvPr/>
          </p:nvSpPr>
          <p:spPr>
            <a:xfrm>
              <a:off x="0" y="0"/>
              <a:ext cx="6696583" cy="998855"/>
            </a:xfrm>
            <a:custGeom>
              <a:avLst/>
              <a:gdLst/>
              <a:ahLst/>
              <a:cxnLst/>
              <a:rect l="l" t="t" r="r" b="b"/>
              <a:pathLst>
                <a:path w="6696583" h="998855">
                  <a:moveTo>
                    <a:pt x="0" y="0"/>
                  </a:moveTo>
                  <a:lnTo>
                    <a:pt x="6696583" y="0"/>
                  </a:lnTo>
                  <a:lnTo>
                    <a:pt x="6696583" y="998855"/>
                  </a:lnTo>
                  <a:lnTo>
                    <a:pt x="0" y="998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5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3163313" y="523697"/>
            <a:ext cx="2690517" cy="879592"/>
          </a:xfrm>
          <a:custGeom>
            <a:avLst/>
            <a:gdLst/>
            <a:ahLst/>
            <a:cxnLst/>
            <a:rect l="l" t="t" r="r" b="b"/>
            <a:pathLst>
              <a:path w="2690517" h="879592">
                <a:moveTo>
                  <a:pt x="0" y="0"/>
                </a:moveTo>
                <a:lnTo>
                  <a:pt x="2690518" y="0"/>
                </a:lnTo>
                <a:lnTo>
                  <a:pt x="2690518" y="879593"/>
                </a:lnTo>
                <a:lnTo>
                  <a:pt x="0" y="8795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01479" y="281194"/>
            <a:ext cx="2445886" cy="1222943"/>
          </a:xfrm>
          <a:custGeom>
            <a:avLst/>
            <a:gdLst/>
            <a:ahLst/>
            <a:cxnLst/>
            <a:rect l="l" t="t" r="r" b="b"/>
            <a:pathLst>
              <a:path w="2445886" h="1222943">
                <a:moveTo>
                  <a:pt x="0" y="0"/>
                </a:moveTo>
                <a:lnTo>
                  <a:pt x="2445886" y="0"/>
                </a:lnTo>
                <a:lnTo>
                  <a:pt x="2445886" y="1222943"/>
                </a:lnTo>
                <a:lnTo>
                  <a:pt x="0" y="12229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739206" y="471221"/>
            <a:ext cx="1040189" cy="1032916"/>
          </a:xfrm>
          <a:custGeom>
            <a:avLst/>
            <a:gdLst/>
            <a:ahLst/>
            <a:cxnLst/>
            <a:rect l="l" t="t" r="r" b="b"/>
            <a:pathLst>
              <a:path w="1040189" h="1032916">
                <a:moveTo>
                  <a:pt x="0" y="0"/>
                </a:moveTo>
                <a:lnTo>
                  <a:pt x="1040188" y="0"/>
                </a:lnTo>
                <a:lnTo>
                  <a:pt x="1040188" y="1032916"/>
                </a:lnTo>
                <a:lnTo>
                  <a:pt x="0" y="10329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633" t="-14434" r="-13983" b="-14081"/>
            </a:stretch>
          </a:blipFill>
        </p:spPr>
      </p:sp>
      <p:sp>
        <p:nvSpPr>
          <p:cNvPr id="13" name="TextBox 12"/>
          <p:cNvSpPr txBox="1"/>
          <p:nvPr/>
        </p:nvSpPr>
        <p:spPr>
          <a:xfrm>
            <a:off x="640080" y="1847088"/>
            <a:ext cx="1700784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92A2D"/>
                </a:solidFill>
                <a:latin typeface="TT Interphases Mono"/>
              </a:rPr>
              <a:t>TECHNOLOGY &amp; ENGINEERING (40%) · AI/ML USAGE &amp; MODEL JUSTIFICATION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139696"/>
            <a:ext cx="170078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4181F"/>
                </a:solidFill>
                <a:latin typeface="Montserrat"/>
              </a:rPr>
              <a:t>Layered ML — each layer covers what the others cannot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779776"/>
            <a:ext cx="822960" cy="45720"/>
          </a:xfrm>
          <a:prstGeom prst="rect">
            <a:avLst/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3200400"/>
            <a:ext cx="393192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3200400"/>
            <a:ext cx="3931920" cy="420624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419856"/>
            <a:ext cx="3931920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" y="3236976"/>
            <a:ext cx="365760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Montserrat"/>
              </a:rPr>
              <a:t>L2 · UEBA (unsupervised)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3730752"/>
            <a:ext cx="3621024" cy="21031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02000"/>
              </a:lnSpc>
              <a:spcBef>
                <a:spcPts val="500"/>
              </a:spcBef>
            </a:pPr>
            <a:r>
              <a:rPr sz="1250" b="0" i="0">
                <a:solidFill>
                  <a:srgbClr val="14181F"/>
                </a:solidFill>
                <a:latin typeface="Calibri"/>
              </a:rPr>
              <a:t>•  Learns each user's normal vs their PEERS</a:t>
            </a:r>
          </a:p>
          <a:p>
            <a:pPr algn="l">
              <a:lnSpc>
                <a:spcPct val="102000"/>
              </a:lnSpc>
              <a:spcBef>
                <a:spcPts val="500"/>
              </a:spcBef>
            </a:pPr>
            <a:r>
              <a:rPr sz="1250" b="0" i="0">
                <a:solidFill>
                  <a:srgbClr val="14181F"/>
                </a:solidFill>
                <a:latin typeface="Calibri"/>
              </a:rPr>
              <a:t>•  No labels needed → solves cold-start</a:t>
            </a:r>
          </a:p>
          <a:p>
            <a:pPr algn="l">
              <a:lnSpc>
                <a:spcPct val="102000"/>
              </a:lnSpc>
              <a:spcBef>
                <a:spcPts val="500"/>
              </a:spcBef>
            </a:pPr>
            <a:r>
              <a:rPr sz="1250" b="0" i="0">
                <a:solidFill>
                  <a:srgbClr val="14181F"/>
                </a:solidFill>
                <a:latin typeface="Calibri"/>
              </a:rPr>
              <a:t>•  Peer-relative = fairer + harder to game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65192" y="3200400"/>
            <a:ext cx="393192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965192" y="3200400"/>
            <a:ext cx="3931920" cy="420624"/>
          </a:xfrm>
          <a:prstGeom prst="roundRect">
            <a:avLst>
              <a:gd name="adj" fmla="val 6000"/>
            </a:avLst>
          </a:prstGeom>
          <a:solidFill>
            <a:srgbClr val="1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965192" y="3419856"/>
            <a:ext cx="3931920" cy="201168"/>
          </a:xfrm>
          <a:prstGeom prst="rect">
            <a:avLst/>
          </a:prstGeom>
          <a:solidFill>
            <a:srgbClr val="1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9783" y="3236976"/>
            <a:ext cx="365760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Montserrat"/>
              </a:rPr>
              <a:t>L3 · Supervised GBDT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9783" y="3730752"/>
            <a:ext cx="3621024" cy="21031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02000"/>
              </a:lnSpc>
              <a:spcBef>
                <a:spcPts val="500"/>
              </a:spcBef>
            </a:pPr>
            <a:r>
              <a:rPr sz="1250" b="0" i="0">
                <a:solidFill>
                  <a:srgbClr val="14181F"/>
                </a:solidFill>
                <a:latin typeface="Calibri"/>
              </a:rPr>
              <a:t>•  LightGBM on confirmed-fraud labels</a:t>
            </a:r>
          </a:p>
          <a:p>
            <a:pPr algn="l">
              <a:lnSpc>
                <a:spcPct val="102000"/>
              </a:lnSpc>
              <a:spcBef>
                <a:spcPts val="500"/>
              </a:spcBef>
            </a:pPr>
            <a:r>
              <a:rPr sz="1250" b="0" i="0">
                <a:solidFill>
                  <a:srgbClr val="14181F"/>
                </a:solidFill>
                <a:latin typeface="Calibri"/>
              </a:rPr>
              <a:t>•  SHAP shows which features drove the score</a:t>
            </a:r>
          </a:p>
          <a:p>
            <a:pPr algn="l">
              <a:lnSpc>
                <a:spcPct val="102000"/>
              </a:lnSpc>
              <a:spcBef>
                <a:spcPts val="500"/>
              </a:spcBef>
            </a:pPr>
            <a:r>
              <a:rPr sz="1250" b="0" i="0">
                <a:solidFill>
                  <a:srgbClr val="14181F"/>
                </a:solidFill>
                <a:latin typeface="Calibri"/>
              </a:rPr>
              <a:t>•  The explainable supervised workhorse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90303" y="3200400"/>
            <a:ext cx="393192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290303" y="3200400"/>
            <a:ext cx="3931920" cy="420624"/>
          </a:xfrm>
          <a:prstGeom prst="roundRect">
            <a:avLst>
              <a:gd name="adj" fmla="val 6000"/>
            </a:avLst>
          </a:prstGeom>
          <a:solidFill>
            <a:srgbClr val="0E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90303" y="3419856"/>
            <a:ext cx="3931920" cy="201168"/>
          </a:xfrm>
          <a:prstGeom prst="rect">
            <a:avLst/>
          </a:prstGeom>
          <a:solidFill>
            <a:srgbClr val="0E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54895" y="3236976"/>
            <a:ext cx="365760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Montserrat"/>
              </a:rPr>
              <a:t>L4 · Sequence / time-series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54895" y="3730752"/>
            <a:ext cx="3621024" cy="21031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02000"/>
              </a:lnSpc>
              <a:spcBef>
                <a:spcPts val="500"/>
              </a:spcBef>
            </a:pPr>
            <a:r>
              <a:rPr sz="1250" b="0" i="0">
                <a:solidFill>
                  <a:srgbClr val="14181F"/>
                </a:solidFill>
                <a:latin typeface="Calibri"/>
              </a:rPr>
              <a:t>•  Order &amp; timing of actions (slow-burn)</a:t>
            </a:r>
          </a:p>
          <a:p>
            <a:pPr algn="l">
              <a:lnSpc>
                <a:spcPct val="102000"/>
              </a:lnSpc>
              <a:spcBef>
                <a:spcPts val="500"/>
              </a:spcBef>
            </a:pPr>
            <a:r>
              <a:rPr sz="1250" b="0" i="0">
                <a:solidFill>
                  <a:srgbClr val="14181F"/>
                </a:solidFill>
                <a:latin typeface="Calibri"/>
              </a:rPr>
              <a:t>•  Simple methods first; deep only if</a:t>
            </a:r>
          </a:p>
          <a:p>
            <a:pPr algn="l">
              <a:lnSpc>
                <a:spcPct val="102000"/>
              </a:lnSpc>
              <a:spcBef>
                <a:spcPts val="500"/>
              </a:spcBef>
            </a:pPr>
            <a:r>
              <a:rPr sz="1250" b="0" i="0">
                <a:solidFill>
                  <a:srgbClr val="14181F"/>
                </a:solidFill>
                <a:latin typeface="Calibri"/>
              </a:rPr>
              <a:t>•  it genuinely beats the simple baseline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3615415" y="3200400"/>
            <a:ext cx="393192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3615415" y="3200400"/>
            <a:ext cx="3931920" cy="420624"/>
          </a:xfrm>
          <a:prstGeom prst="roundRect">
            <a:avLst>
              <a:gd name="adj" fmla="val 6000"/>
            </a:avLst>
          </a:prstGeom>
          <a:solidFill>
            <a:srgbClr val="D982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3615415" y="3419856"/>
            <a:ext cx="3931920" cy="201168"/>
          </a:xfrm>
          <a:prstGeom prst="rect">
            <a:avLst/>
          </a:prstGeom>
          <a:solidFill>
            <a:srgbClr val="D982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80007" y="3236976"/>
            <a:ext cx="365760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Montserrat"/>
              </a:rPr>
              <a:t>L5 · Graph / relational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80007" y="3730752"/>
            <a:ext cx="3621024" cy="21031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02000"/>
              </a:lnSpc>
              <a:spcBef>
                <a:spcPts val="500"/>
              </a:spcBef>
            </a:pPr>
            <a:r>
              <a:rPr sz="1250" b="0" i="0">
                <a:solidFill>
                  <a:srgbClr val="14181F"/>
                </a:solidFill>
                <a:latin typeface="Calibri"/>
              </a:rPr>
              <a:t>•  GNN / GraphSAGE over the actor network</a:t>
            </a:r>
          </a:p>
          <a:p>
            <a:pPr algn="l">
              <a:lnSpc>
                <a:spcPct val="102000"/>
              </a:lnSpc>
              <a:spcBef>
                <a:spcPts val="500"/>
              </a:spcBef>
            </a:pPr>
            <a:r>
              <a:rPr sz="1250" b="0" i="0">
                <a:solidFill>
                  <a:srgbClr val="14181F"/>
                </a:solidFill>
                <a:latin typeface="Calibri"/>
              </a:rPr>
              <a:t>•  Collusion rings, shell vendors, maker-</a:t>
            </a:r>
          </a:p>
          <a:p>
            <a:pPr algn="l">
              <a:lnSpc>
                <a:spcPct val="102000"/>
              </a:lnSpc>
              <a:spcBef>
                <a:spcPts val="500"/>
              </a:spcBef>
            </a:pPr>
            <a:r>
              <a:rPr sz="1250" b="0" i="0">
                <a:solidFill>
                  <a:srgbClr val="14181F"/>
                </a:solidFill>
                <a:latin typeface="Calibri"/>
              </a:rPr>
              <a:t>•  checker subgraphs invisible to tabular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6217920"/>
            <a:ext cx="17007840" cy="1417320"/>
          </a:xfrm>
          <a:prstGeom prst="roundRect">
            <a:avLst>
              <a:gd name="adj" fmla="val 6000"/>
            </a:avLst>
          </a:prstGeom>
          <a:solidFill>
            <a:srgbClr val="FBECEC"/>
          </a:solidFill>
          <a:ln w="15240">
            <a:solidFill>
              <a:srgbClr val="E92A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6327648"/>
            <a:ext cx="16550640" cy="12344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00" b="1" i="0">
                <a:solidFill>
                  <a:srgbClr val="E92A2D"/>
                </a:solidFill>
                <a:latin typeface="TT Interphases Mono"/>
              </a:rPr>
              <a:t>L6 · CALIBRATED RISK FUSION</a:t>
            </a:r>
          </a:p>
          <a:p>
            <a:pPr algn="l">
              <a:lnSpc>
                <a:spcPct val="102000"/>
              </a:lnSpc>
              <a:spcBef>
                <a:spcPts val="500"/>
              </a:spcBef>
            </a:pPr>
            <a:r>
              <a:rPr sz="1350" b="0" i="0">
                <a:solidFill>
                  <a:srgbClr val="14181F"/>
                </a:solidFill>
                <a:latin typeface="Calibri"/>
              </a:rPr>
              <a:t>All layers + rules fuse into ONE calibrated 0–100 score with severity × confidence and a single set of reason codes — so investigators get one alert per entity, not ten. A "70/100" really means ~70% likely (calibration).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7818120"/>
            <a:ext cx="1700784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40080" y="7818120"/>
            <a:ext cx="17007840" cy="420624"/>
          </a:xfrm>
          <a:prstGeom prst="roundRect">
            <a:avLst>
              <a:gd name="adj" fmla="val 6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" y="8037576"/>
            <a:ext cx="17007840" cy="20116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1" y="7854696"/>
            <a:ext cx="1673352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ontserrat"/>
              </a:rPr>
              <a:t>MODEL JUSTIFICATION &amp; HONEST EVALUATION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1" y="8348472"/>
            <a:ext cx="16696944" cy="9601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00" b="0" i="0">
                <a:solidFill>
                  <a:srgbClr val="14181F"/>
                </a:solidFill>
                <a:latin typeface="Calibri"/>
              </a:rPr>
              <a:t>▸  Metrics that don't lie on imbalanced data: PR-AUC / average precision, precision@k, alert-to-true-fraud ratio — not ROC-AUC alone.  Strict temporal train/test split (past→future) to avoid data &amp; temporal leakage.  Synthetic is for training/augmentation; detection quality must be validated on real labelled outcomes.  Feedback loop retrains as investigators confirm cases.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9857232"/>
            <a:ext cx="11887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8A929E"/>
                </a:solidFill>
                <a:latin typeface="TT Interphases Mono"/>
              </a:rPr>
              <a:t>HAWK-EYE  ·  Team NINEAGENTS  ·  iDEA 2.0 · PSBs Hackathon Series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002000" y="9857232"/>
            <a:ext cx="16459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29E"/>
                </a:solidFill>
                <a:latin typeface="TT Interphases Mono"/>
              </a:rPr>
              <a:t>7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/>
          <p:cNvGrpSpPr/>
          <p:nvPr/>
        </p:nvGrpSpPr>
        <p:grpSpPr>
          <a:xfrm>
            <a:off x="0" y="0"/>
            <a:ext cx="18288000" cy="1697181"/>
            <a:chOff x="0" y="0"/>
            <a:chExt cx="4816593" cy="4469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46994"/>
            </a:xfrm>
            <a:custGeom>
              <a:avLst/>
              <a:gdLst/>
              <a:ahLst/>
              <a:cxnLst/>
              <a:rect l="l" t="t" r="r" b="b"/>
              <a:pathLst>
                <a:path w="4816592" h="446994">
                  <a:moveTo>
                    <a:pt x="0" y="0"/>
                  </a:moveTo>
                  <a:lnTo>
                    <a:pt x="4816592" y="0"/>
                  </a:lnTo>
                  <a:lnTo>
                    <a:pt x="4816592" y="446994"/>
                  </a:lnTo>
                  <a:lnTo>
                    <a:pt x="0" y="44699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85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662574" y="122606"/>
            <a:ext cx="3497653" cy="1540119"/>
          </a:xfrm>
          <a:custGeom>
            <a:avLst/>
            <a:gdLst/>
            <a:ahLst/>
            <a:cxnLst/>
            <a:rect l="l" t="t" r="r" b="b"/>
            <a:pathLst>
              <a:path w="3497653" h="1540119">
                <a:moveTo>
                  <a:pt x="0" y="0"/>
                </a:moveTo>
                <a:lnTo>
                  <a:pt x="3497653" y="0"/>
                </a:lnTo>
                <a:lnTo>
                  <a:pt x="3497653" y="1540119"/>
                </a:lnTo>
                <a:lnTo>
                  <a:pt x="0" y="15401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6230" t="-89762" r="-26367" b="-156792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0969852" y="588904"/>
            <a:ext cx="5022437" cy="749179"/>
            <a:chOff x="0" y="0"/>
            <a:chExt cx="6696583" cy="998906"/>
          </a:xfrm>
        </p:grpSpPr>
        <p:sp>
          <p:nvSpPr>
            <p:cNvPr id="7" name="Freeform 7" descr="A red blue and white logo  Description automatically generated"/>
            <p:cNvSpPr/>
            <p:nvPr/>
          </p:nvSpPr>
          <p:spPr>
            <a:xfrm>
              <a:off x="0" y="0"/>
              <a:ext cx="6696583" cy="998855"/>
            </a:xfrm>
            <a:custGeom>
              <a:avLst/>
              <a:gdLst/>
              <a:ahLst/>
              <a:cxnLst/>
              <a:rect l="l" t="t" r="r" b="b"/>
              <a:pathLst>
                <a:path w="6696583" h="998855">
                  <a:moveTo>
                    <a:pt x="0" y="0"/>
                  </a:moveTo>
                  <a:lnTo>
                    <a:pt x="6696583" y="0"/>
                  </a:lnTo>
                  <a:lnTo>
                    <a:pt x="6696583" y="998855"/>
                  </a:lnTo>
                  <a:lnTo>
                    <a:pt x="0" y="998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5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3163313" y="523697"/>
            <a:ext cx="2690517" cy="879592"/>
          </a:xfrm>
          <a:custGeom>
            <a:avLst/>
            <a:gdLst/>
            <a:ahLst/>
            <a:cxnLst/>
            <a:rect l="l" t="t" r="r" b="b"/>
            <a:pathLst>
              <a:path w="2690517" h="879592">
                <a:moveTo>
                  <a:pt x="0" y="0"/>
                </a:moveTo>
                <a:lnTo>
                  <a:pt x="2690518" y="0"/>
                </a:lnTo>
                <a:lnTo>
                  <a:pt x="2690518" y="879593"/>
                </a:lnTo>
                <a:lnTo>
                  <a:pt x="0" y="8795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01479" y="281194"/>
            <a:ext cx="2445886" cy="1222943"/>
          </a:xfrm>
          <a:custGeom>
            <a:avLst/>
            <a:gdLst/>
            <a:ahLst/>
            <a:cxnLst/>
            <a:rect l="l" t="t" r="r" b="b"/>
            <a:pathLst>
              <a:path w="2445886" h="1222943">
                <a:moveTo>
                  <a:pt x="0" y="0"/>
                </a:moveTo>
                <a:lnTo>
                  <a:pt x="2445886" y="0"/>
                </a:lnTo>
                <a:lnTo>
                  <a:pt x="2445886" y="1222943"/>
                </a:lnTo>
                <a:lnTo>
                  <a:pt x="0" y="12229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739206" y="471221"/>
            <a:ext cx="1040189" cy="1032916"/>
          </a:xfrm>
          <a:custGeom>
            <a:avLst/>
            <a:gdLst/>
            <a:ahLst/>
            <a:cxnLst/>
            <a:rect l="l" t="t" r="r" b="b"/>
            <a:pathLst>
              <a:path w="1040189" h="1032916">
                <a:moveTo>
                  <a:pt x="0" y="0"/>
                </a:moveTo>
                <a:lnTo>
                  <a:pt x="1040188" y="0"/>
                </a:lnTo>
                <a:lnTo>
                  <a:pt x="1040188" y="1032916"/>
                </a:lnTo>
                <a:lnTo>
                  <a:pt x="0" y="10329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633" t="-14434" r="-13983" b="-14081"/>
            </a:stretch>
          </a:blipFill>
        </p:spPr>
      </p:sp>
      <p:sp>
        <p:nvSpPr>
          <p:cNvPr id="13" name="TextBox 12"/>
          <p:cNvSpPr txBox="1"/>
          <p:nvPr/>
        </p:nvSpPr>
        <p:spPr>
          <a:xfrm>
            <a:off x="640080" y="1847088"/>
            <a:ext cx="1700784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92A2D"/>
                </a:solidFill>
                <a:latin typeface="TT Interphases Mono"/>
              </a:rPr>
              <a:t>TECHNOLOGY &amp; ENGINEERING (40%) · WORKING PRODUCT &amp; COMPLETENESS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139696"/>
            <a:ext cx="170078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4181F"/>
                </a:solidFill>
                <a:latin typeface="Montserrat"/>
              </a:rPr>
              <a:t>A working system, proven end-to-end — not slideware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779776"/>
            <a:ext cx="822960" cy="45720"/>
          </a:xfrm>
          <a:prstGeom prst="rect">
            <a:avLst/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3200400"/>
            <a:ext cx="8183879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3200400"/>
            <a:ext cx="8183879" cy="420624"/>
          </a:xfrm>
          <a:prstGeom prst="roundRect">
            <a:avLst>
              <a:gd name="adj" fmla="val 6000"/>
            </a:avLst>
          </a:prstGeom>
          <a:solidFill>
            <a:srgbClr val="1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419856"/>
            <a:ext cx="8183879" cy="201168"/>
          </a:xfrm>
          <a:prstGeom prst="rect">
            <a:avLst/>
          </a:prstGeom>
          <a:solidFill>
            <a:srgbClr val="1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" y="3236976"/>
            <a:ext cx="7909559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ontserrat"/>
              </a:rPr>
              <a:t>END-TO-END, IN ONE COMMAND  ( python -m ml.demo 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3730752"/>
            <a:ext cx="7872983" cy="2468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50" b="0" i="0">
                <a:solidFill>
                  <a:srgbClr val="14181F"/>
                </a:solidFill>
                <a:latin typeface="Calibri"/>
              </a:rPr>
              <a:t>▸  A synthetic fraud burst flows L0 → L2 → L3 → L5 → L6 …</a:t>
            </a:r>
          </a:p>
          <a:p>
            <a:pPr algn="l">
              <a:lnSpc>
                <a:spcPct val="102000"/>
              </a:lnSpc>
              <a:spcBef>
                <a:spcPts val="500"/>
              </a:spcBef>
            </a:pPr>
            <a:r>
              <a:rPr sz="1350" b="1" i="0">
                <a:solidFill>
                  <a:srgbClr val="14181F"/>
                </a:solidFill>
                <a:latin typeface="Calibri"/>
              </a:rPr>
              <a:t>▸  … and ends in a RISK 100/100 critical alert on a genuinely fraudulent employee,</a:t>
            </a:r>
          </a:p>
          <a:p>
            <a:pPr algn="l">
              <a:lnSpc>
                <a:spcPct val="102000"/>
              </a:lnSpc>
              <a:spcBef>
                <a:spcPts val="500"/>
              </a:spcBef>
            </a:pPr>
            <a:r>
              <a:rPr sz="1350" b="0" i="0">
                <a:solidFill>
                  <a:srgbClr val="14181F"/>
                </a:solidFill>
                <a:latin typeface="Calibri"/>
              </a:rPr>
              <a:t>▸  prints the reason codes + a plain-English narrative, and confirms the alert is CONTESTABLE (has reasons) and REPRODUCIBLE.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250" b="0" i="1">
                <a:solidFill>
                  <a:srgbClr val="1E9E5A"/>
                </a:solidFill>
                <a:latin typeface="Calibri"/>
              </a:rPr>
              <a:t>The whole detection idea, verifiable in miniature.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3200400"/>
            <a:ext cx="786384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0" y="3200400"/>
            <a:ext cx="7863840" cy="420624"/>
          </a:xfrm>
          <a:prstGeom prst="roundRect">
            <a:avLst>
              <a:gd name="adj" fmla="val 6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3419856"/>
            <a:ext cx="7863840" cy="20116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08592" y="3236976"/>
            <a:ext cx="7589519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ontserrat"/>
              </a:rPr>
              <a:t>TEST SUITES — ALL GREEN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8592" y="3730752"/>
            <a:ext cx="7552944" cy="2468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50" b="1" i="0">
                <a:solidFill>
                  <a:srgbClr val="1E9E5A"/>
                </a:solidFill>
                <a:latin typeface="TT Interphases Mono"/>
              </a:rPr>
              <a:t>✓  ML 250   ·   BACKEND 109   ·   DATA 100</a:t>
            </a:r>
          </a:p>
          <a:p>
            <a:pPr algn="l">
              <a:lnSpc>
                <a:spcPct val="102000"/>
              </a:lnSpc>
              <a:spcBef>
                <a:spcPts val="500"/>
              </a:spcBef>
            </a:pPr>
            <a:r>
              <a:rPr sz="1350" b="1" i="0">
                <a:solidFill>
                  <a:srgbClr val="1E9E5A"/>
                </a:solidFill>
                <a:latin typeface="TT Interphases Mono"/>
              </a:rPr>
              <a:t>✓  FRONTEND 112 (+3 e2e)   ·   PLATFORM 73 (+4 contract)</a:t>
            </a:r>
          </a:p>
          <a:p>
            <a:pPr algn="l">
              <a:lnSpc>
                <a:spcPct val="102000"/>
              </a:lnSpc>
              <a:spcBef>
                <a:spcPts val="500"/>
              </a:spcBef>
            </a:pPr>
            <a:r>
              <a:rPr sz="1350" b="1" i="0">
                <a:solidFill>
                  <a:srgbClr val="1E9E5A"/>
                </a:solidFill>
                <a:latin typeface="TT Interphases Mono"/>
              </a:rPr>
              <a:t>✓  DATABASE 60 (+10 integration)</a:t>
            </a:r>
          </a:p>
          <a:p>
            <a:pPr algn="l">
              <a:lnSpc>
                <a:spcPct val="102000"/>
              </a:lnSpc>
              <a:spcBef>
                <a:spcPts val="700"/>
              </a:spcBef>
            </a:pPr>
            <a:r>
              <a:rPr sz="1300" b="0" i="0">
                <a:solidFill>
                  <a:srgbClr val="14181F"/>
                </a:solidFill>
                <a:latin typeface="Calibri"/>
              </a:rPr>
              <a:t>Adversarial RED-TEAM suite found + fixed 3 real safety bugs.</a:t>
            </a:r>
          </a:p>
          <a:p>
            <a:pPr algn="l">
              <a:lnSpc>
                <a:spcPct val="102000"/>
              </a:lnSpc>
              <a:spcBef>
                <a:spcPts val="700"/>
              </a:spcBef>
            </a:pPr>
            <a:r>
              <a:rPr sz="1300" b="1" i="0">
                <a:solidFill>
                  <a:srgbClr val="E92A2D"/>
                </a:solidFill>
                <a:latin typeface="Calibri"/>
              </a:rPr>
              <a:t>Honest ledger: 112 REAL · 20 SCAFFOLD · 17 MOCK across 149 build tasks — every capability labelled, nothing oversold.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6492240"/>
            <a:ext cx="1700784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" y="6492240"/>
            <a:ext cx="17007840" cy="420624"/>
          </a:xfrm>
          <a:prstGeom prst="roundRect">
            <a:avLst>
              <a:gd name="adj" fmla="val 6000"/>
            </a:avLst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6711696"/>
            <a:ext cx="17007840" cy="201168"/>
          </a:xfrm>
          <a:prstGeom prst="rect">
            <a:avLst/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1" y="6528816"/>
            <a:ext cx="1673352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ontserrat"/>
              </a:rPr>
              <a:t>THE FULL PLATFORM — ~26 CONNECTED SERVICES ( make up 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7040880"/>
            <a:ext cx="16550640" cy="2286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50" b="0" i="0">
                <a:solidFill>
                  <a:srgbClr val="14181F"/>
                </a:solidFill>
                <a:latin typeface="Calibri"/>
              </a:rPr>
              <a:t>▸  Kafka · ClickHouse · Redis · Postgres · MinIO · the FastAPI control room · model serving · the React investigator dashboard · Prometheus/Grafana monitoring — up together with one command.</a:t>
            </a:r>
          </a:p>
          <a:p>
            <a:pPr algn="l">
              <a:lnSpc>
                <a:spcPct val="102000"/>
              </a:lnSpc>
              <a:spcBef>
                <a:spcPts val="700"/>
              </a:spcBef>
            </a:pPr>
            <a:r>
              <a:rPr sz="1350" b="0" i="0">
                <a:solidFill>
                  <a:srgbClr val="14181F"/>
                </a:solidFill>
                <a:latin typeface="Calibri"/>
              </a:rPr>
              <a:t>▸  Runs on a deterministic synthetic dataset — 118,518 events, all 12 insider-fraud typologies, 14 fraud actors (seed 1405) — fully reproducible on any laptop.</a:t>
            </a:r>
          </a:p>
          <a:p>
            <a:pPr algn="l">
              <a:lnSpc>
                <a:spcPct val="102000"/>
              </a:lnSpc>
              <a:spcBef>
                <a:spcPts val="700"/>
              </a:spcBef>
            </a:pPr>
            <a:r>
              <a:rPr sz="1350" b="0" i="0">
                <a:solidFill>
                  <a:srgbClr val="14181F"/>
                </a:solidFill>
                <a:latin typeface="Calibri"/>
              </a:rPr>
              <a:t>▸  Built as 6 disjoint workstreams (DATA · ML · BACKEND · FRONTEND · DATABASE · PLATFORM) across 149 tasks, each validated against a 34-part implementation blueprint.</a:t>
            </a:r>
          </a:p>
          <a:p>
            <a:pPr algn="l">
              <a:lnSpc>
                <a:spcPct val="102000"/>
              </a:lnSpc>
              <a:spcBef>
                <a:spcPts val="700"/>
              </a:spcBef>
            </a:pPr>
            <a:r>
              <a:rPr sz="1350" b="0" i="0">
                <a:solidFill>
                  <a:srgbClr val="14181F"/>
                </a:solidFill>
                <a:latin typeface="Calibri"/>
              </a:rPr>
              <a:t>▸  FastAPI with interactive docs at /api/v1/docs; synthetic role users; ranked alert queue, alert detail + reasons, EDD disposition, audited PII unmask, regulator reports.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9857232"/>
            <a:ext cx="11887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8A929E"/>
                </a:solidFill>
                <a:latin typeface="TT Interphases Mono"/>
              </a:rPr>
              <a:t>HAWK-EYE  ·  Team NINEAGENTS  ·  iDEA 2.0 · PSBs Hackathon Series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0" y="9857232"/>
            <a:ext cx="16459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29E"/>
                </a:solidFill>
                <a:latin typeface="TT Interphases Mono"/>
              </a:rPr>
              <a:t>8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/>
          <p:cNvGrpSpPr/>
          <p:nvPr/>
        </p:nvGrpSpPr>
        <p:grpSpPr>
          <a:xfrm>
            <a:off x="0" y="0"/>
            <a:ext cx="18288000" cy="1697181"/>
            <a:chOff x="0" y="0"/>
            <a:chExt cx="4816593" cy="4469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46994"/>
            </a:xfrm>
            <a:custGeom>
              <a:avLst/>
              <a:gdLst/>
              <a:ahLst/>
              <a:cxnLst/>
              <a:rect l="l" t="t" r="r" b="b"/>
              <a:pathLst>
                <a:path w="4816592" h="446994">
                  <a:moveTo>
                    <a:pt x="0" y="0"/>
                  </a:moveTo>
                  <a:lnTo>
                    <a:pt x="4816592" y="0"/>
                  </a:lnTo>
                  <a:lnTo>
                    <a:pt x="4816592" y="446994"/>
                  </a:lnTo>
                  <a:lnTo>
                    <a:pt x="0" y="44699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85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662574" y="122606"/>
            <a:ext cx="3497653" cy="1540119"/>
          </a:xfrm>
          <a:custGeom>
            <a:avLst/>
            <a:gdLst/>
            <a:ahLst/>
            <a:cxnLst/>
            <a:rect l="l" t="t" r="r" b="b"/>
            <a:pathLst>
              <a:path w="3497653" h="1540119">
                <a:moveTo>
                  <a:pt x="0" y="0"/>
                </a:moveTo>
                <a:lnTo>
                  <a:pt x="3497653" y="0"/>
                </a:lnTo>
                <a:lnTo>
                  <a:pt x="3497653" y="1540119"/>
                </a:lnTo>
                <a:lnTo>
                  <a:pt x="0" y="15401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6230" t="-89762" r="-26367" b="-156792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0969852" y="588904"/>
            <a:ext cx="5022437" cy="749179"/>
            <a:chOff x="0" y="0"/>
            <a:chExt cx="6696583" cy="998906"/>
          </a:xfrm>
        </p:grpSpPr>
        <p:sp>
          <p:nvSpPr>
            <p:cNvPr id="7" name="Freeform 7" descr="A red blue and white logo  Description automatically generated"/>
            <p:cNvSpPr/>
            <p:nvPr/>
          </p:nvSpPr>
          <p:spPr>
            <a:xfrm>
              <a:off x="0" y="0"/>
              <a:ext cx="6696583" cy="998855"/>
            </a:xfrm>
            <a:custGeom>
              <a:avLst/>
              <a:gdLst/>
              <a:ahLst/>
              <a:cxnLst/>
              <a:rect l="l" t="t" r="r" b="b"/>
              <a:pathLst>
                <a:path w="6696583" h="998855">
                  <a:moveTo>
                    <a:pt x="0" y="0"/>
                  </a:moveTo>
                  <a:lnTo>
                    <a:pt x="6696583" y="0"/>
                  </a:lnTo>
                  <a:lnTo>
                    <a:pt x="6696583" y="998855"/>
                  </a:lnTo>
                  <a:lnTo>
                    <a:pt x="0" y="998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5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3163313" y="523697"/>
            <a:ext cx="2690517" cy="879592"/>
          </a:xfrm>
          <a:custGeom>
            <a:avLst/>
            <a:gdLst/>
            <a:ahLst/>
            <a:cxnLst/>
            <a:rect l="l" t="t" r="r" b="b"/>
            <a:pathLst>
              <a:path w="2690517" h="879592">
                <a:moveTo>
                  <a:pt x="0" y="0"/>
                </a:moveTo>
                <a:lnTo>
                  <a:pt x="2690518" y="0"/>
                </a:lnTo>
                <a:lnTo>
                  <a:pt x="2690518" y="879593"/>
                </a:lnTo>
                <a:lnTo>
                  <a:pt x="0" y="8795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01479" y="281194"/>
            <a:ext cx="2445886" cy="1222943"/>
          </a:xfrm>
          <a:custGeom>
            <a:avLst/>
            <a:gdLst/>
            <a:ahLst/>
            <a:cxnLst/>
            <a:rect l="l" t="t" r="r" b="b"/>
            <a:pathLst>
              <a:path w="2445886" h="1222943">
                <a:moveTo>
                  <a:pt x="0" y="0"/>
                </a:moveTo>
                <a:lnTo>
                  <a:pt x="2445886" y="0"/>
                </a:lnTo>
                <a:lnTo>
                  <a:pt x="2445886" y="1222943"/>
                </a:lnTo>
                <a:lnTo>
                  <a:pt x="0" y="12229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739206" y="471221"/>
            <a:ext cx="1040189" cy="1032916"/>
          </a:xfrm>
          <a:custGeom>
            <a:avLst/>
            <a:gdLst/>
            <a:ahLst/>
            <a:cxnLst/>
            <a:rect l="l" t="t" r="r" b="b"/>
            <a:pathLst>
              <a:path w="1040189" h="1032916">
                <a:moveTo>
                  <a:pt x="0" y="0"/>
                </a:moveTo>
                <a:lnTo>
                  <a:pt x="1040188" y="0"/>
                </a:lnTo>
                <a:lnTo>
                  <a:pt x="1040188" y="1032916"/>
                </a:lnTo>
                <a:lnTo>
                  <a:pt x="0" y="10329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633" t="-14434" r="-13983" b="-14081"/>
            </a:stretch>
          </a:blipFill>
        </p:spPr>
      </p:sp>
      <p:sp>
        <p:nvSpPr>
          <p:cNvPr id="13" name="TextBox 12"/>
          <p:cNvSpPr txBox="1"/>
          <p:nvPr/>
        </p:nvSpPr>
        <p:spPr>
          <a:xfrm>
            <a:off x="640080" y="1847088"/>
            <a:ext cx="1700784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92A2D"/>
                </a:solidFill>
                <a:latin typeface="TT Interphases Mono"/>
              </a:rPr>
              <a:t>TECHNOLOGY &amp; ENGINEERING (40%) · ENGINEERING DECISIONS &amp; DEPTH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139696"/>
            <a:ext cx="170078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4181F"/>
                </a:solidFill>
                <a:latin typeface="Montserrat"/>
              </a:rPr>
              <a:t>Rigor baked in — safety, contracts and adversarial tests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779776"/>
            <a:ext cx="822960" cy="45720"/>
          </a:xfrm>
          <a:prstGeom prst="rect">
            <a:avLst/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3200400"/>
            <a:ext cx="8183879" cy="6217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3200400"/>
            <a:ext cx="8183879" cy="420624"/>
          </a:xfrm>
          <a:prstGeom prst="roundRect">
            <a:avLst>
              <a:gd name="adj" fmla="val 6000"/>
            </a:avLst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419856"/>
            <a:ext cx="8183879" cy="201168"/>
          </a:xfrm>
          <a:prstGeom prst="rect">
            <a:avLst/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" y="3236976"/>
            <a:ext cx="7909559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ontserrat"/>
              </a:rPr>
              <a:t>SAFETY &amp; CORRECTNESS, ENFORCED IN 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3730752"/>
            <a:ext cx="7872983" cy="5577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50" b="0" i="0">
                <a:solidFill>
                  <a:srgbClr val="14181F"/>
                </a:solidFill>
                <a:latin typeface="Calibri"/>
              </a:rPr>
              <a:t>▸  Alert-only enforced in code (ml/design/alert_only_contract.py) — the API only exposes a human-raised block-REQUEST; nothing is ever auto-blocked or auto-classified.</a:t>
            </a:r>
          </a:p>
          <a:p>
            <a:pPr algn="l">
              <a:lnSpc>
                <a:spcPct val="102000"/>
              </a:lnSpc>
              <a:spcBef>
                <a:spcPts val="700"/>
              </a:spcBef>
            </a:pPr>
            <a:r>
              <a:rPr sz="1350" b="0" i="0">
                <a:solidFill>
                  <a:srgbClr val="14181F"/>
                </a:solidFill>
                <a:latin typeface="Calibri"/>
              </a:rPr>
              <a:t>▸  Every alert is contestable — reason codes + narrative; an alert with NO reasons is rejected (natural justice, per SBI v. Rajesh Agarwal).</a:t>
            </a:r>
          </a:p>
          <a:p>
            <a:pPr algn="l">
              <a:lnSpc>
                <a:spcPct val="102000"/>
              </a:lnSpc>
              <a:spcBef>
                <a:spcPts val="700"/>
              </a:spcBef>
            </a:pPr>
            <a:r>
              <a:rPr sz="1350" b="0" i="0">
                <a:solidFill>
                  <a:srgbClr val="14181F"/>
                </a:solidFill>
                <a:latin typeface="Calibri"/>
              </a:rPr>
              <a:t>▸  "Watch the watchers" — every sensitive action (who viewed whom, every unmask) is written to a tamper-evident, hash-chained WORM audit log.</a:t>
            </a:r>
          </a:p>
          <a:p>
            <a:pPr algn="l">
              <a:lnSpc>
                <a:spcPct val="102000"/>
              </a:lnSpc>
              <a:spcBef>
                <a:spcPts val="700"/>
              </a:spcBef>
            </a:pPr>
            <a:r>
              <a:rPr sz="1350" b="0" i="0">
                <a:solidFill>
                  <a:srgbClr val="14181F"/>
                </a:solidFill>
                <a:latin typeface="Calibri"/>
              </a:rPr>
              <a:t>▸  Fair by construction — peer-relative scoring; protected attributes are never used; the build FAILS if a fairness check trips.</a:t>
            </a:r>
          </a:p>
          <a:p>
            <a:pPr algn="l">
              <a:lnSpc>
                <a:spcPct val="102000"/>
              </a:lnSpc>
              <a:spcBef>
                <a:spcPts val="700"/>
              </a:spcBef>
            </a:pPr>
            <a:r>
              <a:rPr sz="1350" b="0" i="0">
                <a:solidFill>
                  <a:srgbClr val="E92A2D"/>
                </a:solidFill>
                <a:latin typeface="Calibri"/>
              </a:rPr>
              <a:t>▸  Red-team suite actively tries to break alert-only, leak secrets, or bypass RBAC/SoD — and gates the build.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3200400"/>
            <a:ext cx="7863840" cy="6217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0" y="3200400"/>
            <a:ext cx="7863840" cy="420624"/>
          </a:xfrm>
          <a:prstGeom prst="roundRect">
            <a:avLst>
              <a:gd name="adj" fmla="val 6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3419856"/>
            <a:ext cx="7863840" cy="20116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08592" y="3236976"/>
            <a:ext cx="7589519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ontserrat"/>
              </a:rPr>
              <a:t>DEPTH &amp; DELIVERY DISCIPLINE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8592" y="3730752"/>
            <a:ext cx="7552944" cy="5577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50" b="0" i="0">
                <a:solidFill>
                  <a:srgbClr val="14181F"/>
                </a:solidFill>
                <a:latin typeface="Calibri"/>
              </a:rPr>
              <a:t>•  Layered defence — a 6-layer detection cascade (L0–L7) + 12 named L1 rules (5 hard-hit) + 7 SoD conflict pairs; no single evasion defeats the system.</a:t>
            </a:r>
          </a:p>
          <a:p>
            <a:pPr algn="l">
              <a:lnSpc>
                <a:spcPct val="102000"/>
              </a:lnSpc>
              <a:spcBef>
                <a:spcPts val="700"/>
              </a:spcBef>
            </a:pPr>
            <a:r>
              <a:rPr sz="1350" b="0" i="0">
                <a:solidFill>
                  <a:srgbClr val="14181F"/>
                </a:solidFill>
                <a:latin typeface="Calibri"/>
              </a:rPr>
              <a:t>•  Calibrated fusion + severity × confidence → one ranked alert per entity (designed against alert fatigue from day one).</a:t>
            </a:r>
          </a:p>
          <a:p>
            <a:pPr algn="l">
              <a:lnSpc>
                <a:spcPct val="102000"/>
              </a:lnSpc>
              <a:spcBef>
                <a:spcPts val="700"/>
              </a:spcBef>
            </a:pPr>
            <a:r>
              <a:rPr sz="1350" b="0" i="0">
                <a:solidFill>
                  <a:srgbClr val="14181F"/>
                </a:solidFill>
                <a:latin typeface="Calibri"/>
              </a:rPr>
              <a:t>•  Feedback loop — every investigator verdict becomes a label; models retrain and improve the longer it runs.</a:t>
            </a:r>
          </a:p>
          <a:p>
            <a:pPr algn="l">
              <a:lnSpc>
                <a:spcPct val="102000"/>
              </a:lnSpc>
              <a:spcBef>
                <a:spcPts val="700"/>
              </a:spcBef>
            </a:pPr>
            <a:r>
              <a:rPr sz="1350" b="0" i="0">
                <a:solidFill>
                  <a:srgbClr val="14181F"/>
                </a:solidFill>
                <a:latin typeface="Calibri"/>
              </a:rPr>
              <a:t>•  Contract-tested seams between workstreams; ONNX serving; simple-model-first policy (deep learning only when it beats the baseline).</a:t>
            </a:r>
          </a:p>
          <a:p>
            <a:pPr algn="l">
              <a:lnSpc>
                <a:spcPct val="102000"/>
              </a:lnSpc>
              <a:spcBef>
                <a:spcPts val="700"/>
              </a:spcBef>
            </a:pPr>
            <a:r>
              <a:rPr sz="1350" b="0" i="0">
                <a:solidFill>
                  <a:srgbClr val="1E9E5A"/>
                </a:solidFill>
                <a:latin typeface="Calibri"/>
              </a:rPr>
              <a:t>•  REAL / SCAFFOLD / MOCK status labels on every capability — the team never oversells what is wired vs. what needs a real key or hardware.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9857232"/>
            <a:ext cx="11887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8A929E"/>
                </a:solidFill>
                <a:latin typeface="TT Interphases Mono"/>
              </a:rPr>
              <a:t>HAWK-EYE  ·  Team NINEAGENTS  ·  iDEA 2.0 · PSBs Hackathon Series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0" y="9857232"/>
            <a:ext cx="16459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29E"/>
                </a:solidFill>
                <a:latin typeface="TT Interphases Mono"/>
              </a:rPr>
              <a:t>9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/>
          <p:cNvGrpSpPr/>
          <p:nvPr/>
        </p:nvGrpSpPr>
        <p:grpSpPr>
          <a:xfrm>
            <a:off x="0" y="0"/>
            <a:ext cx="18288000" cy="1697181"/>
            <a:chOff x="0" y="0"/>
            <a:chExt cx="4816593" cy="4469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46994"/>
            </a:xfrm>
            <a:custGeom>
              <a:avLst/>
              <a:gdLst/>
              <a:ahLst/>
              <a:cxnLst/>
              <a:rect l="l" t="t" r="r" b="b"/>
              <a:pathLst>
                <a:path w="4816592" h="446994">
                  <a:moveTo>
                    <a:pt x="0" y="0"/>
                  </a:moveTo>
                  <a:lnTo>
                    <a:pt x="4816592" y="0"/>
                  </a:lnTo>
                  <a:lnTo>
                    <a:pt x="4816592" y="446994"/>
                  </a:lnTo>
                  <a:lnTo>
                    <a:pt x="0" y="44699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85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662574" y="122606"/>
            <a:ext cx="3497653" cy="1540119"/>
          </a:xfrm>
          <a:custGeom>
            <a:avLst/>
            <a:gdLst/>
            <a:ahLst/>
            <a:cxnLst/>
            <a:rect l="l" t="t" r="r" b="b"/>
            <a:pathLst>
              <a:path w="3497653" h="1540119">
                <a:moveTo>
                  <a:pt x="0" y="0"/>
                </a:moveTo>
                <a:lnTo>
                  <a:pt x="3497653" y="0"/>
                </a:lnTo>
                <a:lnTo>
                  <a:pt x="3497653" y="1540119"/>
                </a:lnTo>
                <a:lnTo>
                  <a:pt x="0" y="15401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6230" t="-89762" r="-26367" b="-156792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0969852" y="588904"/>
            <a:ext cx="5022437" cy="749179"/>
            <a:chOff x="0" y="0"/>
            <a:chExt cx="6696583" cy="998906"/>
          </a:xfrm>
        </p:grpSpPr>
        <p:sp>
          <p:nvSpPr>
            <p:cNvPr id="7" name="Freeform 7" descr="A red blue and white logo  Description automatically generated"/>
            <p:cNvSpPr/>
            <p:nvPr/>
          </p:nvSpPr>
          <p:spPr>
            <a:xfrm>
              <a:off x="0" y="0"/>
              <a:ext cx="6696583" cy="998855"/>
            </a:xfrm>
            <a:custGeom>
              <a:avLst/>
              <a:gdLst/>
              <a:ahLst/>
              <a:cxnLst/>
              <a:rect l="l" t="t" r="r" b="b"/>
              <a:pathLst>
                <a:path w="6696583" h="998855">
                  <a:moveTo>
                    <a:pt x="0" y="0"/>
                  </a:moveTo>
                  <a:lnTo>
                    <a:pt x="6696583" y="0"/>
                  </a:lnTo>
                  <a:lnTo>
                    <a:pt x="6696583" y="998855"/>
                  </a:lnTo>
                  <a:lnTo>
                    <a:pt x="0" y="998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5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3163313" y="523697"/>
            <a:ext cx="2690517" cy="879592"/>
          </a:xfrm>
          <a:custGeom>
            <a:avLst/>
            <a:gdLst/>
            <a:ahLst/>
            <a:cxnLst/>
            <a:rect l="l" t="t" r="r" b="b"/>
            <a:pathLst>
              <a:path w="2690517" h="879592">
                <a:moveTo>
                  <a:pt x="0" y="0"/>
                </a:moveTo>
                <a:lnTo>
                  <a:pt x="2690518" y="0"/>
                </a:lnTo>
                <a:lnTo>
                  <a:pt x="2690518" y="879593"/>
                </a:lnTo>
                <a:lnTo>
                  <a:pt x="0" y="8795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01479" y="281194"/>
            <a:ext cx="2445886" cy="1222943"/>
          </a:xfrm>
          <a:custGeom>
            <a:avLst/>
            <a:gdLst/>
            <a:ahLst/>
            <a:cxnLst/>
            <a:rect l="l" t="t" r="r" b="b"/>
            <a:pathLst>
              <a:path w="2445886" h="1222943">
                <a:moveTo>
                  <a:pt x="0" y="0"/>
                </a:moveTo>
                <a:lnTo>
                  <a:pt x="2445886" y="0"/>
                </a:lnTo>
                <a:lnTo>
                  <a:pt x="2445886" y="1222943"/>
                </a:lnTo>
                <a:lnTo>
                  <a:pt x="0" y="12229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739206" y="471221"/>
            <a:ext cx="1040189" cy="1032916"/>
          </a:xfrm>
          <a:custGeom>
            <a:avLst/>
            <a:gdLst/>
            <a:ahLst/>
            <a:cxnLst/>
            <a:rect l="l" t="t" r="r" b="b"/>
            <a:pathLst>
              <a:path w="1040189" h="1032916">
                <a:moveTo>
                  <a:pt x="0" y="0"/>
                </a:moveTo>
                <a:lnTo>
                  <a:pt x="1040188" y="0"/>
                </a:lnTo>
                <a:lnTo>
                  <a:pt x="1040188" y="1032916"/>
                </a:lnTo>
                <a:lnTo>
                  <a:pt x="0" y="10329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633" t="-14434" r="-13983" b="-14081"/>
            </a:stretch>
          </a:blipFill>
        </p:spPr>
      </p:sp>
      <p:sp>
        <p:nvSpPr>
          <p:cNvPr id="13" name="TextBox 12"/>
          <p:cNvSpPr txBox="1"/>
          <p:nvPr/>
        </p:nvSpPr>
        <p:spPr>
          <a:xfrm>
            <a:off x="640080" y="1847088"/>
            <a:ext cx="1700784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92A2D"/>
                </a:solidFill>
                <a:latin typeface="TT Interphases Mono"/>
              </a:rPr>
              <a:t>TECHNOLOGY &amp; ENGINEERING (40%) · DATA HANDLING &amp; PRIVACY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139696"/>
            <a:ext cx="170078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4181F"/>
                </a:solidFill>
                <a:latin typeface="Montserrat"/>
              </a:rPr>
              <a:t>Privacy and data governance by 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779776"/>
            <a:ext cx="822960" cy="45720"/>
          </a:xfrm>
          <a:prstGeom prst="rect">
            <a:avLst/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3200400"/>
            <a:ext cx="9875520" cy="141732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200400"/>
            <a:ext cx="109728" cy="1417320"/>
          </a:xfrm>
          <a:prstGeom prst="rect">
            <a:avLst/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319272"/>
            <a:ext cx="94183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4181F"/>
                </a:solidFill>
                <a:latin typeface="Montserrat"/>
              </a:rPr>
              <a:t>Canonical L0 event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49039"/>
            <a:ext cx="941832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6471"/>
                </a:solidFill>
                <a:latin typeface="Calibri"/>
              </a:rPr>
              <a:t>Every action from any source (CBS, SWIFT, PAM, IGA, HR) becomes ONE common JSON event — who / did-what / to-what / context / links. Source-agnostic; connectors slot in behind 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754880"/>
            <a:ext cx="9875520" cy="141732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754880"/>
            <a:ext cx="109728" cy="1417320"/>
          </a:xfrm>
          <a:prstGeom prst="rect">
            <a:avLst/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873752"/>
            <a:ext cx="94183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4181F"/>
                </a:solidFill>
                <a:latin typeface="Montserrat"/>
              </a:rPr>
              <a:t>Synthetic-only, on-prem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03520"/>
            <a:ext cx="941832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6471"/>
                </a:solidFill>
                <a:latin typeface="Calibri"/>
              </a:rPr>
              <a:t>The whole system runs locally on synthetic + public data — no real people, no real money, no cloud secrets. API keys are injected at runtime, never written in code.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6309360"/>
            <a:ext cx="9875520" cy="141732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6309360"/>
            <a:ext cx="109728" cy="1417320"/>
          </a:xfrm>
          <a:prstGeom prst="rect">
            <a:avLst/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6428232"/>
            <a:ext cx="94183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4181F"/>
                </a:solidFill>
                <a:latin typeface="Montserrat"/>
              </a:rPr>
              <a:t>PII tokenization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6858000"/>
            <a:ext cx="941832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6471"/>
                </a:solidFill>
                <a:latin typeface="Calibri"/>
              </a:rPr>
              <a:t>Personal identifiers are replaced by safe tokens (EMP-7f3a) before anything leaves the secure perimeter; unmasking is RBAC-gated and audited.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7863840"/>
            <a:ext cx="9875520" cy="141732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7863840"/>
            <a:ext cx="109728" cy="1417320"/>
          </a:xfrm>
          <a:prstGeom prst="rect">
            <a:avLst/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7982712"/>
            <a:ext cx="94183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4181F"/>
                </a:solidFill>
                <a:latin typeface="Montserrat"/>
              </a:rPr>
              <a:t>DPDP + RBI retention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8412480"/>
            <a:ext cx="941832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6471"/>
                </a:solidFill>
                <a:latin typeface="Calibri"/>
              </a:rPr>
              <a:t>Retention &amp; archival tiering to DPDP + RBI windows; data lineage + MDM staff entity-resolution across the merged CBS / AD / HR / IAM. DPIA + lawful-basis map in governance/docs.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789919" y="3200400"/>
            <a:ext cx="6217920" cy="6217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789919" y="3200400"/>
            <a:ext cx="6217920" cy="420624"/>
          </a:xfrm>
          <a:prstGeom prst="roundRect">
            <a:avLst>
              <a:gd name="adj" fmla="val 6000"/>
            </a:avLst>
          </a:prstGeom>
          <a:solidFill>
            <a:srgbClr val="1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789919" y="3419856"/>
            <a:ext cx="6217920" cy="201168"/>
          </a:xfrm>
          <a:prstGeom prst="rect">
            <a:avLst/>
          </a:prstGeom>
          <a:solidFill>
            <a:srgbClr val="1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54511" y="3236976"/>
            <a:ext cx="594360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ontserrat"/>
              </a:rPr>
              <a:t>PROPORTIONALITY &amp; FAIRNESS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54511" y="3730752"/>
            <a:ext cx="5907024" cy="5577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50" b="0" i="0">
                <a:solidFill>
                  <a:srgbClr val="14181F"/>
                </a:solidFill>
                <a:latin typeface="Calibri"/>
              </a:rPr>
              <a:t>▸  It watches STAFF — treated as a legal/cultural matter, not just a technical one.</a:t>
            </a:r>
          </a:p>
          <a:p>
            <a:pPr algn="l">
              <a:lnSpc>
                <a:spcPct val="102000"/>
              </a:lnSpc>
              <a:spcBef>
                <a:spcPts val="700"/>
              </a:spcBef>
            </a:pPr>
            <a:r>
              <a:rPr sz="1350" b="0" i="0">
                <a:solidFill>
                  <a:srgbClr val="14181F"/>
                </a:solidFill>
                <a:latin typeface="Calibri"/>
              </a:rPr>
              <a:t>▸  Proportionality — only risk-relevant signals are used, not everything.</a:t>
            </a:r>
          </a:p>
          <a:p>
            <a:pPr algn="l">
              <a:lnSpc>
                <a:spcPct val="102000"/>
              </a:lnSpc>
              <a:spcBef>
                <a:spcPts val="700"/>
              </a:spcBef>
            </a:pPr>
            <a:r>
              <a:rPr sz="1350" b="0" i="0">
                <a:solidFill>
                  <a:srgbClr val="14181F"/>
                </a:solidFill>
                <a:latin typeface="Calibri"/>
              </a:rPr>
              <a:t>▸  Transparency with staff / works-council / HR / legal.</a:t>
            </a:r>
          </a:p>
          <a:p>
            <a:pPr algn="l">
              <a:lnSpc>
                <a:spcPct val="102000"/>
              </a:lnSpc>
              <a:spcBef>
                <a:spcPts val="700"/>
              </a:spcBef>
            </a:pPr>
            <a:r>
              <a:rPr sz="1350" b="0" i="0">
                <a:solidFill>
                  <a:srgbClr val="14181F"/>
                </a:solidFill>
                <a:latin typeface="Calibri"/>
              </a:rPr>
              <a:t>▸  Fairness testing; protected attributes never used.</a:t>
            </a:r>
          </a:p>
          <a:p>
            <a:pPr algn="l">
              <a:lnSpc>
                <a:spcPct val="102000"/>
              </a:lnSpc>
              <a:spcBef>
                <a:spcPts val="700"/>
              </a:spcBef>
            </a:pPr>
            <a:r>
              <a:rPr sz="1350" b="0" i="0">
                <a:solidFill>
                  <a:srgbClr val="14181F"/>
                </a:solidFill>
                <a:latin typeface="Calibri"/>
              </a:rPr>
              <a:t>▸  Human-in-the-loop with natural justice before any classification.</a:t>
            </a:r>
          </a:p>
          <a:p>
            <a:pPr algn="l">
              <a:lnSpc>
                <a:spcPct val="102000"/>
              </a:lnSpc>
              <a:spcBef>
                <a:spcPts val="700"/>
              </a:spcBef>
            </a:pPr>
            <a:r>
              <a:rPr sz="1350" b="0" i="0">
                <a:solidFill>
                  <a:srgbClr val="E92A2D"/>
                </a:solidFill>
                <a:latin typeface="Calibri"/>
              </a:rPr>
              <a:t>▸  TEE / attestation for the AI narrative — names tokenized; the model provider cannot read the data.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9857232"/>
            <a:ext cx="11887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8A929E"/>
                </a:solidFill>
                <a:latin typeface="TT Interphases Mono"/>
              </a:rPr>
              <a:t>HAWK-EYE  ·  Team NINEAGENTS  ·  iDEA 2.0 · PSBs Hackathon Series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002000" y="9857232"/>
            <a:ext cx="16459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29E"/>
                </a:solidFill>
                <a:latin typeface="TT Interphases Mono"/>
              </a:rPr>
              <a:t>10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/>
          <p:cNvGrpSpPr/>
          <p:nvPr/>
        </p:nvGrpSpPr>
        <p:grpSpPr>
          <a:xfrm>
            <a:off x="0" y="0"/>
            <a:ext cx="18288000" cy="1697181"/>
            <a:chOff x="0" y="0"/>
            <a:chExt cx="4816593" cy="4469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46994"/>
            </a:xfrm>
            <a:custGeom>
              <a:avLst/>
              <a:gdLst/>
              <a:ahLst/>
              <a:cxnLst/>
              <a:rect l="l" t="t" r="r" b="b"/>
              <a:pathLst>
                <a:path w="4816592" h="446994">
                  <a:moveTo>
                    <a:pt x="0" y="0"/>
                  </a:moveTo>
                  <a:lnTo>
                    <a:pt x="4816592" y="0"/>
                  </a:lnTo>
                  <a:lnTo>
                    <a:pt x="4816592" y="446994"/>
                  </a:lnTo>
                  <a:lnTo>
                    <a:pt x="0" y="44699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85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662574" y="122606"/>
            <a:ext cx="3497653" cy="1540119"/>
          </a:xfrm>
          <a:custGeom>
            <a:avLst/>
            <a:gdLst/>
            <a:ahLst/>
            <a:cxnLst/>
            <a:rect l="l" t="t" r="r" b="b"/>
            <a:pathLst>
              <a:path w="3497653" h="1540119">
                <a:moveTo>
                  <a:pt x="0" y="0"/>
                </a:moveTo>
                <a:lnTo>
                  <a:pt x="3497653" y="0"/>
                </a:lnTo>
                <a:lnTo>
                  <a:pt x="3497653" y="1540119"/>
                </a:lnTo>
                <a:lnTo>
                  <a:pt x="0" y="15401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6230" t="-89762" r="-26367" b="-156792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0969852" y="588904"/>
            <a:ext cx="5022437" cy="749179"/>
            <a:chOff x="0" y="0"/>
            <a:chExt cx="6696583" cy="998906"/>
          </a:xfrm>
        </p:grpSpPr>
        <p:sp>
          <p:nvSpPr>
            <p:cNvPr id="7" name="Freeform 7" descr="A red blue and white logo  Description automatically generated"/>
            <p:cNvSpPr/>
            <p:nvPr/>
          </p:nvSpPr>
          <p:spPr>
            <a:xfrm>
              <a:off x="0" y="0"/>
              <a:ext cx="6696583" cy="998855"/>
            </a:xfrm>
            <a:custGeom>
              <a:avLst/>
              <a:gdLst/>
              <a:ahLst/>
              <a:cxnLst/>
              <a:rect l="l" t="t" r="r" b="b"/>
              <a:pathLst>
                <a:path w="6696583" h="998855">
                  <a:moveTo>
                    <a:pt x="0" y="0"/>
                  </a:moveTo>
                  <a:lnTo>
                    <a:pt x="6696583" y="0"/>
                  </a:lnTo>
                  <a:lnTo>
                    <a:pt x="6696583" y="998855"/>
                  </a:lnTo>
                  <a:lnTo>
                    <a:pt x="0" y="998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5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3163313" y="523697"/>
            <a:ext cx="2690517" cy="879592"/>
          </a:xfrm>
          <a:custGeom>
            <a:avLst/>
            <a:gdLst/>
            <a:ahLst/>
            <a:cxnLst/>
            <a:rect l="l" t="t" r="r" b="b"/>
            <a:pathLst>
              <a:path w="2690517" h="879592">
                <a:moveTo>
                  <a:pt x="0" y="0"/>
                </a:moveTo>
                <a:lnTo>
                  <a:pt x="2690518" y="0"/>
                </a:lnTo>
                <a:lnTo>
                  <a:pt x="2690518" y="879593"/>
                </a:lnTo>
                <a:lnTo>
                  <a:pt x="0" y="8795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01479" y="281194"/>
            <a:ext cx="2445886" cy="1222943"/>
          </a:xfrm>
          <a:custGeom>
            <a:avLst/>
            <a:gdLst/>
            <a:ahLst/>
            <a:cxnLst/>
            <a:rect l="l" t="t" r="r" b="b"/>
            <a:pathLst>
              <a:path w="2445886" h="1222943">
                <a:moveTo>
                  <a:pt x="0" y="0"/>
                </a:moveTo>
                <a:lnTo>
                  <a:pt x="2445886" y="0"/>
                </a:lnTo>
                <a:lnTo>
                  <a:pt x="2445886" y="1222943"/>
                </a:lnTo>
                <a:lnTo>
                  <a:pt x="0" y="12229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739206" y="471221"/>
            <a:ext cx="1040189" cy="1032916"/>
          </a:xfrm>
          <a:custGeom>
            <a:avLst/>
            <a:gdLst/>
            <a:ahLst/>
            <a:cxnLst/>
            <a:rect l="l" t="t" r="r" b="b"/>
            <a:pathLst>
              <a:path w="1040189" h="1032916">
                <a:moveTo>
                  <a:pt x="0" y="0"/>
                </a:moveTo>
                <a:lnTo>
                  <a:pt x="1040188" y="0"/>
                </a:lnTo>
                <a:lnTo>
                  <a:pt x="1040188" y="1032916"/>
                </a:lnTo>
                <a:lnTo>
                  <a:pt x="0" y="10329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633" t="-14434" r="-13983" b="-14081"/>
            </a:stretch>
          </a:blipFill>
        </p:spPr>
      </p:sp>
      <p:sp>
        <p:nvSpPr>
          <p:cNvPr id="13" name="TextBox 12"/>
          <p:cNvSpPr txBox="1"/>
          <p:nvPr/>
        </p:nvSpPr>
        <p:spPr>
          <a:xfrm>
            <a:off x="640080" y="1847088"/>
            <a:ext cx="1700784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92A2D"/>
                </a:solidFill>
                <a:latin typeface="TT Interphases Mono"/>
              </a:rPr>
              <a:t>SECURITY, SCALABILITY &amp; ENTERPRISE READINESS (20%) · SECURITY &amp; ACCESS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139696"/>
            <a:ext cx="170078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4181F"/>
                </a:solidFill>
                <a:latin typeface="Montserrat"/>
              </a:rPr>
              <a:t>Enterprise security &amp; least-privilege access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779776"/>
            <a:ext cx="822960" cy="45720"/>
          </a:xfrm>
          <a:prstGeom prst="rect">
            <a:avLst/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3200400"/>
            <a:ext cx="17007840" cy="111556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200400"/>
            <a:ext cx="128016" cy="11155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19" y="3291840"/>
            <a:ext cx="5852160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4181F"/>
                </a:solidFill>
                <a:latin typeface="Montserrat"/>
              </a:rPr>
              <a:t>RBAC + Separation of Duties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3291840"/>
            <a:ext cx="10424160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B6471"/>
                </a:solidFill>
                <a:latin typeface="Calibri"/>
              </a:rPr>
              <a:t>Role-gated everywhere (analyst / compliance / auditor / model-engineer / admin). SoD: whoever builds models can't label data or close their own alerts.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453128"/>
            <a:ext cx="17007840" cy="111556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453128"/>
            <a:ext cx="128016" cy="1115568"/>
          </a:xfrm>
          <a:prstGeom prst="rect">
            <a:avLst/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19" y="4544568"/>
            <a:ext cx="5852160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4181F"/>
                </a:solidFill>
                <a:latin typeface="Montserrat"/>
              </a:rPr>
              <a:t>Secrets: HSM / Vault + mTLS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544568"/>
            <a:ext cx="10424160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B6471"/>
                </a:solidFill>
                <a:latin typeface="Calibri"/>
              </a:rPr>
              <a:t>Secrets in Vault / HSM, injected at runtime — never in code. mTLS between services; OPA/Conftest policy gates in CI.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705856"/>
            <a:ext cx="17007840" cy="111556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5705856"/>
            <a:ext cx="128016" cy="111556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19" y="5797296"/>
            <a:ext cx="5852160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4181F"/>
                </a:solidFill>
                <a:latin typeface="Montserrat"/>
              </a:rPr>
              <a:t>Tamper-evident audit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5797296"/>
            <a:ext cx="10424160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B6471"/>
                </a:solidFill>
                <a:latin typeface="Calibri"/>
              </a:rPr>
              <a:t>Hash-chained WORM audit of every sensitive action &amp; PII unmask — edits are detectable. "Watch the watchers."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6958584"/>
            <a:ext cx="17007840" cy="111556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6958584"/>
            <a:ext cx="128016" cy="11155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19" y="7050024"/>
            <a:ext cx="5852160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4181F"/>
                </a:solidFill>
                <a:latin typeface="Montserrat"/>
              </a:rPr>
              <a:t>TEE-attested AI narrative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7050024"/>
            <a:ext cx="10424160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B6471"/>
                </a:solidFill>
                <a:latin typeface="Calibri"/>
              </a:rPr>
              <a:t>The LLM narrative runs in a Trusted Execution Environment with tokenized names — provider can't read data; falls back to a template if unavailable.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8211312"/>
            <a:ext cx="17007840" cy="111556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8211312"/>
            <a:ext cx="128016" cy="1115568"/>
          </a:xfrm>
          <a:prstGeom prst="rect">
            <a:avLst/>
          </a:prstGeom>
          <a:solidFill>
            <a:srgbClr val="D982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19" y="8302752"/>
            <a:ext cx="5852160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4181F"/>
                </a:solidFill>
                <a:latin typeface="Montserrat"/>
              </a:rPr>
              <a:t>Threat model + red-team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8302752"/>
            <a:ext cx="10424160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B6471"/>
                </a:solidFill>
                <a:latin typeface="Calibri"/>
              </a:rPr>
              <a:t>Documented threat model, admin-access policy, security-framework mapping; adversarial red-team suite gates the build.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9857232"/>
            <a:ext cx="11887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8A929E"/>
                </a:solidFill>
                <a:latin typeface="TT Interphases Mono"/>
              </a:rPr>
              <a:t>HAWK-EYE  ·  Team NINEAGENTS  ·  iDEA 2.0 · PSBs Hackathon Series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002000" y="9857232"/>
            <a:ext cx="16459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29E"/>
                </a:solidFill>
                <a:latin typeface="TT Interphases Mono"/>
              </a:rPr>
              <a:t>11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/>
          <p:cNvGrpSpPr/>
          <p:nvPr/>
        </p:nvGrpSpPr>
        <p:grpSpPr>
          <a:xfrm>
            <a:off x="0" y="0"/>
            <a:ext cx="18288000" cy="1697181"/>
            <a:chOff x="0" y="0"/>
            <a:chExt cx="4816593" cy="4469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46994"/>
            </a:xfrm>
            <a:custGeom>
              <a:avLst/>
              <a:gdLst/>
              <a:ahLst/>
              <a:cxnLst/>
              <a:rect l="l" t="t" r="r" b="b"/>
              <a:pathLst>
                <a:path w="4816592" h="446994">
                  <a:moveTo>
                    <a:pt x="0" y="0"/>
                  </a:moveTo>
                  <a:lnTo>
                    <a:pt x="4816592" y="0"/>
                  </a:lnTo>
                  <a:lnTo>
                    <a:pt x="4816592" y="446994"/>
                  </a:lnTo>
                  <a:lnTo>
                    <a:pt x="0" y="44699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85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662574" y="122606"/>
            <a:ext cx="3497653" cy="1540119"/>
          </a:xfrm>
          <a:custGeom>
            <a:avLst/>
            <a:gdLst/>
            <a:ahLst/>
            <a:cxnLst/>
            <a:rect l="l" t="t" r="r" b="b"/>
            <a:pathLst>
              <a:path w="3497653" h="1540119">
                <a:moveTo>
                  <a:pt x="0" y="0"/>
                </a:moveTo>
                <a:lnTo>
                  <a:pt x="3497653" y="0"/>
                </a:lnTo>
                <a:lnTo>
                  <a:pt x="3497653" y="1540119"/>
                </a:lnTo>
                <a:lnTo>
                  <a:pt x="0" y="15401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6230" t="-89762" r="-26367" b="-156792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0969852" y="588904"/>
            <a:ext cx="5022437" cy="749179"/>
            <a:chOff x="0" y="0"/>
            <a:chExt cx="6696583" cy="998906"/>
          </a:xfrm>
        </p:grpSpPr>
        <p:sp>
          <p:nvSpPr>
            <p:cNvPr id="7" name="Freeform 7" descr="A red blue and white logo  Description automatically generated"/>
            <p:cNvSpPr/>
            <p:nvPr/>
          </p:nvSpPr>
          <p:spPr>
            <a:xfrm>
              <a:off x="0" y="0"/>
              <a:ext cx="6696583" cy="998855"/>
            </a:xfrm>
            <a:custGeom>
              <a:avLst/>
              <a:gdLst/>
              <a:ahLst/>
              <a:cxnLst/>
              <a:rect l="l" t="t" r="r" b="b"/>
              <a:pathLst>
                <a:path w="6696583" h="998855">
                  <a:moveTo>
                    <a:pt x="0" y="0"/>
                  </a:moveTo>
                  <a:lnTo>
                    <a:pt x="6696583" y="0"/>
                  </a:lnTo>
                  <a:lnTo>
                    <a:pt x="6696583" y="998855"/>
                  </a:lnTo>
                  <a:lnTo>
                    <a:pt x="0" y="998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5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3163313" y="523697"/>
            <a:ext cx="2690517" cy="879592"/>
          </a:xfrm>
          <a:custGeom>
            <a:avLst/>
            <a:gdLst/>
            <a:ahLst/>
            <a:cxnLst/>
            <a:rect l="l" t="t" r="r" b="b"/>
            <a:pathLst>
              <a:path w="2690517" h="879592">
                <a:moveTo>
                  <a:pt x="0" y="0"/>
                </a:moveTo>
                <a:lnTo>
                  <a:pt x="2690518" y="0"/>
                </a:lnTo>
                <a:lnTo>
                  <a:pt x="2690518" y="879593"/>
                </a:lnTo>
                <a:lnTo>
                  <a:pt x="0" y="8795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01479" y="281194"/>
            <a:ext cx="2445886" cy="1222943"/>
          </a:xfrm>
          <a:custGeom>
            <a:avLst/>
            <a:gdLst/>
            <a:ahLst/>
            <a:cxnLst/>
            <a:rect l="l" t="t" r="r" b="b"/>
            <a:pathLst>
              <a:path w="2445886" h="1222943">
                <a:moveTo>
                  <a:pt x="0" y="0"/>
                </a:moveTo>
                <a:lnTo>
                  <a:pt x="2445886" y="0"/>
                </a:lnTo>
                <a:lnTo>
                  <a:pt x="2445886" y="1222943"/>
                </a:lnTo>
                <a:lnTo>
                  <a:pt x="0" y="12229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739206" y="471221"/>
            <a:ext cx="1040189" cy="1032916"/>
          </a:xfrm>
          <a:custGeom>
            <a:avLst/>
            <a:gdLst/>
            <a:ahLst/>
            <a:cxnLst/>
            <a:rect l="l" t="t" r="r" b="b"/>
            <a:pathLst>
              <a:path w="1040189" h="1032916">
                <a:moveTo>
                  <a:pt x="0" y="0"/>
                </a:moveTo>
                <a:lnTo>
                  <a:pt x="1040188" y="0"/>
                </a:lnTo>
                <a:lnTo>
                  <a:pt x="1040188" y="1032916"/>
                </a:lnTo>
                <a:lnTo>
                  <a:pt x="0" y="10329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633" t="-14434" r="-13983" b="-14081"/>
            </a:stretch>
          </a:blipFill>
        </p:spPr>
      </p:sp>
      <p:sp>
        <p:nvSpPr>
          <p:cNvPr id="13" name="TextBox 12"/>
          <p:cNvSpPr txBox="1"/>
          <p:nvPr/>
        </p:nvSpPr>
        <p:spPr>
          <a:xfrm>
            <a:off x="640080" y="1847088"/>
            <a:ext cx="1700784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92A2D"/>
                </a:solidFill>
                <a:latin typeface="TT Interphases Mono"/>
              </a:rPr>
              <a:t>SECURITY, SCALABILITY &amp; ENTERPRISE READINESS (20%) · SCALABILITY &amp; PERFORMANCE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139696"/>
            <a:ext cx="170078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4181F"/>
                </a:solidFill>
                <a:latin typeface="Montserrat"/>
              </a:rPr>
              <a:t>Built for PSB scale — 8,000+ branches, thousands of privileged users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779776"/>
            <a:ext cx="822960" cy="45720"/>
          </a:xfrm>
          <a:prstGeom prst="rect">
            <a:avLst/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3200400"/>
            <a:ext cx="8183879" cy="6217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3200400"/>
            <a:ext cx="8183879" cy="420624"/>
          </a:xfrm>
          <a:prstGeom prst="roundRect">
            <a:avLst>
              <a:gd name="adj" fmla="val 6000"/>
            </a:avLst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419856"/>
            <a:ext cx="8183879" cy="201168"/>
          </a:xfrm>
          <a:prstGeom prst="rect">
            <a:avLst/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" y="3236976"/>
            <a:ext cx="7909559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ontserrat"/>
              </a:rPr>
              <a:t>SCALES ON THE AXES THAT MATTER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3730752"/>
            <a:ext cx="7872983" cy="5577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400" b="0" i="0">
                <a:solidFill>
                  <a:srgbClr val="14181F"/>
                </a:solidFill>
                <a:latin typeface="Calibri"/>
              </a:rPr>
              <a:t>▸  Streaming ingest on Kafka — the fast lane scores event → alert in seconds; horizontally scalable consumers.</a:t>
            </a:r>
          </a:p>
          <a:p>
            <a:pPr algn="l">
              <a:lnSpc>
                <a:spcPct val="102000"/>
              </a:lnSpc>
              <a:spcBef>
                <a:spcPts val="800"/>
              </a:spcBef>
            </a:pPr>
            <a:r>
              <a:rPr sz="1400" b="0" i="0">
                <a:solidFill>
                  <a:srgbClr val="14181F"/>
                </a:solidFill>
                <a:latin typeface="Calibri"/>
              </a:rPr>
              <a:t>▸  ClickHouse columnar store for high-volume privileged-action events; Redis for hot features.</a:t>
            </a:r>
          </a:p>
          <a:p>
            <a:pPr algn="l">
              <a:lnSpc>
                <a:spcPct val="102000"/>
              </a:lnSpc>
              <a:spcBef>
                <a:spcPts val="800"/>
              </a:spcBef>
            </a:pPr>
            <a:r>
              <a:rPr sz="1400" b="0" i="0">
                <a:solidFill>
                  <a:srgbClr val="14181F"/>
                </a:solidFill>
                <a:latin typeface="Calibri"/>
              </a:rPr>
              <a:t>▸  ~26 services orchestrated; Kubernetes + ArgoCD + an HA topology for horizontal scale and rollout.</a:t>
            </a:r>
          </a:p>
          <a:p>
            <a:pPr algn="l">
              <a:lnSpc>
                <a:spcPct val="102000"/>
              </a:lnSpc>
              <a:spcBef>
                <a:spcPts val="800"/>
              </a:spcBef>
            </a:pPr>
            <a:r>
              <a:rPr sz="1400" b="0" i="0">
                <a:solidFill>
                  <a:srgbClr val="14181F"/>
                </a:solidFill>
                <a:latin typeface="Calibri"/>
              </a:rPr>
              <a:t>▸  Per-entity / per-peer baselines + peer-fair scoring across ~8,000+ branches and thousands of privileged users.</a:t>
            </a:r>
          </a:p>
          <a:p>
            <a:pPr algn="l">
              <a:lnSpc>
                <a:spcPct val="102000"/>
              </a:lnSpc>
              <a:spcBef>
                <a:spcPts val="800"/>
              </a:spcBef>
            </a:pPr>
            <a:r>
              <a:rPr sz="1400" b="0" i="0">
                <a:solidFill>
                  <a:srgbClr val="E92A2D"/>
                </a:solidFill>
                <a:latin typeface="Calibri"/>
              </a:rPr>
              <a:t>▸  Alert budgeting + one-alert-per-entity fusion so investigators are never buried (alert fatigue is the #1 operational killer).</a:t>
            </a:r>
          </a:p>
          <a:p>
            <a:pPr algn="l">
              <a:lnSpc>
                <a:spcPct val="102000"/>
              </a:lnSpc>
              <a:spcBef>
                <a:spcPts val="800"/>
              </a:spcBef>
            </a:pPr>
            <a:r>
              <a:rPr sz="1400" b="0" i="0">
                <a:solidFill>
                  <a:srgbClr val="E92A2D"/>
                </a:solidFill>
                <a:latin typeface="Calibri"/>
              </a:rPr>
              <a:t>▸  Sized for 360M events/day · 12,500 events/s peak → 3 Kafka brokers (RF3) · 1 Flink · 1 ClickHouse shard ×2. ~$480/mo AWS Lightsail pilot → ~$2,400/mo full AWS VPC. ONNX serving.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3200400"/>
            <a:ext cx="7863840" cy="6217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0" y="3200400"/>
            <a:ext cx="7863840" cy="420624"/>
          </a:xfrm>
          <a:prstGeom prst="roundRect">
            <a:avLst>
              <a:gd name="adj" fmla="val 6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3419856"/>
            <a:ext cx="7863840" cy="20116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08592" y="3236976"/>
            <a:ext cx="7589519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ontserrat"/>
              </a:rPr>
              <a:t>TWO-LANE PERFORMANCE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8592" y="3730752"/>
            <a:ext cx="7552944" cy="5577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500" b="1" i="0">
                <a:solidFill>
                  <a:srgbClr val="1E9E5A"/>
                </a:solidFill>
                <a:latin typeface="Montserrat"/>
              </a:rPr>
              <a:t>FAST LANE (real-time)</a:t>
            </a:r>
          </a:p>
          <a:p>
            <a:pPr algn="l">
              <a:lnSpc>
                <a:spcPct val="102000"/>
              </a:lnSpc>
              <a:spcBef>
                <a:spcPts val="300"/>
              </a:spcBef>
            </a:pPr>
            <a:r>
              <a:rPr sz="1350" b="0" i="0">
                <a:solidFill>
                  <a:srgbClr val="14181F"/>
                </a:solidFill>
                <a:latin typeface="Calibri"/>
              </a:rPr>
              <a:t>event → feature → score → alert in seconds. The primary online path for privileged-user behaviour.</a:t>
            </a:r>
          </a:p>
          <a:p>
            <a:pPr algn="l">
              <a:lnSpc>
                <a:spcPct val="102000"/>
              </a:lnSpc>
              <a:spcBef>
                <a:spcPts val="1200"/>
              </a:spcBef>
            </a:pPr>
            <a:r>
              <a:rPr sz="1500" b="1" i="0">
                <a:solidFill>
                  <a:srgbClr val="D9820B"/>
                </a:solidFill>
                <a:latin typeface="Montserrat"/>
              </a:rPr>
              <a:t>SLOW LANE (batch EWS)</a:t>
            </a:r>
          </a:p>
          <a:p>
            <a:pPr algn="l">
              <a:lnSpc>
                <a:spcPct val="102000"/>
              </a:lnSpc>
              <a:spcBef>
                <a:spcPts val="300"/>
              </a:spcBef>
            </a:pPr>
            <a:r>
              <a:rPr sz="1350" b="0" i="0">
                <a:solidFill>
                  <a:srgbClr val="14181F"/>
                </a:solidFill>
                <a:latin typeface="Calibri"/>
              </a:rPr>
              <a:t>credit / entity / ghost-vendor / ghost-payroll / alert-suppression signals accumulate over days–weeks–months and feed RBI EWS / RFA / CRILC / FMR.</a:t>
            </a:r>
          </a:p>
          <a:p>
            <a:pPr algn="l">
              <a:lnSpc>
                <a:spcPct val="102000"/>
              </a:lnSpc>
              <a:spcBef>
                <a:spcPts val="1200"/>
              </a:spcBef>
            </a:pPr>
            <a:r>
              <a:rPr sz="1300" b="0" i="1">
                <a:solidFill>
                  <a:srgbClr val="5B6471"/>
                </a:solidFill>
                <a:latin typeface="Calibri"/>
              </a:rPr>
              <a:t>Honest limit: credit fraud is accelerated (years → weeks), not made instant — stated plainly, never oversold.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9857232"/>
            <a:ext cx="11887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8A929E"/>
                </a:solidFill>
                <a:latin typeface="TT Interphases Mono"/>
              </a:rPr>
              <a:t>HAWK-EYE  ·  Team NINEAGENTS  ·  iDEA 2.0 · PSBs Hackathon Series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0" y="9857232"/>
            <a:ext cx="16459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29E"/>
                </a:solidFill>
                <a:latin typeface="TT Interphases Mono"/>
              </a:rPr>
              <a:t>12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/>
          <p:cNvGrpSpPr/>
          <p:nvPr/>
        </p:nvGrpSpPr>
        <p:grpSpPr>
          <a:xfrm>
            <a:off x="0" y="0"/>
            <a:ext cx="18288000" cy="1697181"/>
            <a:chOff x="0" y="0"/>
            <a:chExt cx="4816593" cy="4469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46994"/>
            </a:xfrm>
            <a:custGeom>
              <a:avLst/>
              <a:gdLst/>
              <a:ahLst/>
              <a:cxnLst/>
              <a:rect l="l" t="t" r="r" b="b"/>
              <a:pathLst>
                <a:path w="4816592" h="446994">
                  <a:moveTo>
                    <a:pt x="0" y="0"/>
                  </a:moveTo>
                  <a:lnTo>
                    <a:pt x="4816592" y="0"/>
                  </a:lnTo>
                  <a:lnTo>
                    <a:pt x="4816592" y="446994"/>
                  </a:lnTo>
                  <a:lnTo>
                    <a:pt x="0" y="44699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85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662574" y="122606"/>
            <a:ext cx="3497653" cy="1540119"/>
          </a:xfrm>
          <a:custGeom>
            <a:avLst/>
            <a:gdLst/>
            <a:ahLst/>
            <a:cxnLst/>
            <a:rect l="l" t="t" r="r" b="b"/>
            <a:pathLst>
              <a:path w="3497653" h="1540119">
                <a:moveTo>
                  <a:pt x="0" y="0"/>
                </a:moveTo>
                <a:lnTo>
                  <a:pt x="3497653" y="0"/>
                </a:lnTo>
                <a:lnTo>
                  <a:pt x="3497653" y="1540119"/>
                </a:lnTo>
                <a:lnTo>
                  <a:pt x="0" y="15401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6230" t="-89762" r="-26367" b="-156792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0969852" y="588904"/>
            <a:ext cx="5022437" cy="749179"/>
            <a:chOff x="0" y="0"/>
            <a:chExt cx="6696583" cy="998906"/>
          </a:xfrm>
        </p:grpSpPr>
        <p:sp>
          <p:nvSpPr>
            <p:cNvPr id="7" name="Freeform 7" descr="A red blue and white logo  Description automatically generated"/>
            <p:cNvSpPr/>
            <p:nvPr/>
          </p:nvSpPr>
          <p:spPr>
            <a:xfrm>
              <a:off x="0" y="0"/>
              <a:ext cx="6696583" cy="998855"/>
            </a:xfrm>
            <a:custGeom>
              <a:avLst/>
              <a:gdLst/>
              <a:ahLst/>
              <a:cxnLst/>
              <a:rect l="l" t="t" r="r" b="b"/>
              <a:pathLst>
                <a:path w="6696583" h="998855">
                  <a:moveTo>
                    <a:pt x="0" y="0"/>
                  </a:moveTo>
                  <a:lnTo>
                    <a:pt x="6696583" y="0"/>
                  </a:lnTo>
                  <a:lnTo>
                    <a:pt x="6696583" y="998855"/>
                  </a:lnTo>
                  <a:lnTo>
                    <a:pt x="0" y="998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5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3163313" y="523697"/>
            <a:ext cx="2690517" cy="879592"/>
          </a:xfrm>
          <a:custGeom>
            <a:avLst/>
            <a:gdLst/>
            <a:ahLst/>
            <a:cxnLst/>
            <a:rect l="l" t="t" r="r" b="b"/>
            <a:pathLst>
              <a:path w="2690517" h="879592">
                <a:moveTo>
                  <a:pt x="0" y="0"/>
                </a:moveTo>
                <a:lnTo>
                  <a:pt x="2690518" y="0"/>
                </a:lnTo>
                <a:lnTo>
                  <a:pt x="2690518" y="879593"/>
                </a:lnTo>
                <a:lnTo>
                  <a:pt x="0" y="8795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01479" y="281194"/>
            <a:ext cx="2445886" cy="1222943"/>
          </a:xfrm>
          <a:custGeom>
            <a:avLst/>
            <a:gdLst/>
            <a:ahLst/>
            <a:cxnLst/>
            <a:rect l="l" t="t" r="r" b="b"/>
            <a:pathLst>
              <a:path w="2445886" h="1222943">
                <a:moveTo>
                  <a:pt x="0" y="0"/>
                </a:moveTo>
                <a:lnTo>
                  <a:pt x="2445886" y="0"/>
                </a:lnTo>
                <a:lnTo>
                  <a:pt x="2445886" y="1222943"/>
                </a:lnTo>
                <a:lnTo>
                  <a:pt x="0" y="12229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739206" y="471221"/>
            <a:ext cx="1040189" cy="1032916"/>
          </a:xfrm>
          <a:custGeom>
            <a:avLst/>
            <a:gdLst/>
            <a:ahLst/>
            <a:cxnLst/>
            <a:rect l="l" t="t" r="r" b="b"/>
            <a:pathLst>
              <a:path w="1040189" h="1032916">
                <a:moveTo>
                  <a:pt x="0" y="0"/>
                </a:moveTo>
                <a:lnTo>
                  <a:pt x="1040188" y="0"/>
                </a:lnTo>
                <a:lnTo>
                  <a:pt x="1040188" y="1032916"/>
                </a:lnTo>
                <a:lnTo>
                  <a:pt x="0" y="10329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633" t="-14434" r="-13983" b="-14081"/>
            </a:stretch>
          </a:blipFill>
        </p:spPr>
      </p:sp>
      <p:sp>
        <p:nvSpPr>
          <p:cNvPr id="13" name="TextBox 12"/>
          <p:cNvSpPr txBox="1"/>
          <p:nvPr/>
        </p:nvSpPr>
        <p:spPr>
          <a:xfrm>
            <a:off x="640080" y="1847088"/>
            <a:ext cx="1700784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92A2D"/>
                </a:solidFill>
                <a:latin typeface="TT Interphases Mono"/>
              </a:rPr>
              <a:t>SECURITY, SCALABILITY &amp; ENTERPRISE READINESS (20%) · DEPLOYMENT, COMPLIANCE &amp;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139696"/>
            <a:ext cx="170078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4181F"/>
                </a:solidFill>
                <a:latin typeface="Montserrat"/>
              </a:rPr>
              <a:t>On-prem deployable, RBI-compliant, integration-ready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779776"/>
            <a:ext cx="822960" cy="45720"/>
          </a:xfrm>
          <a:prstGeom prst="rect">
            <a:avLst/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3200400"/>
            <a:ext cx="5349240" cy="6217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3200400"/>
            <a:ext cx="5349240" cy="420624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419856"/>
            <a:ext cx="5349240" cy="2011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" y="3236976"/>
            <a:ext cx="507492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ontserrat"/>
              </a:rPr>
              <a:t>DEPLOYMENT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3730752"/>
            <a:ext cx="5038344" cy="5577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00" b="0" i="0">
                <a:solidFill>
                  <a:srgbClr val="14181F"/>
                </a:solidFill>
                <a:latin typeface="Calibri"/>
              </a:rPr>
              <a:t>▸  Docker Compose → Kubernetes + ArgoCD + Terraform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300" b="0" i="0">
                <a:solidFill>
                  <a:srgbClr val="14181F"/>
                </a:solidFill>
                <a:latin typeface="Calibri"/>
              </a:rPr>
              <a:t>▸  Lightsail pilot recipe (DEPLOY_LIGHTSAIL.md)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300" b="0" i="0">
                <a:solidFill>
                  <a:srgbClr val="14181F"/>
                </a:solidFill>
                <a:latin typeface="Calibri"/>
              </a:rPr>
              <a:t>▸  OPA / Conftest policy gates in CI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300" b="0" i="0">
                <a:solidFill>
                  <a:srgbClr val="14181F"/>
                </a:solidFill>
                <a:latin typeface="Calibri"/>
              </a:rPr>
              <a:t>▸  On-prem, India data-residency by design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300" b="0" i="0">
                <a:solidFill>
                  <a:srgbClr val="14181F"/>
                </a:solidFill>
                <a:latin typeface="Calibri"/>
              </a:rPr>
              <a:t>▸  HA topology · HSM / Vault · mTLS · secrets at runtime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300" b="0" i="0">
                <a:solidFill>
                  <a:srgbClr val="14181F"/>
                </a:solidFill>
                <a:latin typeface="Calibri"/>
              </a:rPr>
              <a:t>▸  versioned bill-of-materials (deploy/versions.bom.yaml)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200400"/>
            <a:ext cx="5349240" cy="6217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17920" y="3200400"/>
            <a:ext cx="5349240" cy="420624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3419856"/>
            <a:ext cx="5349240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2" y="3236976"/>
            <a:ext cx="507492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ontserrat"/>
              </a:rPr>
              <a:t>BANKING-SYSTEM 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3730752"/>
            <a:ext cx="5038344" cy="5577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00" b="0" i="0">
                <a:solidFill>
                  <a:srgbClr val="14181F"/>
                </a:solidFill>
                <a:latin typeface="Calibri"/>
              </a:rPr>
              <a:t>▸  Canonical L0 event = one connector interface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300" b="0" i="0">
                <a:solidFill>
                  <a:srgbClr val="14181F"/>
                </a:solidFill>
                <a:latin typeface="Calibri"/>
              </a:rPr>
              <a:t>▸  Core banking (Finacle) · SWIFT / treasury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300" b="0" i="0">
                <a:solidFill>
                  <a:srgbClr val="14181F"/>
                </a:solidFill>
                <a:latin typeface="Calibri"/>
              </a:rPr>
              <a:t>▸  PAM (CyberArk / BeyondTrust) session content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300" b="0" i="0">
                <a:solidFill>
                  <a:srgbClr val="14181F"/>
                </a:solidFill>
                <a:latin typeface="Calibri"/>
              </a:rPr>
              <a:t>▸  IGA / IAM entitlements · HR / JML events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300" b="0" i="0">
                <a:solidFill>
                  <a:srgbClr val="14181F"/>
                </a:solidFill>
                <a:latin typeface="Calibri"/>
              </a:rPr>
              <a:t>▸  SWIFT ↔ CBS reconciliation (the PNB seam)</a:t>
            </a:r>
          </a:p>
          <a:p>
            <a:pPr algn="l">
              <a:lnSpc>
                <a:spcPct val="102000"/>
              </a:lnSpc>
              <a:spcBef>
                <a:spcPts val="800"/>
              </a:spcBef>
            </a:pPr>
            <a:r>
              <a:rPr sz="1250" b="0" i="1">
                <a:solidFill>
                  <a:srgbClr val="5B6471"/>
                </a:solidFill>
                <a:latin typeface="Calibri"/>
              </a:rPr>
              <a:t>Connectors are SCAFFOLD until the bank wires credentials — same pattern across all feeds.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795759" y="3200400"/>
            <a:ext cx="5212080" cy="6217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1795759" y="3200400"/>
            <a:ext cx="5212080" cy="420624"/>
          </a:xfrm>
          <a:prstGeom prst="roundRect">
            <a:avLst>
              <a:gd name="adj" fmla="val 6000"/>
            </a:avLst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795759" y="3419856"/>
            <a:ext cx="5212080" cy="201168"/>
          </a:xfrm>
          <a:prstGeom prst="rect">
            <a:avLst/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960351" y="3236976"/>
            <a:ext cx="493776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ontserrat"/>
              </a:rPr>
              <a:t>RBI COMPLIANCE WRAPPER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960351" y="3730752"/>
            <a:ext cx="4901184" cy="5577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00" b="0" i="0">
                <a:solidFill>
                  <a:srgbClr val="14181F"/>
                </a:solidFill>
                <a:latin typeface="Calibri"/>
              </a:rPr>
              <a:t>•  RFA lifecycle state machine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300" b="0" i="0">
                <a:solidFill>
                  <a:srgbClr val="14181F"/>
                </a:solidFill>
                <a:latin typeface="Calibri"/>
              </a:rPr>
              <a:t>•  Staff-accountability (6-month clock)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300" b="0" i="0">
                <a:solidFill>
                  <a:srgbClr val="14181F"/>
                </a:solidFill>
                <a:latin typeface="Calibri"/>
              </a:rPr>
              <a:t>•  FMR + Central Fraud Registry generation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300" b="0" i="0">
                <a:solidFill>
                  <a:srgbClr val="14181F"/>
                </a:solidFill>
                <a:latin typeface="Calibri"/>
              </a:rPr>
              <a:t>•  FREE-AI model governance + kill-switch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300" b="0" i="0">
                <a:solidFill>
                  <a:srgbClr val="14181F"/>
                </a:solidFill>
                <a:latin typeface="Calibri"/>
              </a:rPr>
              <a:t>•  MRMF 7-dimension model validation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300" b="0" i="0">
                <a:solidFill>
                  <a:srgbClr val="14181F"/>
                </a:solidFill>
                <a:latin typeface="Calibri"/>
              </a:rPr>
              <a:t>•  IS-audit insider-control evidence pack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300" b="0" i="0">
                <a:solidFill>
                  <a:srgbClr val="14181F"/>
                </a:solidFill>
                <a:latin typeface="Calibri"/>
              </a:rPr>
              <a:t>•  MLflow registry with Ed25519 signing + model cards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200" b="0" i="0">
                <a:solidFill>
                  <a:srgbClr val="E92A2D"/>
                </a:solidFill>
                <a:latin typeface="Calibri"/>
              </a:rPr>
              <a:t>•  Windows: CRILC ₹3 Cr / 7-day / 180-day · RBI TAT ≤30d · CERT-In 6h · DPDP ≤ ₹250 Cr · go-live gate 17/17 GO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9857232"/>
            <a:ext cx="11887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8A929E"/>
                </a:solidFill>
                <a:latin typeface="TT Interphases Mono"/>
              </a:rPr>
              <a:t>HAWK-EYE  ·  Team NINEAGENTS  ·  iDEA 2.0 · PSBs Hackathon Series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0" y="9857232"/>
            <a:ext cx="16459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29E"/>
                </a:solidFill>
                <a:latin typeface="TT Interphases Mono"/>
              </a:rPr>
              <a:t>13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/>
          <p:cNvGrpSpPr/>
          <p:nvPr/>
        </p:nvGrpSpPr>
        <p:grpSpPr>
          <a:xfrm>
            <a:off x="0" y="0"/>
            <a:ext cx="18288000" cy="1697181"/>
            <a:chOff x="0" y="0"/>
            <a:chExt cx="4816593" cy="4469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46994"/>
            </a:xfrm>
            <a:custGeom>
              <a:avLst/>
              <a:gdLst/>
              <a:ahLst/>
              <a:cxnLst/>
              <a:rect l="l" t="t" r="r" b="b"/>
              <a:pathLst>
                <a:path w="4816592" h="446994">
                  <a:moveTo>
                    <a:pt x="0" y="0"/>
                  </a:moveTo>
                  <a:lnTo>
                    <a:pt x="4816592" y="0"/>
                  </a:lnTo>
                  <a:lnTo>
                    <a:pt x="4816592" y="446994"/>
                  </a:lnTo>
                  <a:lnTo>
                    <a:pt x="0" y="44699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85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662574" y="122606"/>
            <a:ext cx="3497653" cy="1540119"/>
          </a:xfrm>
          <a:custGeom>
            <a:avLst/>
            <a:gdLst/>
            <a:ahLst/>
            <a:cxnLst/>
            <a:rect l="l" t="t" r="r" b="b"/>
            <a:pathLst>
              <a:path w="3497653" h="1540119">
                <a:moveTo>
                  <a:pt x="0" y="0"/>
                </a:moveTo>
                <a:lnTo>
                  <a:pt x="3497653" y="0"/>
                </a:lnTo>
                <a:lnTo>
                  <a:pt x="3497653" y="1540119"/>
                </a:lnTo>
                <a:lnTo>
                  <a:pt x="0" y="15401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6230" t="-89762" r="-26367" b="-156792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0969852" y="588904"/>
            <a:ext cx="5022437" cy="749179"/>
            <a:chOff x="0" y="0"/>
            <a:chExt cx="6696583" cy="998906"/>
          </a:xfrm>
        </p:grpSpPr>
        <p:sp>
          <p:nvSpPr>
            <p:cNvPr id="7" name="Freeform 7" descr="A red blue and white logo  Description automatically generated"/>
            <p:cNvSpPr/>
            <p:nvPr/>
          </p:nvSpPr>
          <p:spPr>
            <a:xfrm>
              <a:off x="0" y="0"/>
              <a:ext cx="6696583" cy="998855"/>
            </a:xfrm>
            <a:custGeom>
              <a:avLst/>
              <a:gdLst/>
              <a:ahLst/>
              <a:cxnLst/>
              <a:rect l="l" t="t" r="r" b="b"/>
              <a:pathLst>
                <a:path w="6696583" h="998855">
                  <a:moveTo>
                    <a:pt x="0" y="0"/>
                  </a:moveTo>
                  <a:lnTo>
                    <a:pt x="6696583" y="0"/>
                  </a:lnTo>
                  <a:lnTo>
                    <a:pt x="6696583" y="998855"/>
                  </a:lnTo>
                  <a:lnTo>
                    <a:pt x="0" y="998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5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3163313" y="523697"/>
            <a:ext cx="2690517" cy="879592"/>
          </a:xfrm>
          <a:custGeom>
            <a:avLst/>
            <a:gdLst/>
            <a:ahLst/>
            <a:cxnLst/>
            <a:rect l="l" t="t" r="r" b="b"/>
            <a:pathLst>
              <a:path w="2690517" h="879592">
                <a:moveTo>
                  <a:pt x="0" y="0"/>
                </a:moveTo>
                <a:lnTo>
                  <a:pt x="2690518" y="0"/>
                </a:lnTo>
                <a:lnTo>
                  <a:pt x="2690518" y="879593"/>
                </a:lnTo>
                <a:lnTo>
                  <a:pt x="0" y="8795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01479" y="281194"/>
            <a:ext cx="2445886" cy="1222943"/>
          </a:xfrm>
          <a:custGeom>
            <a:avLst/>
            <a:gdLst/>
            <a:ahLst/>
            <a:cxnLst/>
            <a:rect l="l" t="t" r="r" b="b"/>
            <a:pathLst>
              <a:path w="2445886" h="1222943">
                <a:moveTo>
                  <a:pt x="0" y="0"/>
                </a:moveTo>
                <a:lnTo>
                  <a:pt x="2445886" y="0"/>
                </a:lnTo>
                <a:lnTo>
                  <a:pt x="2445886" y="1222943"/>
                </a:lnTo>
                <a:lnTo>
                  <a:pt x="0" y="12229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739206" y="471221"/>
            <a:ext cx="1040189" cy="1032916"/>
          </a:xfrm>
          <a:custGeom>
            <a:avLst/>
            <a:gdLst/>
            <a:ahLst/>
            <a:cxnLst/>
            <a:rect l="l" t="t" r="r" b="b"/>
            <a:pathLst>
              <a:path w="1040189" h="1032916">
                <a:moveTo>
                  <a:pt x="0" y="0"/>
                </a:moveTo>
                <a:lnTo>
                  <a:pt x="1040188" y="0"/>
                </a:lnTo>
                <a:lnTo>
                  <a:pt x="1040188" y="1032916"/>
                </a:lnTo>
                <a:lnTo>
                  <a:pt x="0" y="10329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633" t="-14434" r="-13983" b="-14081"/>
            </a:stretch>
          </a:blipFill>
        </p:spPr>
      </p:sp>
      <p:sp>
        <p:nvSpPr>
          <p:cNvPr id="13" name="TextBox 12"/>
          <p:cNvSpPr txBox="1"/>
          <p:nvPr/>
        </p:nvSpPr>
        <p:spPr>
          <a:xfrm>
            <a:off x="640080" y="1847088"/>
            <a:ext cx="1700784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92A2D"/>
                </a:solidFill>
                <a:latin typeface="TT Interphases Mono"/>
              </a:rPr>
              <a:t>SOLUTION EXECUTION &amp; DEMO (15%) · END-TO-END DEMO WITH WORKING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139696"/>
            <a:ext cx="170078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4181F"/>
                </a:solidFill>
                <a:latin typeface="Montserrat"/>
              </a:rPr>
              <a:t>See it work — from one command to the full console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779776"/>
            <a:ext cx="822960" cy="45720"/>
          </a:xfrm>
          <a:prstGeom prst="rect">
            <a:avLst/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3200400"/>
            <a:ext cx="17007840" cy="111556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59" y="352958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800" b="1">
                <a:solidFill>
                  <a:srgbClr val="FFFFFF"/>
                </a:solidFill>
                <a:latin typeface="League Spartan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310128"/>
            <a:ext cx="4206240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81F"/>
                </a:solidFill>
                <a:latin typeface="TT Interphases Mono"/>
              </a:rPr>
              <a:t>python -m ml.demo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310128"/>
            <a:ext cx="11521440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B6471"/>
                </a:solidFill>
                <a:latin typeface="Calibri"/>
              </a:rPr>
              <a:t>Synthetic fraud burst flows L0 → L2 → L3 → L5 → L6 → a RISK 100/100 critical alert with reason codes + narrative, contestable &amp; reproducible.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443984"/>
            <a:ext cx="17007840" cy="111556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59" y="47731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800" b="1">
                <a:solidFill>
                  <a:srgbClr val="FFFFFF"/>
                </a:solidFill>
                <a:latin typeface="League Spartan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553712"/>
            <a:ext cx="4206240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81F"/>
                </a:solidFill>
                <a:latin typeface="TT Interphases Mono"/>
              </a:rPr>
              <a:t>npm run dev  (dashboard)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553712"/>
            <a:ext cx="11521440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B6471"/>
                </a:solidFill>
                <a:latin typeface="Calibri"/>
              </a:rPr>
              <a:t>The investigator console on built-in mock data: triage queue, entity-360, explanation panel (SHAP + narrative + connection graph), review actions.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687568"/>
            <a:ext cx="17007840" cy="111556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959" y="60167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800" b="1">
                <a:solidFill>
                  <a:srgbClr val="FFFFFF"/>
                </a:solidFill>
                <a:latin typeface="League Spartan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5797296"/>
            <a:ext cx="4206240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81F"/>
                </a:solidFill>
                <a:latin typeface="TT Interphases Mono"/>
              </a:rPr>
              <a:t>python backend/run_api.py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5797296"/>
            <a:ext cx="11521440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B6471"/>
                </a:solidFill>
                <a:latin typeface="Calibri"/>
              </a:rPr>
              <a:t>The API + interactive docs at /api/v1/docs; log in as synthetic analyst / compliance / auditor; ranked queue, alert detail, EDD verdict, regulator reports.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6931152"/>
            <a:ext cx="17007840" cy="111556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59" y="72603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800" b="1">
                <a:solidFill>
                  <a:srgbClr val="FFFFFF"/>
                </a:solidFill>
                <a:latin typeface="League Spartan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7040880"/>
            <a:ext cx="4206240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81F"/>
                </a:solidFill>
                <a:latin typeface="TT Interphases Mono"/>
              </a:rPr>
              <a:t>make up  (full platform)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7040880"/>
            <a:ext cx="11521440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B6471"/>
                </a:solidFill>
                <a:latin typeface="Calibri"/>
              </a:rPr>
              <a:t>The whole ~26-service stack — Kafka, ClickHouse, Redis, Postgres, MinIO, serving, dashboards, monitoring — up together.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8174736"/>
            <a:ext cx="17007840" cy="111556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22959" y="85039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800" b="1">
                <a:solidFill>
                  <a:srgbClr val="FFFFFF"/>
                </a:solidFill>
                <a:latin typeface="League Spartan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08760" y="8284464"/>
            <a:ext cx="4206240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81F"/>
                </a:solidFill>
                <a:latin typeface="TT Interphases Mono"/>
              </a:rPr>
              <a:t>Replay Studio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8284464"/>
            <a:ext cx="11521440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B6471"/>
                </a:solidFill>
                <a:latin typeface="Calibri"/>
              </a:rPr>
              <a:t>Inject a scripted scenario — e.g. "after-hours bulk export by a treasury RM" — and watch it drive the live event tape and fire alerts.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9857232"/>
            <a:ext cx="11887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8A929E"/>
                </a:solidFill>
                <a:latin typeface="TT Interphases Mono"/>
              </a:rPr>
              <a:t>HAWK-EYE  ·  Team NINEAGENTS  ·  iDEA 2.0 · PSBs Hackathon Series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002000" y="9857232"/>
            <a:ext cx="16459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29E"/>
                </a:solidFill>
                <a:latin typeface="TT Interphases Mono"/>
              </a:rPr>
              <a:t>14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/>
          <p:cNvGrpSpPr/>
          <p:nvPr/>
        </p:nvGrpSpPr>
        <p:grpSpPr>
          <a:xfrm>
            <a:off x="0" y="0"/>
            <a:ext cx="18288000" cy="1697181"/>
            <a:chOff x="0" y="0"/>
            <a:chExt cx="4816593" cy="4469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46994"/>
            </a:xfrm>
            <a:custGeom>
              <a:avLst/>
              <a:gdLst/>
              <a:ahLst/>
              <a:cxnLst/>
              <a:rect l="l" t="t" r="r" b="b"/>
              <a:pathLst>
                <a:path w="4816592" h="446994">
                  <a:moveTo>
                    <a:pt x="0" y="0"/>
                  </a:moveTo>
                  <a:lnTo>
                    <a:pt x="4816592" y="0"/>
                  </a:lnTo>
                  <a:lnTo>
                    <a:pt x="4816592" y="446994"/>
                  </a:lnTo>
                  <a:lnTo>
                    <a:pt x="0" y="44699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85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662574" y="122606"/>
            <a:ext cx="3497653" cy="1540119"/>
          </a:xfrm>
          <a:custGeom>
            <a:avLst/>
            <a:gdLst/>
            <a:ahLst/>
            <a:cxnLst/>
            <a:rect l="l" t="t" r="r" b="b"/>
            <a:pathLst>
              <a:path w="3497653" h="1540119">
                <a:moveTo>
                  <a:pt x="0" y="0"/>
                </a:moveTo>
                <a:lnTo>
                  <a:pt x="3497653" y="0"/>
                </a:lnTo>
                <a:lnTo>
                  <a:pt x="3497653" y="1540119"/>
                </a:lnTo>
                <a:lnTo>
                  <a:pt x="0" y="15401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6230" t="-89762" r="-26367" b="-156792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0969852" y="588904"/>
            <a:ext cx="5022437" cy="749179"/>
            <a:chOff x="0" y="0"/>
            <a:chExt cx="6696583" cy="998906"/>
          </a:xfrm>
        </p:grpSpPr>
        <p:sp>
          <p:nvSpPr>
            <p:cNvPr id="7" name="Freeform 7" descr="A red blue and white logo  Description automatically generated"/>
            <p:cNvSpPr/>
            <p:nvPr/>
          </p:nvSpPr>
          <p:spPr>
            <a:xfrm>
              <a:off x="0" y="0"/>
              <a:ext cx="6696583" cy="998855"/>
            </a:xfrm>
            <a:custGeom>
              <a:avLst/>
              <a:gdLst/>
              <a:ahLst/>
              <a:cxnLst/>
              <a:rect l="l" t="t" r="r" b="b"/>
              <a:pathLst>
                <a:path w="6696583" h="998855">
                  <a:moveTo>
                    <a:pt x="0" y="0"/>
                  </a:moveTo>
                  <a:lnTo>
                    <a:pt x="6696583" y="0"/>
                  </a:lnTo>
                  <a:lnTo>
                    <a:pt x="6696583" y="998855"/>
                  </a:lnTo>
                  <a:lnTo>
                    <a:pt x="0" y="998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5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3163313" y="523697"/>
            <a:ext cx="2690517" cy="879592"/>
          </a:xfrm>
          <a:custGeom>
            <a:avLst/>
            <a:gdLst/>
            <a:ahLst/>
            <a:cxnLst/>
            <a:rect l="l" t="t" r="r" b="b"/>
            <a:pathLst>
              <a:path w="2690517" h="879592">
                <a:moveTo>
                  <a:pt x="0" y="0"/>
                </a:moveTo>
                <a:lnTo>
                  <a:pt x="2690518" y="0"/>
                </a:lnTo>
                <a:lnTo>
                  <a:pt x="2690518" y="879593"/>
                </a:lnTo>
                <a:lnTo>
                  <a:pt x="0" y="8795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01479" y="281194"/>
            <a:ext cx="2445886" cy="1222943"/>
          </a:xfrm>
          <a:custGeom>
            <a:avLst/>
            <a:gdLst/>
            <a:ahLst/>
            <a:cxnLst/>
            <a:rect l="l" t="t" r="r" b="b"/>
            <a:pathLst>
              <a:path w="2445886" h="1222943">
                <a:moveTo>
                  <a:pt x="0" y="0"/>
                </a:moveTo>
                <a:lnTo>
                  <a:pt x="2445886" y="0"/>
                </a:lnTo>
                <a:lnTo>
                  <a:pt x="2445886" y="1222943"/>
                </a:lnTo>
                <a:lnTo>
                  <a:pt x="0" y="12229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739206" y="471221"/>
            <a:ext cx="1040189" cy="1032916"/>
          </a:xfrm>
          <a:custGeom>
            <a:avLst/>
            <a:gdLst/>
            <a:ahLst/>
            <a:cxnLst/>
            <a:rect l="l" t="t" r="r" b="b"/>
            <a:pathLst>
              <a:path w="1040189" h="1032916">
                <a:moveTo>
                  <a:pt x="0" y="0"/>
                </a:moveTo>
                <a:lnTo>
                  <a:pt x="1040188" y="0"/>
                </a:lnTo>
                <a:lnTo>
                  <a:pt x="1040188" y="1032916"/>
                </a:lnTo>
                <a:lnTo>
                  <a:pt x="0" y="10329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633" t="-14434" r="-13983" b="-14081"/>
            </a:stretch>
          </a:blipFill>
        </p:spPr>
      </p:sp>
      <p:sp>
        <p:nvSpPr>
          <p:cNvPr id="13" name="TextBox 12"/>
          <p:cNvSpPr txBox="1"/>
          <p:nvPr/>
        </p:nvSpPr>
        <p:spPr>
          <a:xfrm>
            <a:off x="640080" y="1847088"/>
            <a:ext cx="1700784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92A2D"/>
                </a:solidFill>
                <a:latin typeface="TT Interphases Mono"/>
              </a:rPr>
              <a:t>SOLUTION EXECUTION &amp; DEMO (15%) · USER EXPERIENCE &amp; 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139696"/>
            <a:ext cx="170078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4181F"/>
                </a:solidFill>
                <a:latin typeface="Montserrat"/>
              </a:rPr>
              <a:t>Investigator console (L7): triage → investigate → decide → learn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779776"/>
            <a:ext cx="822960" cy="45720"/>
          </a:xfrm>
          <a:prstGeom prst="rect">
            <a:avLst/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3200400"/>
            <a:ext cx="3874770" cy="777240"/>
          </a:xfrm>
          <a:prstGeom prst="roundRect">
            <a:avLst>
              <a:gd name="adj" fmla="val 6000"/>
            </a:avLst>
          </a:prstGeom>
          <a:solidFill>
            <a:srgbClr val="FBECEC"/>
          </a:solidFill>
          <a:ln w="15240">
            <a:solidFill>
              <a:srgbClr val="E92A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19" y="3200400"/>
            <a:ext cx="3691890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4181F"/>
                </a:solidFill>
                <a:latin typeface="Montserrat"/>
              </a:rPr>
              <a:t>Alert fires (ranked)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588002" y="3447288"/>
            <a:ext cx="365760" cy="292608"/>
          </a:xfrm>
          <a:prstGeom prst="rightArrow">
            <a:avLst/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17770" y="3200400"/>
            <a:ext cx="3874770" cy="777240"/>
          </a:xfrm>
          <a:prstGeom prst="roundRect">
            <a:avLst>
              <a:gd name="adj" fmla="val 6000"/>
            </a:avLst>
          </a:prstGeom>
          <a:solidFill>
            <a:srgbClr val="FBECEC"/>
          </a:solidFill>
          <a:ln w="15240">
            <a:solidFill>
              <a:srgbClr val="E92A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09210" y="3200400"/>
            <a:ext cx="3691890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4181F"/>
                </a:solidFill>
                <a:latin typeface="Montserrat"/>
              </a:rPr>
              <a:t>Investigate (SHAP + graph)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965692" y="3447288"/>
            <a:ext cx="365760" cy="292608"/>
          </a:xfrm>
          <a:prstGeom prst="rightArrow">
            <a:avLst/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395460" y="3200400"/>
            <a:ext cx="3874770" cy="777240"/>
          </a:xfrm>
          <a:prstGeom prst="roundRect">
            <a:avLst>
              <a:gd name="adj" fmla="val 6000"/>
            </a:avLst>
          </a:prstGeom>
          <a:solidFill>
            <a:srgbClr val="FBECEC"/>
          </a:solidFill>
          <a:ln w="15240">
            <a:solidFill>
              <a:srgbClr val="E92A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86900" y="3200400"/>
            <a:ext cx="3691890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4181F"/>
                </a:solidFill>
                <a:latin typeface="Montserrat"/>
              </a:rPr>
              <a:t>Decide (EDD verdict)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13343382" y="3447288"/>
            <a:ext cx="365760" cy="292608"/>
          </a:xfrm>
          <a:prstGeom prst="rightArrow">
            <a:avLst/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3773150" y="3200400"/>
            <a:ext cx="3874770" cy="777240"/>
          </a:xfrm>
          <a:prstGeom prst="roundRect">
            <a:avLst>
              <a:gd name="adj" fmla="val 6000"/>
            </a:avLst>
          </a:prstGeom>
          <a:solidFill>
            <a:srgbClr val="FBECEC"/>
          </a:solidFill>
          <a:ln w="15240">
            <a:solidFill>
              <a:srgbClr val="E92A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864590" y="3200400"/>
            <a:ext cx="3691890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4181F"/>
                </a:solidFill>
                <a:latin typeface="Montserrat"/>
              </a:rPr>
              <a:t>Learn (verdict → label)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297680"/>
            <a:ext cx="8183879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0080" y="4297680"/>
            <a:ext cx="8183879" cy="420624"/>
          </a:xfrm>
          <a:prstGeom prst="roundRect">
            <a:avLst>
              <a:gd name="adj" fmla="val 6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4517136"/>
            <a:ext cx="8183879" cy="20116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1" y="4334256"/>
            <a:ext cx="7909559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ontserrat"/>
              </a:rPr>
              <a:t>WHAT THE INVESTIGATOR SEES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4828032"/>
            <a:ext cx="7872983" cy="448055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50" b="0" i="0">
                <a:solidFill>
                  <a:srgbClr val="14181F"/>
                </a:solidFill>
                <a:latin typeface="Calibri"/>
              </a:rPr>
              <a:t>▸  Ranked triage queue — one alert per entity, severity-colored, sortable/filterable, bulk-select, RBAC-gated actions.</a:t>
            </a:r>
          </a:p>
          <a:p>
            <a:pPr algn="l">
              <a:lnSpc>
                <a:spcPct val="102000"/>
              </a:lnSpc>
              <a:spcBef>
                <a:spcPts val="700"/>
              </a:spcBef>
            </a:pPr>
            <a:r>
              <a:rPr sz="1350" b="0" i="0">
                <a:solidFill>
                  <a:srgbClr val="14181F"/>
                </a:solidFill>
                <a:latin typeface="Calibri"/>
              </a:rPr>
              <a:t>▸  Entity-360 timeline — the user's history, score-over-time, and a 7×24 off-hours heatmap.</a:t>
            </a:r>
          </a:p>
          <a:p>
            <a:pPr algn="l">
              <a:lnSpc>
                <a:spcPct val="102000"/>
              </a:lnSpc>
              <a:spcBef>
                <a:spcPts val="700"/>
              </a:spcBef>
            </a:pPr>
            <a:r>
              <a:rPr sz="1350" b="0" i="0">
                <a:solidFill>
                  <a:srgbClr val="14181F"/>
                </a:solidFill>
                <a:latin typeface="Calibri"/>
              </a:rPr>
              <a:t>▸  Explanation panel — SHAP contributions + rule provenance + the AI narrative + a Cytoscape connection graph (expand / find-path).</a:t>
            </a:r>
          </a:p>
          <a:p>
            <a:pPr algn="l">
              <a:lnSpc>
                <a:spcPct val="102000"/>
              </a:lnSpc>
              <a:spcBef>
                <a:spcPts val="700"/>
              </a:spcBef>
            </a:pPr>
            <a:r>
              <a:rPr sz="1350" b="0" i="0">
                <a:solidFill>
                  <a:srgbClr val="14181F"/>
                </a:solidFill>
                <a:latin typeface="Calibri"/>
              </a:rPr>
              <a:t>▸  EDD disposition — the investigator's verdict (fraud / false-positive / inconclusive) that teaches the system.</a:t>
            </a:r>
          </a:p>
          <a:p>
            <a:pPr algn="l">
              <a:lnSpc>
                <a:spcPct val="102000"/>
              </a:lnSpc>
              <a:spcBef>
                <a:spcPts val="700"/>
              </a:spcBef>
            </a:pPr>
            <a:r>
              <a:rPr sz="1350" b="0" i="0">
                <a:solidFill>
                  <a:srgbClr val="14181F"/>
                </a:solidFill>
                <a:latin typeface="Calibri"/>
              </a:rPr>
              <a:t>▸  Masked PII by default; RBAC-gated, audited unmask.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0" y="4297680"/>
            <a:ext cx="786384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144000" y="4297680"/>
            <a:ext cx="7863840" cy="420624"/>
          </a:xfrm>
          <a:prstGeom prst="roundRect">
            <a:avLst>
              <a:gd name="adj" fmla="val 6000"/>
            </a:avLst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4000" y="4517136"/>
            <a:ext cx="7863840" cy="201168"/>
          </a:xfrm>
          <a:prstGeom prst="rect">
            <a:avLst/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08592" y="4334256"/>
            <a:ext cx="7589519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ontserrat"/>
              </a:rPr>
              <a:t>A TERMINAL, NOT A DASHBOARD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08592" y="4828032"/>
            <a:ext cx="7552944" cy="448055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50" b="0" i="0">
                <a:solidFill>
                  <a:srgbClr val="14181F"/>
                </a:solidFill>
                <a:latin typeface="Calibri"/>
              </a:rPr>
              <a:t>▸  Bloomberg-terminal aesthetic — live status bar (clock + service health + EPS), streaming event tape, score gauges, tokenized severity everywhere.</a:t>
            </a:r>
          </a:p>
          <a:p>
            <a:pPr algn="l">
              <a:lnSpc>
                <a:spcPct val="102000"/>
              </a:lnSpc>
              <a:spcBef>
                <a:spcPts val="700"/>
              </a:spcBef>
            </a:pPr>
            <a:r>
              <a:rPr sz="1350" b="0" i="0">
                <a:solidFill>
                  <a:srgbClr val="14181F"/>
                </a:solidFill>
                <a:latin typeface="Calibri"/>
              </a:rPr>
              <a:t>▸  Never-empty demo states + a first-run onboarding overlay + one "load demo scenario" button — legible to a 60-second evaluator.</a:t>
            </a:r>
          </a:p>
          <a:p>
            <a:pPr algn="l">
              <a:lnSpc>
                <a:spcPct val="102000"/>
              </a:lnSpc>
              <a:spcBef>
                <a:spcPts val="700"/>
              </a:spcBef>
            </a:pPr>
            <a:r>
              <a:rPr sz="1350" b="0" i="0">
                <a:solidFill>
                  <a:srgbClr val="14181F"/>
                </a:solidFill>
                <a:latin typeface="Calibri"/>
              </a:rPr>
              <a:t>▸  Five roles with capability gating; contract + Playwright e2e tests keep the UX honest against the API.</a:t>
            </a:r>
          </a:p>
          <a:p>
            <a:pPr algn="l">
              <a:lnSpc>
                <a:spcPct val="102000"/>
              </a:lnSpc>
              <a:spcBef>
                <a:spcPts val="700"/>
              </a:spcBef>
            </a:pPr>
            <a:r>
              <a:rPr sz="1350" b="0" i="0">
                <a:solidFill>
                  <a:srgbClr val="E92A2D"/>
                </a:solidFill>
                <a:latin typeface="Calibri"/>
              </a:rPr>
              <a:t>▸  82 React components (Radix + CVA), built to grade — correctness first, terminal soul on top.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9857232"/>
            <a:ext cx="11887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8A929E"/>
                </a:solidFill>
                <a:latin typeface="TT Interphases Mono"/>
              </a:rPr>
              <a:t>HAWK-EYE  ·  Team NINEAGENTS  ·  iDEA 2.0 · PSBs Hackathon Series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002000" y="9857232"/>
            <a:ext cx="16459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29E"/>
                </a:solidFill>
                <a:latin typeface="TT Interphases Mono"/>
              </a:rPr>
              <a:t>15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/>
          <p:cNvGrpSpPr/>
          <p:nvPr/>
        </p:nvGrpSpPr>
        <p:grpSpPr>
          <a:xfrm>
            <a:off x="0" y="0"/>
            <a:ext cx="18288000" cy="1697181"/>
            <a:chOff x="0" y="0"/>
            <a:chExt cx="4816593" cy="4469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46994"/>
            </a:xfrm>
            <a:custGeom>
              <a:avLst/>
              <a:gdLst/>
              <a:ahLst/>
              <a:cxnLst/>
              <a:rect l="l" t="t" r="r" b="b"/>
              <a:pathLst>
                <a:path w="4816592" h="446994">
                  <a:moveTo>
                    <a:pt x="0" y="0"/>
                  </a:moveTo>
                  <a:lnTo>
                    <a:pt x="4816592" y="0"/>
                  </a:lnTo>
                  <a:lnTo>
                    <a:pt x="4816592" y="446994"/>
                  </a:lnTo>
                  <a:lnTo>
                    <a:pt x="0" y="44699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85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662574" y="122606"/>
            <a:ext cx="3497653" cy="1540119"/>
          </a:xfrm>
          <a:custGeom>
            <a:avLst/>
            <a:gdLst/>
            <a:ahLst/>
            <a:cxnLst/>
            <a:rect l="l" t="t" r="r" b="b"/>
            <a:pathLst>
              <a:path w="3497653" h="1540119">
                <a:moveTo>
                  <a:pt x="0" y="0"/>
                </a:moveTo>
                <a:lnTo>
                  <a:pt x="3497653" y="0"/>
                </a:lnTo>
                <a:lnTo>
                  <a:pt x="3497653" y="1540119"/>
                </a:lnTo>
                <a:lnTo>
                  <a:pt x="0" y="15401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6230" t="-89762" r="-26367" b="-156792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0969852" y="588904"/>
            <a:ext cx="5022437" cy="749179"/>
            <a:chOff x="0" y="0"/>
            <a:chExt cx="6696583" cy="998906"/>
          </a:xfrm>
        </p:grpSpPr>
        <p:sp>
          <p:nvSpPr>
            <p:cNvPr id="7" name="Freeform 7" descr="A red blue and white logo  Description automatically generated"/>
            <p:cNvSpPr/>
            <p:nvPr/>
          </p:nvSpPr>
          <p:spPr>
            <a:xfrm>
              <a:off x="0" y="0"/>
              <a:ext cx="6696583" cy="998855"/>
            </a:xfrm>
            <a:custGeom>
              <a:avLst/>
              <a:gdLst/>
              <a:ahLst/>
              <a:cxnLst/>
              <a:rect l="l" t="t" r="r" b="b"/>
              <a:pathLst>
                <a:path w="6696583" h="998855">
                  <a:moveTo>
                    <a:pt x="0" y="0"/>
                  </a:moveTo>
                  <a:lnTo>
                    <a:pt x="6696583" y="0"/>
                  </a:lnTo>
                  <a:lnTo>
                    <a:pt x="6696583" y="998855"/>
                  </a:lnTo>
                  <a:lnTo>
                    <a:pt x="0" y="998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5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3163313" y="523697"/>
            <a:ext cx="2690517" cy="879592"/>
          </a:xfrm>
          <a:custGeom>
            <a:avLst/>
            <a:gdLst/>
            <a:ahLst/>
            <a:cxnLst/>
            <a:rect l="l" t="t" r="r" b="b"/>
            <a:pathLst>
              <a:path w="2690517" h="879592">
                <a:moveTo>
                  <a:pt x="0" y="0"/>
                </a:moveTo>
                <a:lnTo>
                  <a:pt x="2690518" y="0"/>
                </a:lnTo>
                <a:lnTo>
                  <a:pt x="2690518" y="879593"/>
                </a:lnTo>
                <a:lnTo>
                  <a:pt x="0" y="8795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01479" y="281194"/>
            <a:ext cx="2445886" cy="1222943"/>
          </a:xfrm>
          <a:custGeom>
            <a:avLst/>
            <a:gdLst/>
            <a:ahLst/>
            <a:cxnLst/>
            <a:rect l="l" t="t" r="r" b="b"/>
            <a:pathLst>
              <a:path w="2445886" h="1222943">
                <a:moveTo>
                  <a:pt x="0" y="0"/>
                </a:moveTo>
                <a:lnTo>
                  <a:pt x="2445886" y="0"/>
                </a:lnTo>
                <a:lnTo>
                  <a:pt x="2445886" y="1222943"/>
                </a:lnTo>
                <a:lnTo>
                  <a:pt x="0" y="12229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739206" y="471221"/>
            <a:ext cx="1040189" cy="1032916"/>
          </a:xfrm>
          <a:custGeom>
            <a:avLst/>
            <a:gdLst/>
            <a:ahLst/>
            <a:cxnLst/>
            <a:rect l="l" t="t" r="r" b="b"/>
            <a:pathLst>
              <a:path w="1040189" h="1032916">
                <a:moveTo>
                  <a:pt x="0" y="0"/>
                </a:moveTo>
                <a:lnTo>
                  <a:pt x="1040188" y="0"/>
                </a:lnTo>
                <a:lnTo>
                  <a:pt x="1040188" y="1032916"/>
                </a:lnTo>
                <a:lnTo>
                  <a:pt x="0" y="10329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633" t="-14434" r="-13983" b="-14081"/>
            </a:stretch>
          </a:blipFill>
        </p:spPr>
      </p:sp>
      <p:sp>
        <p:nvSpPr>
          <p:cNvPr id="13" name="TextBox 12"/>
          <p:cNvSpPr txBox="1"/>
          <p:nvPr/>
        </p:nvSpPr>
        <p:spPr>
          <a:xfrm>
            <a:off x="640080" y="1847088"/>
            <a:ext cx="1700784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92A2D"/>
                </a:solidFill>
                <a:latin typeface="TT Interphases Mono"/>
              </a:rPr>
              <a:t>COMMERCIALIZATION &amp; STARTUP POTENTIAL (10%) · BUSINESS VIABILITY &amp; MARKET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139696"/>
            <a:ext cx="170078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4181F"/>
                </a:solidFill>
                <a:latin typeface="Montserrat"/>
              </a:rPr>
              <a:t>Viable, with a real wedge — a market pulled by regulation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779776"/>
            <a:ext cx="822960" cy="45720"/>
          </a:xfrm>
          <a:prstGeom prst="rect">
            <a:avLst/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3200400"/>
            <a:ext cx="8183879" cy="6217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3200400"/>
            <a:ext cx="8183879" cy="420624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419856"/>
            <a:ext cx="8183879" cy="2011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" y="3236976"/>
            <a:ext cx="7909559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ontserrat"/>
              </a:rPr>
              <a:t>THE PROBLEM IS HUGE, GROWING &amp; POORLY SERVED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3730752"/>
            <a:ext cx="7872983" cy="5577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400" b="0" i="0">
                <a:solidFill>
                  <a:srgbClr val="14181F"/>
                </a:solidFill>
                <a:latin typeface="Calibri"/>
              </a:rPr>
              <a:t>▸  ₹36,014 Cr (~$4.2 B) of bank fraud reported in FY25 — up 194% YoY; PSBs alone = ₹25,667 Cr (RBI Annual Report 2024-25).</a:t>
            </a:r>
          </a:p>
          <a:p>
            <a:pPr algn="l">
              <a:lnSpc>
                <a:spcPct val="102000"/>
              </a:lnSpc>
              <a:spcBef>
                <a:spcPts val="900"/>
              </a:spcBef>
            </a:pPr>
            <a:r>
              <a:rPr sz="1400" b="0" i="0">
                <a:solidFill>
                  <a:srgbClr val="14181F"/>
                </a:solidFill>
                <a:latin typeface="Calibri"/>
              </a:rPr>
              <a:t>▸  Insider fraud runs a median ~12 months before detection; 43% is caught by TIPS not systems; banking is the largest sector studied (ACFE 2024).</a:t>
            </a:r>
          </a:p>
          <a:p>
            <a:pPr algn="l">
              <a:lnSpc>
                <a:spcPct val="102000"/>
              </a:lnSpc>
              <a:spcBef>
                <a:spcPts val="900"/>
              </a:spcBef>
            </a:pPr>
            <a:r>
              <a:rPr sz="1400" b="1" i="0">
                <a:solidFill>
                  <a:srgbClr val="1E9E5A"/>
                </a:solidFill>
                <a:latin typeface="Calibri"/>
              </a:rPr>
              <a:t>▸  Proactive data-monitoring is one of only FOUR controls tied to a ≥50% cut in BOTH loss and duration — that is the value thesis in one line.</a:t>
            </a:r>
          </a:p>
          <a:p>
            <a:pPr algn="l">
              <a:lnSpc>
                <a:spcPct val="102000"/>
              </a:lnSpc>
              <a:spcBef>
                <a:spcPts val="900"/>
              </a:spcBef>
            </a:pPr>
            <a:r>
              <a:rPr sz="1400" b="0" i="0">
                <a:solidFill>
                  <a:srgbClr val="E92A2D"/>
                </a:solidFill>
                <a:latin typeface="Calibri"/>
              </a:rPr>
              <a:t>▸  Today's tools are transaction-fraud / AML engines — the insider &amp; privileged-user surface is acute pain, poorly served.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3200400"/>
            <a:ext cx="7863840" cy="6217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0" y="3200400"/>
            <a:ext cx="7863840" cy="420624"/>
          </a:xfrm>
          <a:prstGeom prst="roundRect">
            <a:avLst>
              <a:gd name="adj" fmla="val 6000"/>
            </a:avLst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3419856"/>
            <a:ext cx="7863840" cy="201168"/>
          </a:xfrm>
          <a:prstGeom prst="rect">
            <a:avLst/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08592" y="3236976"/>
            <a:ext cx="7589519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ontserrat"/>
              </a:rPr>
              <a:t>MARKET SIZING  (TAM / SAM / SOM)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8592" y="3730752"/>
            <a:ext cx="7552944" cy="5577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50" b="1" i="0">
                <a:solidFill>
                  <a:srgbClr val="14181F"/>
                </a:solidFill>
                <a:latin typeface="TT Interphases Mono"/>
              </a:rPr>
              <a:t>TAM  global fraud detection &amp; prevention ~$32.8 B (2024) → $65.68 B (2030). Purest-fit insider-threat detection $0.42 B → $1.81 B @ 27.9% CAGR.</a:t>
            </a:r>
          </a:p>
          <a:p>
            <a:pPr algn="l">
              <a:lnSpc>
                <a:spcPct val="102000"/>
              </a:lnSpc>
              <a:spcBef>
                <a:spcPts val="900"/>
              </a:spcBef>
            </a:pPr>
            <a:r>
              <a:rPr sz="1350" b="1" i="0">
                <a:solidFill>
                  <a:srgbClr val="14181F"/>
                </a:solidFill>
                <a:latin typeface="TT Interphases Mono"/>
              </a:rPr>
              <a:t>SAM  India fraud-detection $1.28 B → $3.89 B @ 20.9% CAGR; realistic BFSI-insider subset ~$0.35–0.55 B → $1.0–1.3 B.</a:t>
            </a:r>
          </a:p>
          <a:p>
            <a:pPr algn="l">
              <a:lnSpc>
                <a:spcPct val="102000"/>
              </a:lnSpc>
              <a:spcBef>
                <a:spcPts val="900"/>
              </a:spcBef>
            </a:pPr>
            <a:r>
              <a:rPr sz="1350" b="1" i="0">
                <a:solidFill>
                  <a:srgbClr val="14181F"/>
                </a:solidFill>
                <a:latin typeface="TT Interphases Mono"/>
              </a:rPr>
              <a:t>SOM  bottom-up ₹1.2 Cr ARR (Yr 1) → ₹50 Cr (~$6 M) ARR / 50 customers by Yr 5 = &lt;3% of just the ~150–200 large-bank segment (deliberately conservative).</a:t>
            </a:r>
          </a:p>
          <a:p>
            <a:pPr algn="l">
              <a:lnSpc>
                <a:spcPct val="102000"/>
              </a:lnSpc>
              <a:spcBef>
                <a:spcPts val="1000"/>
              </a:spcBef>
            </a:pPr>
            <a:r>
              <a:rPr sz="1150" b="0" i="1">
                <a:solidFill>
                  <a:srgbClr val="8A929E"/>
                </a:solidFill>
                <a:latin typeface="Calibri"/>
              </a:rPr>
              <a:t>Sources in the business-viability file — RBI AR 2024-25, ACFE 2024, market-research CAGRs, Carta 2024 fintech medians.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9857232"/>
            <a:ext cx="11887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8A929E"/>
                </a:solidFill>
                <a:latin typeface="TT Interphases Mono"/>
              </a:rPr>
              <a:t>HAWK-EYE  ·  Team NINEAGENTS  ·  iDEA 2.0 · PSBs Hackathon Series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0" y="9857232"/>
            <a:ext cx="16459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29E"/>
                </a:solidFill>
                <a:latin typeface="TT Interphases Mono"/>
              </a:rPr>
              <a:t>16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/>
          <p:cNvGrpSpPr/>
          <p:nvPr/>
        </p:nvGrpSpPr>
        <p:grpSpPr>
          <a:xfrm>
            <a:off x="0" y="0"/>
            <a:ext cx="18288000" cy="1697181"/>
            <a:chOff x="0" y="0"/>
            <a:chExt cx="4816593" cy="4469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46994"/>
            </a:xfrm>
            <a:custGeom>
              <a:avLst/>
              <a:gdLst/>
              <a:ahLst/>
              <a:cxnLst/>
              <a:rect l="l" t="t" r="r" b="b"/>
              <a:pathLst>
                <a:path w="4816592" h="446994">
                  <a:moveTo>
                    <a:pt x="0" y="0"/>
                  </a:moveTo>
                  <a:lnTo>
                    <a:pt x="4816592" y="0"/>
                  </a:lnTo>
                  <a:lnTo>
                    <a:pt x="4816592" y="446994"/>
                  </a:lnTo>
                  <a:lnTo>
                    <a:pt x="0" y="44699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85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662574" y="122606"/>
            <a:ext cx="3497653" cy="1540119"/>
          </a:xfrm>
          <a:custGeom>
            <a:avLst/>
            <a:gdLst/>
            <a:ahLst/>
            <a:cxnLst/>
            <a:rect l="l" t="t" r="r" b="b"/>
            <a:pathLst>
              <a:path w="3497653" h="1540119">
                <a:moveTo>
                  <a:pt x="0" y="0"/>
                </a:moveTo>
                <a:lnTo>
                  <a:pt x="3497653" y="0"/>
                </a:lnTo>
                <a:lnTo>
                  <a:pt x="3497653" y="1540119"/>
                </a:lnTo>
                <a:lnTo>
                  <a:pt x="0" y="15401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6230" t="-89762" r="-26367" b="-156792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0969852" y="588904"/>
            <a:ext cx="5022437" cy="749179"/>
            <a:chOff x="0" y="0"/>
            <a:chExt cx="6696583" cy="998906"/>
          </a:xfrm>
        </p:grpSpPr>
        <p:sp>
          <p:nvSpPr>
            <p:cNvPr id="7" name="Freeform 7" descr="A red blue and white logo  Description automatically generated"/>
            <p:cNvSpPr/>
            <p:nvPr/>
          </p:nvSpPr>
          <p:spPr>
            <a:xfrm>
              <a:off x="0" y="0"/>
              <a:ext cx="6696583" cy="998855"/>
            </a:xfrm>
            <a:custGeom>
              <a:avLst/>
              <a:gdLst/>
              <a:ahLst/>
              <a:cxnLst/>
              <a:rect l="l" t="t" r="r" b="b"/>
              <a:pathLst>
                <a:path w="6696583" h="998855">
                  <a:moveTo>
                    <a:pt x="0" y="0"/>
                  </a:moveTo>
                  <a:lnTo>
                    <a:pt x="6696583" y="0"/>
                  </a:lnTo>
                  <a:lnTo>
                    <a:pt x="6696583" y="998855"/>
                  </a:lnTo>
                  <a:lnTo>
                    <a:pt x="0" y="998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5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3163313" y="523697"/>
            <a:ext cx="2690517" cy="879592"/>
          </a:xfrm>
          <a:custGeom>
            <a:avLst/>
            <a:gdLst/>
            <a:ahLst/>
            <a:cxnLst/>
            <a:rect l="l" t="t" r="r" b="b"/>
            <a:pathLst>
              <a:path w="2690517" h="879592">
                <a:moveTo>
                  <a:pt x="0" y="0"/>
                </a:moveTo>
                <a:lnTo>
                  <a:pt x="2690518" y="0"/>
                </a:lnTo>
                <a:lnTo>
                  <a:pt x="2690518" y="879593"/>
                </a:lnTo>
                <a:lnTo>
                  <a:pt x="0" y="8795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01479" y="281194"/>
            <a:ext cx="2445886" cy="1222943"/>
          </a:xfrm>
          <a:custGeom>
            <a:avLst/>
            <a:gdLst/>
            <a:ahLst/>
            <a:cxnLst/>
            <a:rect l="l" t="t" r="r" b="b"/>
            <a:pathLst>
              <a:path w="2445886" h="1222943">
                <a:moveTo>
                  <a:pt x="0" y="0"/>
                </a:moveTo>
                <a:lnTo>
                  <a:pt x="2445886" y="0"/>
                </a:lnTo>
                <a:lnTo>
                  <a:pt x="2445886" y="1222943"/>
                </a:lnTo>
                <a:lnTo>
                  <a:pt x="0" y="12229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739206" y="471221"/>
            <a:ext cx="1040189" cy="1032916"/>
          </a:xfrm>
          <a:custGeom>
            <a:avLst/>
            <a:gdLst/>
            <a:ahLst/>
            <a:cxnLst/>
            <a:rect l="l" t="t" r="r" b="b"/>
            <a:pathLst>
              <a:path w="1040189" h="1032916">
                <a:moveTo>
                  <a:pt x="0" y="0"/>
                </a:moveTo>
                <a:lnTo>
                  <a:pt x="1040188" y="0"/>
                </a:lnTo>
                <a:lnTo>
                  <a:pt x="1040188" y="1032916"/>
                </a:lnTo>
                <a:lnTo>
                  <a:pt x="0" y="10329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633" t="-14434" r="-13983" b="-14081"/>
            </a:stretch>
          </a:blipFill>
        </p:spPr>
      </p:sp>
      <p:sp>
        <p:nvSpPr>
          <p:cNvPr id="13" name="TextBox 12"/>
          <p:cNvSpPr txBox="1"/>
          <p:nvPr/>
        </p:nvSpPr>
        <p:spPr>
          <a:xfrm>
            <a:off x="640080" y="1847088"/>
            <a:ext cx="1700784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92A2D"/>
                </a:solidFill>
                <a:latin typeface="TT Interphases Mono"/>
              </a:rPr>
              <a:t>COMMERCIALIZATION &amp; STARTUP POTENTIAL (10%) · COMPETITION &amp; DEFENSIBILITY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139696"/>
            <a:ext cx="170078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4181F"/>
                </a:solidFill>
                <a:latin typeface="Montserrat"/>
              </a:rPr>
              <a:t>A challenger with a defensible wedge incumbents don't serve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779776"/>
            <a:ext cx="822960" cy="45720"/>
          </a:xfrm>
          <a:prstGeom prst="rect">
            <a:avLst/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3200400"/>
            <a:ext cx="8183879" cy="6217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3200400"/>
            <a:ext cx="8183879" cy="420624"/>
          </a:xfrm>
          <a:prstGeom prst="roundRect">
            <a:avLst>
              <a:gd name="adj" fmla="val 6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419856"/>
            <a:ext cx="8183879" cy="20116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" y="3236976"/>
            <a:ext cx="7909559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ontserrat"/>
              </a:rPr>
              <a:t>INCUMBENTS  (strong on transaction-fraud / AML)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3730752"/>
            <a:ext cx="7872983" cy="5577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400" b="0" i="0">
                <a:solidFill>
                  <a:srgbClr val="14181F"/>
                </a:solidFill>
                <a:latin typeface="Calibri"/>
              </a:rPr>
              <a:t>•  Feedzai — ~$2 B unicorn.</a:t>
            </a:r>
          </a:p>
          <a:p>
            <a:pPr algn="l">
              <a:lnSpc>
                <a:spcPct val="102000"/>
              </a:lnSpc>
              <a:spcBef>
                <a:spcPts val="800"/>
              </a:spcBef>
            </a:pPr>
            <a:r>
              <a:rPr sz="1400" b="0" i="0">
                <a:solidFill>
                  <a:srgbClr val="14181F"/>
                </a:solidFill>
                <a:latin typeface="Calibri"/>
              </a:rPr>
              <a:t>•  Featurespace — acquired by Visa (Dec 2024, ~$925 M).</a:t>
            </a:r>
          </a:p>
          <a:p>
            <a:pPr algn="l">
              <a:lnSpc>
                <a:spcPct val="102000"/>
              </a:lnSpc>
              <a:spcBef>
                <a:spcPts val="800"/>
              </a:spcBef>
            </a:pPr>
            <a:r>
              <a:rPr sz="1400" b="0" i="0">
                <a:solidFill>
                  <a:srgbClr val="14181F"/>
                </a:solidFill>
                <a:latin typeface="Calibri"/>
              </a:rPr>
              <a:t>•  NICE Actimize — established market leader.</a:t>
            </a:r>
          </a:p>
          <a:p>
            <a:pPr algn="l">
              <a:lnSpc>
                <a:spcPct val="102000"/>
              </a:lnSpc>
              <a:spcBef>
                <a:spcPts val="1000"/>
              </a:spcBef>
            </a:pPr>
            <a:r>
              <a:rPr sz="1400" b="1" i="0">
                <a:solidFill>
                  <a:srgbClr val="E92A2D"/>
                </a:solidFill>
                <a:latin typeface="Calibri"/>
              </a:rPr>
              <a:t>▸  All strong on transaction fraud &amp; AML — but NONE is built for on-prem, India-sovereign, insider-focused, alert-only, CRILC / FMR-native detection.</a:t>
            </a:r>
          </a:p>
          <a:p>
            <a:pPr algn="l">
              <a:lnSpc>
                <a:spcPct val="102000"/>
              </a:lnSpc>
              <a:spcBef>
                <a:spcPts val="800"/>
              </a:spcBef>
            </a:pPr>
            <a:r>
              <a:rPr sz="1400" b="0" i="1">
                <a:solidFill>
                  <a:srgbClr val="14181F"/>
                </a:solidFill>
                <a:latin typeface="Calibri"/>
              </a:rPr>
              <a:t>That seam is our defensibility.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3200400"/>
            <a:ext cx="7863840" cy="6217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0" y="3200400"/>
            <a:ext cx="7863840" cy="420624"/>
          </a:xfrm>
          <a:prstGeom prst="roundRect">
            <a:avLst>
              <a:gd name="adj" fmla="val 6000"/>
            </a:avLst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3419856"/>
            <a:ext cx="7863840" cy="201168"/>
          </a:xfrm>
          <a:prstGeom prst="rect">
            <a:avLst/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08592" y="3236976"/>
            <a:ext cx="7589519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ontserrat"/>
              </a:rPr>
              <a:t>OUR WEDGE + UNIT ECONOMICS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8592" y="3730752"/>
            <a:ext cx="7552944" cy="5577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400" b="1" i="0">
                <a:solidFill>
                  <a:srgbClr val="14181F"/>
                </a:solidFill>
                <a:latin typeface="Calibri"/>
              </a:rPr>
              <a:t>▸  Wedge: on-prem + RBI / DPDP-native + insider-focus + alert-only + explainable — precisely the seam the incumbents leave open.</a:t>
            </a:r>
          </a:p>
          <a:p>
            <a:pPr algn="l">
              <a:lnSpc>
                <a:spcPct val="102000"/>
              </a:lnSpc>
              <a:spcBef>
                <a:spcPts val="900"/>
              </a:spcBef>
            </a:pPr>
            <a:r>
              <a:rPr sz="1400" b="0" i="0">
                <a:solidFill>
                  <a:srgbClr val="1E9E5A"/>
                </a:solidFill>
                <a:latin typeface="Calibri"/>
              </a:rPr>
              <a:t>✓  ~57% steady-state per-customer gross margin (trending 70–80% at scale).</a:t>
            </a:r>
          </a:p>
          <a:p>
            <a:pPr algn="l">
              <a:lnSpc>
                <a:spcPct val="102000"/>
              </a:lnSpc>
              <a:spcBef>
                <a:spcPts val="900"/>
              </a:spcBef>
            </a:pPr>
            <a:r>
              <a:rPr sz="1400" b="0" i="0">
                <a:solidFill>
                  <a:srgbClr val="1E9E5A"/>
                </a:solidFill>
                <a:latin typeface="Calibri"/>
              </a:rPr>
              <a:t>✓  ~8× customer ROI (₹8 Cr value vs ~₹1 Cr cost) — conservative; survives halving every driver.</a:t>
            </a:r>
          </a:p>
          <a:p>
            <a:pPr algn="l">
              <a:lnSpc>
                <a:spcPct val="102000"/>
              </a:lnSpc>
              <a:spcBef>
                <a:spcPts val="900"/>
              </a:spcBef>
            </a:pPr>
            <a:r>
              <a:rPr sz="1400" b="0" i="0">
                <a:solidFill>
                  <a:srgbClr val="1E9E5A"/>
                </a:solidFill>
                <a:latin typeface="Calibri"/>
              </a:rPr>
              <a:t>✓  Pricing ₹10 L – ₹3 Cr/yr by tier — ~30–60% under the incumbents.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9857232"/>
            <a:ext cx="11887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8A929E"/>
                </a:solidFill>
                <a:latin typeface="TT Interphases Mono"/>
              </a:rPr>
              <a:t>HAWK-EYE  ·  Team NINEAGENTS  ·  iDEA 2.0 · PSBs Hackathon Series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0" y="9857232"/>
            <a:ext cx="16459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29E"/>
                </a:solidFill>
                <a:latin typeface="TT Interphases Mono"/>
              </a:rPr>
              <a:t>17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/>
          <p:cNvGrpSpPr/>
          <p:nvPr/>
        </p:nvGrpSpPr>
        <p:grpSpPr>
          <a:xfrm>
            <a:off x="0" y="0"/>
            <a:ext cx="18288000" cy="1697181"/>
            <a:chOff x="0" y="0"/>
            <a:chExt cx="4816593" cy="4469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46994"/>
            </a:xfrm>
            <a:custGeom>
              <a:avLst/>
              <a:gdLst/>
              <a:ahLst/>
              <a:cxnLst/>
              <a:rect l="l" t="t" r="r" b="b"/>
              <a:pathLst>
                <a:path w="4816592" h="446994">
                  <a:moveTo>
                    <a:pt x="0" y="0"/>
                  </a:moveTo>
                  <a:lnTo>
                    <a:pt x="4816592" y="0"/>
                  </a:lnTo>
                  <a:lnTo>
                    <a:pt x="4816592" y="446994"/>
                  </a:lnTo>
                  <a:lnTo>
                    <a:pt x="0" y="44699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85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662574" y="122606"/>
            <a:ext cx="3497653" cy="1540119"/>
          </a:xfrm>
          <a:custGeom>
            <a:avLst/>
            <a:gdLst/>
            <a:ahLst/>
            <a:cxnLst/>
            <a:rect l="l" t="t" r="r" b="b"/>
            <a:pathLst>
              <a:path w="3497653" h="1540119">
                <a:moveTo>
                  <a:pt x="0" y="0"/>
                </a:moveTo>
                <a:lnTo>
                  <a:pt x="3497653" y="0"/>
                </a:lnTo>
                <a:lnTo>
                  <a:pt x="3497653" y="1540119"/>
                </a:lnTo>
                <a:lnTo>
                  <a:pt x="0" y="15401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6230" t="-89762" r="-26367" b="-156792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0969852" y="588904"/>
            <a:ext cx="5022437" cy="749179"/>
            <a:chOff x="0" y="0"/>
            <a:chExt cx="6696583" cy="998906"/>
          </a:xfrm>
        </p:grpSpPr>
        <p:sp>
          <p:nvSpPr>
            <p:cNvPr id="7" name="Freeform 7" descr="A red blue and white logo  Description automatically generated"/>
            <p:cNvSpPr/>
            <p:nvPr/>
          </p:nvSpPr>
          <p:spPr>
            <a:xfrm>
              <a:off x="0" y="0"/>
              <a:ext cx="6696583" cy="998855"/>
            </a:xfrm>
            <a:custGeom>
              <a:avLst/>
              <a:gdLst/>
              <a:ahLst/>
              <a:cxnLst/>
              <a:rect l="l" t="t" r="r" b="b"/>
              <a:pathLst>
                <a:path w="6696583" h="998855">
                  <a:moveTo>
                    <a:pt x="0" y="0"/>
                  </a:moveTo>
                  <a:lnTo>
                    <a:pt x="6696583" y="0"/>
                  </a:lnTo>
                  <a:lnTo>
                    <a:pt x="6696583" y="998855"/>
                  </a:lnTo>
                  <a:lnTo>
                    <a:pt x="0" y="998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5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3163313" y="523697"/>
            <a:ext cx="2690517" cy="879592"/>
          </a:xfrm>
          <a:custGeom>
            <a:avLst/>
            <a:gdLst/>
            <a:ahLst/>
            <a:cxnLst/>
            <a:rect l="l" t="t" r="r" b="b"/>
            <a:pathLst>
              <a:path w="2690517" h="879592">
                <a:moveTo>
                  <a:pt x="0" y="0"/>
                </a:moveTo>
                <a:lnTo>
                  <a:pt x="2690518" y="0"/>
                </a:lnTo>
                <a:lnTo>
                  <a:pt x="2690518" y="879593"/>
                </a:lnTo>
                <a:lnTo>
                  <a:pt x="0" y="8795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01479" y="281194"/>
            <a:ext cx="2445886" cy="1222943"/>
          </a:xfrm>
          <a:custGeom>
            <a:avLst/>
            <a:gdLst/>
            <a:ahLst/>
            <a:cxnLst/>
            <a:rect l="l" t="t" r="r" b="b"/>
            <a:pathLst>
              <a:path w="2445886" h="1222943">
                <a:moveTo>
                  <a:pt x="0" y="0"/>
                </a:moveTo>
                <a:lnTo>
                  <a:pt x="2445886" y="0"/>
                </a:lnTo>
                <a:lnTo>
                  <a:pt x="2445886" y="1222943"/>
                </a:lnTo>
                <a:lnTo>
                  <a:pt x="0" y="12229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739206" y="471221"/>
            <a:ext cx="1040189" cy="1032916"/>
          </a:xfrm>
          <a:custGeom>
            <a:avLst/>
            <a:gdLst/>
            <a:ahLst/>
            <a:cxnLst/>
            <a:rect l="l" t="t" r="r" b="b"/>
            <a:pathLst>
              <a:path w="1040189" h="1032916">
                <a:moveTo>
                  <a:pt x="0" y="0"/>
                </a:moveTo>
                <a:lnTo>
                  <a:pt x="1040188" y="0"/>
                </a:lnTo>
                <a:lnTo>
                  <a:pt x="1040188" y="1032916"/>
                </a:lnTo>
                <a:lnTo>
                  <a:pt x="0" y="10329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633" t="-14434" r="-13983" b="-14081"/>
            </a:stretch>
          </a:blipFill>
        </p:spPr>
      </p:sp>
      <p:sp>
        <p:nvSpPr>
          <p:cNvPr id="13" name="TextBox 12"/>
          <p:cNvSpPr txBox="1"/>
          <p:nvPr/>
        </p:nvSpPr>
        <p:spPr>
          <a:xfrm>
            <a:off x="640080" y="1847088"/>
            <a:ext cx="1700784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92A2D"/>
                </a:solidFill>
                <a:latin typeface="TT Interphases Mono"/>
              </a:rPr>
              <a:t>COMMERCIALIZATION &amp; STARTUP POTENTIAL (10%) · GO-TO-MARKET &amp; THE 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139696"/>
            <a:ext cx="170078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4181F"/>
                </a:solidFill>
                <a:latin typeface="Montserrat"/>
              </a:rPr>
              <a:t>Pilot-ready, phased, honest — and fundable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779776"/>
            <a:ext cx="822960" cy="45720"/>
          </a:xfrm>
          <a:prstGeom prst="rect">
            <a:avLst/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3200400"/>
            <a:ext cx="8183879" cy="6217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3200400"/>
            <a:ext cx="8183879" cy="420624"/>
          </a:xfrm>
          <a:prstGeom prst="roundRect">
            <a:avLst>
              <a:gd name="adj" fmla="val 6000"/>
            </a:avLst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419856"/>
            <a:ext cx="8183879" cy="201168"/>
          </a:xfrm>
          <a:prstGeom prst="rect">
            <a:avLst/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" y="3236976"/>
            <a:ext cx="7909559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ontserrat"/>
              </a:rPr>
              <a:t>GO-TO-MARKET &amp; TRACTION RAMP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3730752"/>
            <a:ext cx="7872983" cy="5577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400" b="0" i="0">
                <a:solidFill>
                  <a:srgbClr val="14181F"/>
                </a:solidFill>
                <a:latin typeface="Calibri"/>
              </a:rPr>
              <a:t>▸  Land-and-expand: on-prem pilot on synthetic data (zero real-data risk) → the highest-risk privileged surface → entitlements, collusion, slow-lane EWS.</a:t>
            </a:r>
          </a:p>
          <a:p>
            <a:pPr algn="l">
              <a:lnSpc>
                <a:spcPct val="102000"/>
              </a:lnSpc>
              <a:spcBef>
                <a:spcPts val="800"/>
              </a:spcBef>
            </a:pPr>
            <a:r>
              <a:rPr sz="1400" b="0" i="0">
                <a:solidFill>
                  <a:srgbClr val="14181F"/>
                </a:solidFill>
                <a:latin typeface="Calibri"/>
              </a:rPr>
              <a:t>▸  Connectors are SCAFFOLD that swap to real feeds on credentials — same pattern across CBS / SWIFT / PAM / IGA / HR.</a:t>
            </a:r>
          </a:p>
          <a:p>
            <a:pPr algn="l">
              <a:lnSpc>
                <a:spcPct val="102000"/>
              </a:lnSpc>
              <a:spcBef>
                <a:spcPts val="800"/>
              </a:spcBef>
            </a:pPr>
            <a:r>
              <a:rPr sz="1400" b="1" i="0">
                <a:solidFill>
                  <a:srgbClr val="1E9E5A"/>
                </a:solidFill>
                <a:latin typeface="Calibri"/>
              </a:rPr>
              <a:t>▸  SOM ramp:  ₹1.2 Cr ARR (Yr 1)  →  ₹5 Cr ARR / ~9 banks (Series-A trigger)  →  ₹50 Cr (~$6 M) / 50 customers (Yr 5).</a:t>
            </a:r>
          </a:p>
          <a:p>
            <a:pPr algn="l">
              <a:lnSpc>
                <a:spcPct val="102000"/>
              </a:lnSpc>
              <a:spcBef>
                <a:spcPts val="800"/>
              </a:spcBef>
            </a:pPr>
            <a:r>
              <a:rPr sz="1350" b="0" i="1">
                <a:solidFill>
                  <a:srgbClr val="5B6471"/>
                </a:solidFill>
                <a:latin typeface="Calibri"/>
              </a:rPr>
              <a:t>Honest &amp; alert-only → low adoption risk; complements audit / SoD / culture, never replaces them.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3200400"/>
            <a:ext cx="7863840" cy="6217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0" y="3200400"/>
            <a:ext cx="7863840" cy="420624"/>
          </a:xfrm>
          <a:prstGeom prst="roundRect">
            <a:avLst>
              <a:gd name="adj" fmla="val 6000"/>
            </a:avLst>
          </a:prstGeom>
          <a:solidFill>
            <a:srgbClr val="1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3419856"/>
            <a:ext cx="7863840" cy="201168"/>
          </a:xfrm>
          <a:prstGeom prst="rect">
            <a:avLst/>
          </a:prstGeom>
          <a:solidFill>
            <a:srgbClr val="1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08592" y="3236976"/>
            <a:ext cx="7589519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ontserrat"/>
              </a:rPr>
              <a:t>THE ASK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8592" y="3730752"/>
            <a:ext cx="7552944" cy="5577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500" b="1" i="0">
                <a:solidFill>
                  <a:srgbClr val="14181F"/>
                </a:solidFill>
                <a:latin typeface="Calibri"/>
              </a:rPr>
              <a:t>▸  Immediate seed: ₹10 Cr for ~18% at ~₹55 Cr post-money.</a:t>
            </a:r>
          </a:p>
          <a:p>
            <a:pPr algn="l">
              <a:lnSpc>
                <a:spcPct val="102000"/>
              </a:lnSpc>
              <a:spcBef>
                <a:spcPts val="200"/>
              </a:spcBef>
            </a:pPr>
            <a:r>
              <a:rPr sz="1250" b="0" i="1">
                <a:solidFill>
                  <a:srgbClr val="5B6471"/>
                </a:solidFill>
                <a:latin typeface="Calibri"/>
              </a:rPr>
              <a:t>(benchmarked to Carta 2024 fintech medians)</a:t>
            </a:r>
          </a:p>
          <a:p>
            <a:pPr algn="l">
              <a:lnSpc>
                <a:spcPct val="102000"/>
              </a:lnSpc>
              <a:spcBef>
                <a:spcPts val="1000"/>
              </a:spcBef>
            </a:pPr>
            <a:r>
              <a:rPr sz="1400" b="0" i="0">
                <a:solidFill>
                  <a:srgbClr val="14181F"/>
                </a:solidFill>
                <a:latin typeface="Calibri"/>
              </a:rPr>
              <a:t>▸  Use of funds → ₹5 Cr ARR / ~9 paying banks → Series A.</a:t>
            </a:r>
          </a:p>
          <a:p>
            <a:pPr algn="l">
              <a:lnSpc>
                <a:spcPct val="102000"/>
              </a:lnSpc>
              <a:spcBef>
                <a:spcPts val="900"/>
              </a:spcBef>
            </a:pPr>
            <a:r>
              <a:rPr sz="1400" b="0" i="0">
                <a:solidFill>
                  <a:srgbClr val="E92A2D"/>
                </a:solidFill>
                <a:latin typeface="Calibri"/>
              </a:rPr>
              <a:t>▸  Why now: RBI Fraud-Risk 2024 + FREE-AI + IS-Audit make insider controls mandatory — and the on-prem / India-sovereign / insider seam is wide open.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9857232"/>
            <a:ext cx="11887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8A929E"/>
                </a:solidFill>
                <a:latin typeface="TT Interphases Mono"/>
              </a:rPr>
              <a:t>HAWK-EYE  ·  Team NINEAGENTS  ·  iDEA 2.0 · PSBs Hackathon Series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0" y="9857232"/>
            <a:ext cx="16459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29E"/>
                </a:solidFill>
                <a:latin typeface="TT Interphases Mono"/>
              </a:rPr>
              <a:t>18 /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/>
          <p:cNvGrpSpPr/>
          <p:nvPr/>
        </p:nvGrpSpPr>
        <p:grpSpPr>
          <a:xfrm>
            <a:off x="0" y="0"/>
            <a:ext cx="18288000" cy="1697181"/>
            <a:chOff x="0" y="0"/>
            <a:chExt cx="4816593" cy="4469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46994"/>
            </a:xfrm>
            <a:custGeom>
              <a:avLst/>
              <a:gdLst/>
              <a:ahLst/>
              <a:cxnLst/>
              <a:rect l="l" t="t" r="r" b="b"/>
              <a:pathLst>
                <a:path w="4816592" h="446994">
                  <a:moveTo>
                    <a:pt x="0" y="0"/>
                  </a:moveTo>
                  <a:lnTo>
                    <a:pt x="4816592" y="0"/>
                  </a:lnTo>
                  <a:lnTo>
                    <a:pt x="4816592" y="446994"/>
                  </a:lnTo>
                  <a:lnTo>
                    <a:pt x="0" y="44699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85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662574" y="122606"/>
            <a:ext cx="3497653" cy="1540119"/>
          </a:xfrm>
          <a:custGeom>
            <a:avLst/>
            <a:gdLst/>
            <a:ahLst/>
            <a:cxnLst/>
            <a:rect l="l" t="t" r="r" b="b"/>
            <a:pathLst>
              <a:path w="3497653" h="1540119">
                <a:moveTo>
                  <a:pt x="0" y="0"/>
                </a:moveTo>
                <a:lnTo>
                  <a:pt x="3497653" y="0"/>
                </a:lnTo>
                <a:lnTo>
                  <a:pt x="3497653" y="1540119"/>
                </a:lnTo>
                <a:lnTo>
                  <a:pt x="0" y="15401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6230" t="-89762" r="-26367" b="-156792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0969852" y="588904"/>
            <a:ext cx="5022437" cy="749179"/>
            <a:chOff x="0" y="0"/>
            <a:chExt cx="6696583" cy="998906"/>
          </a:xfrm>
        </p:grpSpPr>
        <p:sp>
          <p:nvSpPr>
            <p:cNvPr id="7" name="Freeform 7" descr="A red blue and white logo  Description automatically generated"/>
            <p:cNvSpPr/>
            <p:nvPr/>
          </p:nvSpPr>
          <p:spPr>
            <a:xfrm>
              <a:off x="0" y="0"/>
              <a:ext cx="6696583" cy="998855"/>
            </a:xfrm>
            <a:custGeom>
              <a:avLst/>
              <a:gdLst/>
              <a:ahLst/>
              <a:cxnLst/>
              <a:rect l="l" t="t" r="r" b="b"/>
              <a:pathLst>
                <a:path w="6696583" h="998855">
                  <a:moveTo>
                    <a:pt x="0" y="0"/>
                  </a:moveTo>
                  <a:lnTo>
                    <a:pt x="6696583" y="0"/>
                  </a:lnTo>
                  <a:lnTo>
                    <a:pt x="6696583" y="998855"/>
                  </a:lnTo>
                  <a:lnTo>
                    <a:pt x="0" y="998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5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3163313" y="523697"/>
            <a:ext cx="2690517" cy="879592"/>
          </a:xfrm>
          <a:custGeom>
            <a:avLst/>
            <a:gdLst/>
            <a:ahLst/>
            <a:cxnLst/>
            <a:rect l="l" t="t" r="r" b="b"/>
            <a:pathLst>
              <a:path w="2690517" h="879592">
                <a:moveTo>
                  <a:pt x="0" y="0"/>
                </a:moveTo>
                <a:lnTo>
                  <a:pt x="2690518" y="0"/>
                </a:lnTo>
                <a:lnTo>
                  <a:pt x="2690518" y="879593"/>
                </a:lnTo>
                <a:lnTo>
                  <a:pt x="0" y="8795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01479" y="281194"/>
            <a:ext cx="2445886" cy="1222943"/>
          </a:xfrm>
          <a:custGeom>
            <a:avLst/>
            <a:gdLst/>
            <a:ahLst/>
            <a:cxnLst/>
            <a:rect l="l" t="t" r="r" b="b"/>
            <a:pathLst>
              <a:path w="2445886" h="1222943">
                <a:moveTo>
                  <a:pt x="0" y="0"/>
                </a:moveTo>
                <a:lnTo>
                  <a:pt x="2445886" y="0"/>
                </a:lnTo>
                <a:lnTo>
                  <a:pt x="2445886" y="1222943"/>
                </a:lnTo>
                <a:lnTo>
                  <a:pt x="0" y="12229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739206" y="471221"/>
            <a:ext cx="1040189" cy="1032916"/>
          </a:xfrm>
          <a:custGeom>
            <a:avLst/>
            <a:gdLst/>
            <a:ahLst/>
            <a:cxnLst/>
            <a:rect l="l" t="t" r="r" b="b"/>
            <a:pathLst>
              <a:path w="1040189" h="1032916">
                <a:moveTo>
                  <a:pt x="0" y="0"/>
                </a:moveTo>
                <a:lnTo>
                  <a:pt x="1040188" y="0"/>
                </a:lnTo>
                <a:lnTo>
                  <a:pt x="1040188" y="1032916"/>
                </a:lnTo>
                <a:lnTo>
                  <a:pt x="0" y="10329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633" t="-14434" r="-13983" b="-14081"/>
            </a:stretch>
          </a:blipFill>
        </p:spPr>
      </p:sp>
      <p:sp>
        <p:nvSpPr>
          <p:cNvPr id="13" name="TextBox 12"/>
          <p:cNvSpPr txBox="1"/>
          <p:nvPr/>
        </p:nvSpPr>
        <p:spPr>
          <a:xfrm>
            <a:off x="640080" y="1847088"/>
            <a:ext cx="1700784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92A2D"/>
                </a:solidFill>
                <a:latin typeface="TT Interphases Mono"/>
              </a:rPr>
              <a:t>TEAM &amp; DELIVERABLES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139696"/>
            <a:ext cx="170078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4181F"/>
                </a:solidFill>
                <a:latin typeface="Montserrat"/>
              </a:rPr>
              <a:t>Team NINEAGENTS — thank you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779776"/>
            <a:ext cx="822960" cy="45720"/>
          </a:xfrm>
          <a:prstGeom prst="rect">
            <a:avLst/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3200400"/>
            <a:ext cx="393192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057399" y="3474720"/>
            <a:ext cx="1097280" cy="1097280"/>
          </a:xfrm>
          <a:prstGeom prst="ellipse">
            <a:avLst/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800" b="1">
                <a:solidFill>
                  <a:srgbClr val="FFFFFF"/>
                </a:solidFill>
                <a:latin typeface="League Spartan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4754880"/>
            <a:ext cx="35661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4181F"/>
                </a:solidFill>
                <a:latin typeface="Montserrat"/>
              </a:rPr>
              <a:t>Dhruv Agrawal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5212080"/>
            <a:ext cx="3566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E92A2D"/>
                </a:solidFill>
                <a:latin typeface="TT Interphases Mono"/>
              </a:rPr>
              <a:t>ML / Backend Lead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623560"/>
            <a:ext cx="347472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6471"/>
                </a:solidFill>
                <a:latin typeface="Calibri"/>
              </a:rPr>
              <a:t>Detection layers, fusion, MLOps, backend &amp; platform integration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65192" y="3200400"/>
            <a:ext cx="393192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82512" y="3474720"/>
            <a:ext cx="1097280" cy="1097280"/>
          </a:xfrm>
          <a:prstGeom prst="ellipse">
            <a:avLst/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800" b="1">
                <a:solidFill>
                  <a:srgbClr val="FFFFFF"/>
                </a:solidFill>
                <a:latin typeface="League Spartan"/>
              </a:rPr>
              <a:t>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48072" y="4754880"/>
            <a:ext cx="35661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4181F"/>
                </a:solidFill>
                <a:latin typeface="Montserrat"/>
              </a:rPr>
              <a:t>Tanishq Vyas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48072" y="5212080"/>
            <a:ext cx="3566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E92A2D"/>
                </a:solidFill>
                <a:latin typeface="TT Interphases Mono"/>
              </a:rPr>
              <a:t>Frontend / UX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93792" y="5623560"/>
            <a:ext cx="347472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6471"/>
                </a:solidFill>
                <a:latin typeface="Calibri"/>
              </a:rPr>
              <a:t>Investigator console — triage, entity-360, explanation &amp; graph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90303" y="3200400"/>
            <a:ext cx="393192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707624" y="3474720"/>
            <a:ext cx="1097280" cy="1097280"/>
          </a:xfrm>
          <a:prstGeom prst="ellipse">
            <a:avLst/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800" b="1">
                <a:solidFill>
                  <a:srgbClr val="FFFFFF"/>
                </a:solidFill>
                <a:latin typeface="League Spartan"/>
              </a:rPr>
              <a:t>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73183" y="4754880"/>
            <a:ext cx="35661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4181F"/>
                </a:solidFill>
                <a:latin typeface="Montserrat"/>
              </a:rPr>
              <a:t>Hanzala Saify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73183" y="5212080"/>
            <a:ext cx="3566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E92A2D"/>
                </a:solidFill>
                <a:latin typeface="TT Interphases Mono"/>
              </a:rPr>
              <a:t>Infra / DevOps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18903" y="5623560"/>
            <a:ext cx="347472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6471"/>
                </a:solidFill>
                <a:latin typeface="Calibri"/>
              </a:rPr>
              <a:t>~26-service stack, k8s/ArgoCD/Terraform, security, observability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3615415" y="3200400"/>
            <a:ext cx="393192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5032735" y="3474720"/>
            <a:ext cx="1097280" cy="1097280"/>
          </a:xfrm>
          <a:prstGeom prst="ellipse">
            <a:avLst/>
          </a:prstGeom>
          <a:solidFill>
            <a:srgbClr val="E9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800" b="1">
                <a:solidFill>
                  <a:srgbClr val="FFFFFF"/>
                </a:solidFill>
                <a:latin typeface="League Spartan"/>
              </a:rPr>
              <a:t>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98295" y="4754880"/>
            <a:ext cx="35661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4181F"/>
                </a:solidFill>
                <a:latin typeface="Montserrat"/>
              </a:rPr>
              <a:t>Aditya Dubey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98295" y="5212080"/>
            <a:ext cx="3566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E92A2D"/>
                </a:solidFill>
                <a:latin typeface="TT Interphases Mono"/>
              </a:rPr>
              <a:t>Domain Research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844015" y="5623560"/>
            <a:ext cx="347472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6471"/>
                </a:solidFill>
                <a:latin typeface="Calibri"/>
              </a:rPr>
              <a:t>RBI Fraud-Risk / FREE-AI mapping, detection-coverage, honest limits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6766560"/>
            <a:ext cx="17007840" cy="2651760"/>
          </a:xfrm>
          <a:prstGeom prst="roundRect">
            <a:avLst>
              <a:gd name="adj" fmla="val 6000"/>
            </a:avLst>
          </a:prstGeom>
          <a:solidFill>
            <a:srgbClr val="FBECEC"/>
          </a:solidFill>
          <a:ln w="15240">
            <a:solidFill>
              <a:srgbClr val="E92A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6995160"/>
            <a:ext cx="170078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E92A2D"/>
                </a:solidFill>
                <a:latin typeface="League Spartan"/>
              </a:rPr>
              <a:t>HAWK-EYE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7955279"/>
            <a:ext cx="17007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4181F"/>
                </a:solidFill>
                <a:latin typeface="Montserrat"/>
              </a:rPr>
              <a:t>Real-Time Insider &amp; Privileged-User Fraud Detection  ·  Alert-only · Explainable · RBI-compliant · On-prem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8549640"/>
            <a:ext cx="17007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E92A2D"/>
                </a:solidFill>
                <a:latin typeface="TT Interphases Mono"/>
              </a:rPr>
              <a:t>github.com/dhruvagrawal27/hawk-eye     ·     read GETTING_STARTED.md · docs/detection-coverage-map.md · docs/honest-limits.md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9857232"/>
            <a:ext cx="11887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8A929E"/>
                </a:solidFill>
                <a:latin typeface="TT Interphases Mono"/>
              </a:rPr>
              <a:t>HAWK-EYE  ·  Team NINEAGENTS  ·  iDEA 2.0 · PSBs Hackathon Series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002000" y="9857232"/>
            <a:ext cx="16459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29E"/>
                </a:solidFill>
                <a:latin typeface="TT Interphases Mono"/>
              </a:rPr>
              <a:t>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22</Words>
  <Application>Microsoft Macintosh PowerPoint</Application>
  <PresentationFormat>Custom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Calibri</vt:lpstr>
      <vt:lpstr>League Spartan</vt:lpstr>
      <vt:lpstr>Montserrat Bold</vt:lpstr>
      <vt:lpstr>TT Interphases Mono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TITLE</dc:title>
  <cp:lastModifiedBy>207_Om_Lanke</cp:lastModifiedBy>
  <cp:revision>4</cp:revision>
  <dcterms:created xsi:type="dcterms:W3CDTF">2006-08-16T00:00:00Z</dcterms:created>
  <dcterms:modified xsi:type="dcterms:W3CDTF">2026-06-30T07:45:07Z</dcterms:modified>
  <dc:identifier>DAHCOoBRAO4</dc:identifier>
</cp:coreProperties>
</file>